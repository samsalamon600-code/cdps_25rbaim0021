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9507200" cy="10972800"/>
  <p:notesSz cx="19507200" cy="10972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85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9507835" cy="10973435"/>
          </a:xfrm>
          <a:custGeom>
            <a:avLst/>
            <a:gdLst/>
            <a:ahLst/>
            <a:cxnLst/>
            <a:rect l="l" t="t" r="r" b="b"/>
            <a:pathLst>
              <a:path w="19507835" h="10973435">
                <a:moveTo>
                  <a:pt x="19507454" y="10972927"/>
                </a:moveTo>
                <a:lnTo>
                  <a:pt x="0" y="10972927"/>
                </a:lnTo>
                <a:lnTo>
                  <a:pt x="0" y="0"/>
                </a:lnTo>
                <a:lnTo>
                  <a:pt x="19507454" y="0"/>
                </a:lnTo>
                <a:lnTo>
                  <a:pt x="19507454" y="10972927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9600" y="10337800"/>
            <a:ext cx="2298700" cy="5461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0" y="0"/>
            <a:ext cx="7315200" cy="10972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2200" y="3179603"/>
            <a:ext cx="7936865" cy="289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rgbClr val="3750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92200" y="6547643"/>
            <a:ext cx="9351010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A362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3750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A362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3750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73200" y="3415823"/>
            <a:ext cx="7123430" cy="6377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A362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37800" y="3415823"/>
            <a:ext cx="7543165" cy="6377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A362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0" i="0">
                <a:solidFill>
                  <a:srgbClr val="3750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9507835" cy="10973435"/>
          </a:xfrm>
          <a:custGeom>
            <a:avLst/>
            <a:gdLst/>
            <a:ahLst/>
            <a:cxnLst/>
            <a:rect l="l" t="t" r="r" b="b"/>
            <a:pathLst>
              <a:path w="19507835" h="10973435">
                <a:moveTo>
                  <a:pt x="19507454" y="10972927"/>
                </a:moveTo>
                <a:lnTo>
                  <a:pt x="0" y="10972927"/>
                </a:lnTo>
                <a:lnTo>
                  <a:pt x="0" y="0"/>
                </a:lnTo>
                <a:lnTo>
                  <a:pt x="19507454" y="0"/>
                </a:lnTo>
                <a:lnTo>
                  <a:pt x="19507454" y="10972927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19600" y="10337800"/>
            <a:ext cx="2298700" cy="546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28000" y="1437163"/>
            <a:ext cx="9201150" cy="1453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0" i="0">
                <a:solidFill>
                  <a:srgbClr val="3750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83600" y="3187113"/>
            <a:ext cx="10110469" cy="6468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A362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32448" y="10204704"/>
            <a:ext cx="6242304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75360" y="10204704"/>
            <a:ext cx="4486656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045185" y="10204704"/>
            <a:ext cx="4486656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ct val="93500"/>
              </a:lnSpc>
              <a:spcBef>
                <a:spcPts val="625"/>
              </a:spcBef>
            </a:pPr>
            <a:r>
              <a:rPr sz="6550" spc="-295" dirty="0"/>
              <a:t>Hospital</a:t>
            </a:r>
            <a:r>
              <a:rPr sz="6550" spc="-425" dirty="0"/>
              <a:t> </a:t>
            </a:r>
            <a:r>
              <a:rPr sz="6550" spc="-355" dirty="0"/>
              <a:t>Appointment </a:t>
            </a:r>
            <a:r>
              <a:rPr sz="6550" spc="-455" dirty="0"/>
              <a:t>Scheduler:</a:t>
            </a:r>
            <a:r>
              <a:rPr sz="6550" spc="-450" dirty="0"/>
              <a:t> </a:t>
            </a:r>
            <a:r>
              <a:rPr sz="6550" spc="-900" dirty="0"/>
              <a:t>SDLC </a:t>
            </a:r>
            <a:r>
              <a:rPr sz="6550" spc="-335" dirty="0"/>
              <a:t>Implementation</a:t>
            </a:r>
            <a:r>
              <a:rPr sz="6550" spc="-430" dirty="0"/>
              <a:t> Journey</a:t>
            </a:r>
            <a:endParaRPr sz="65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sz="2750" spc="-210" dirty="0"/>
              <a:t>A</a:t>
            </a:r>
            <a:r>
              <a:rPr sz="2750" spc="-155" dirty="0"/>
              <a:t> </a:t>
            </a:r>
            <a:r>
              <a:rPr sz="2750" spc="-180" dirty="0"/>
              <a:t>comprehensive</a:t>
            </a:r>
            <a:r>
              <a:rPr sz="2750" spc="-254" dirty="0"/>
              <a:t> </a:t>
            </a:r>
            <a:r>
              <a:rPr sz="2750" spc="-135" dirty="0"/>
              <a:t>exploration</a:t>
            </a:r>
            <a:r>
              <a:rPr sz="2750" spc="-100" dirty="0"/>
              <a:t> </a:t>
            </a:r>
            <a:r>
              <a:rPr sz="2750" spc="-30" dirty="0"/>
              <a:t>of</a:t>
            </a:r>
            <a:r>
              <a:rPr sz="2750" spc="-200" dirty="0"/>
              <a:t> </a:t>
            </a:r>
            <a:r>
              <a:rPr sz="2750" spc="-165" dirty="0"/>
              <a:t>developing</a:t>
            </a:r>
            <a:r>
              <a:rPr sz="2750" spc="-125" dirty="0"/>
              <a:t> </a:t>
            </a:r>
            <a:r>
              <a:rPr sz="2750" spc="-175" dirty="0"/>
              <a:t>a</a:t>
            </a:r>
            <a:r>
              <a:rPr sz="2750" spc="-185" dirty="0"/>
              <a:t> </a:t>
            </a:r>
            <a:r>
              <a:rPr sz="2750" spc="-140" dirty="0"/>
              <a:t>robust</a:t>
            </a:r>
            <a:r>
              <a:rPr sz="2750" spc="-145" dirty="0"/>
              <a:t> </a:t>
            </a:r>
            <a:r>
              <a:rPr sz="2750" spc="-20" dirty="0"/>
              <a:t>appointment </a:t>
            </a:r>
            <a:r>
              <a:rPr sz="2750" spc="-150" dirty="0"/>
              <a:t>scheduling</a:t>
            </a:r>
            <a:r>
              <a:rPr sz="2750" spc="-215" dirty="0"/>
              <a:t> </a:t>
            </a:r>
            <a:r>
              <a:rPr sz="2750" spc="-155" dirty="0"/>
              <a:t>system</a:t>
            </a:r>
            <a:r>
              <a:rPr sz="2750" spc="-200" dirty="0"/>
              <a:t> </a:t>
            </a:r>
            <a:r>
              <a:rPr sz="2750" spc="-150" dirty="0"/>
              <a:t>through</a:t>
            </a:r>
            <a:r>
              <a:rPr sz="2750" spc="-185" dirty="0"/>
              <a:t> </a:t>
            </a:r>
            <a:r>
              <a:rPr sz="2750" spc="-114" dirty="0"/>
              <a:t>the</a:t>
            </a:r>
            <a:r>
              <a:rPr sz="2750" spc="-235" dirty="0"/>
              <a:t> </a:t>
            </a:r>
            <a:r>
              <a:rPr sz="2750" spc="-135" dirty="0"/>
              <a:t>complete</a:t>
            </a:r>
            <a:r>
              <a:rPr sz="2750" spc="-120" dirty="0"/>
              <a:t> </a:t>
            </a:r>
            <a:r>
              <a:rPr sz="2750" spc="-170" dirty="0"/>
              <a:t>Software</a:t>
            </a:r>
            <a:r>
              <a:rPr sz="2750" spc="-120" dirty="0"/>
              <a:t> </a:t>
            </a:r>
            <a:r>
              <a:rPr sz="2750" spc="-200" dirty="0"/>
              <a:t>Development</a:t>
            </a:r>
            <a:r>
              <a:rPr sz="2750" spc="-120" dirty="0"/>
              <a:t> </a:t>
            </a:r>
            <a:r>
              <a:rPr sz="2750" spc="-20" dirty="0"/>
              <a:t>Life </a:t>
            </a:r>
            <a:r>
              <a:rPr sz="2750" spc="-30" dirty="0"/>
              <a:t>Cycle.</a:t>
            </a:r>
            <a:endParaRPr sz="2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6337" y="1059513"/>
            <a:ext cx="1558925" cy="561975"/>
            <a:chOff x="1046337" y="1059513"/>
            <a:chExt cx="1558925" cy="561975"/>
          </a:xfrm>
        </p:grpSpPr>
        <p:sp>
          <p:nvSpPr>
            <p:cNvPr id="3" name="object 3"/>
            <p:cNvSpPr/>
            <p:nvPr/>
          </p:nvSpPr>
          <p:spPr>
            <a:xfrm>
              <a:off x="1046337" y="1059513"/>
              <a:ext cx="1558925" cy="561975"/>
            </a:xfrm>
            <a:custGeom>
              <a:avLst/>
              <a:gdLst/>
              <a:ahLst/>
              <a:cxnLst/>
              <a:rect l="l" t="t" r="r" b="b"/>
              <a:pathLst>
                <a:path w="1558925" h="561975">
                  <a:moveTo>
                    <a:pt x="1522602" y="561847"/>
                  </a:moveTo>
                  <a:lnTo>
                    <a:pt x="35814" y="561847"/>
                  </a:lnTo>
                  <a:lnTo>
                    <a:pt x="21873" y="559023"/>
                  </a:lnTo>
                  <a:lnTo>
                    <a:pt x="10489" y="551321"/>
                  </a:lnTo>
                  <a:lnTo>
                    <a:pt x="2814" y="539896"/>
                  </a:lnTo>
                  <a:lnTo>
                    <a:pt x="0" y="525906"/>
                  </a:lnTo>
                  <a:lnTo>
                    <a:pt x="0" y="35814"/>
                  </a:lnTo>
                  <a:lnTo>
                    <a:pt x="2814" y="21873"/>
                  </a:lnTo>
                  <a:lnTo>
                    <a:pt x="10489" y="10489"/>
                  </a:lnTo>
                  <a:lnTo>
                    <a:pt x="21873" y="2814"/>
                  </a:lnTo>
                  <a:lnTo>
                    <a:pt x="35814" y="0"/>
                  </a:lnTo>
                  <a:lnTo>
                    <a:pt x="1522602" y="0"/>
                  </a:lnTo>
                  <a:lnTo>
                    <a:pt x="1536543" y="2814"/>
                  </a:lnTo>
                  <a:lnTo>
                    <a:pt x="1547927" y="10489"/>
                  </a:lnTo>
                  <a:lnTo>
                    <a:pt x="1555602" y="21873"/>
                  </a:lnTo>
                  <a:lnTo>
                    <a:pt x="1558416" y="35814"/>
                  </a:lnTo>
                  <a:lnTo>
                    <a:pt x="1558416" y="525906"/>
                  </a:lnTo>
                  <a:lnTo>
                    <a:pt x="1555602" y="539896"/>
                  </a:lnTo>
                  <a:lnTo>
                    <a:pt x="1547927" y="551321"/>
                  </a:lnTo>
                  <a:lnTo>
                    <a:pt x="1536543" y="559023"/>
                  </a:lnTo>
                  <a:lnTo>
                    <a:pt x="1522602" y="561847"/>
                  </a:lnTo>
                  <a:close/>
                </a:path>
              </a:pathLst>
            </a:custGeom>
            <a:solidFill>
              <a:srgbClr val="E2EC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1900" y="1219200"/>
              <a:ext cx="241300" cy="241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562100" y="1153953"/>
            <a:ext cx="948690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280" dirty="0">
                <a:solidFill>
                  <a:srgbClr val="3A362F"/>
                </a:solidFill>
                <a:latin typeface="Arial MT"/>
                <a:cs typeface="Arial MT"/>
              </a:rPr>
              <a:t>PHASE</a:t>
            </a: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50" dirty="0">
                <a:solidFill>
                  <a:srgbClr val="3A362F"/>
                </a:solidFill>
                <a:latin typeface="Arial MT"/>
                <a:cs typeface="Arial MT"/>
              </a:rPr>
              <a:t>1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8700" y="1610518"/>
            <a:ext cx="16259175" cy="182181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6800"/>
              </a:lnSpc>
              <a:spcBef>
                <a:spcPts val="740"/>
              </a:spcBef>
            </a:pPr>
            <a:r>
              <a:rPr sz="6100" spc="-290" dirty="0"/>
              <a:t>Project</a:t>
            </a:r>
            <a:r>
              <a:rPr sz="6100" spc="-375" dirty="0"/>
              <a:t> </a:t>
            </a:r>
            <a:r>
              <a:rPr sz="6100" spc="-445" dirty="0"/>
              <a:t>Overview:</a:t>
            </a:r>
            <a:r>
              <a:rPr sz="6100" spc="-409" dirty="0"/>
              <a:t> </a:t>
            </a:r>
            <a:r>
              <a:rPr sz="6100" spc="-395" dirty="0"/>
              <a:t>Requirements</a:t>
            </a:r>
            <a:r>
              <a:rPr sz="6100" spc="-415" dirty="0"/>
              <a:t> </a:t>
            </a:r>
            <a:r>
              <a:rPr sz="6100" spc="-310" dirty="0"/>
              <a:t>Analysis</a:t>
            </a:r>
            <a:r>
              <a:rPr sz="6100" spc="-415" dirty="0"/>
              <a:t> </a:t>
            </a:r>
            <a:r>
              <a:rPr sz="6100" spc="-375" dirty="0"/>
              <a:t>and</a:t>
            </a:r>
            <a:r>
              <a:rPr sz="6100" spc="-380" dirty="0"/>
              <a:t> </a:t>
            </a:r>
            <a:r>
              <a:rPr sz="6100" spc="-415" dirty="0"/>
              <a:t>System </a:t>
            </a:r>
            <a:r>
              <a:rPr sz="6100" spc="-440" dirty="0"/>
              <a:t>Scope</a:t>
            </a:r>
            <a:r>
              <a:rPr sz="6100" spc="-409" dirty="0"/>
              <a:t> </a:t>
            </a:r>
            <a:r>
              <a:rPr sz="6100" spc="-135" dirty="0"/>
              <a:t>Definition</a:t>
            </a:r>
            <a:endParaRPr sz="6100"/>
          </a:p>
        </p:txBody>
      </p:sp>
      <p:sp>
        <p:nvSpPr>
          <p:cNvPr id="7" name="object 7"/>
          <p:cNvSpPr txBox="1"/>
          <p:nvPr/>
        </p:nvSpPr>
        <p:spPr>
          <a:xfrm>
            <a:off x="1028700" y="4156551"/>
            <a:ext cx="16563340" cy="3058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092565" algn="l"/>
              </a:tabLst>
            </a:pPr>
            <a:r>
              <a:rPr sz="3650" spc="-240" dirty="0">
                <a:solidFill>
                  <a:srgbClr val="37502E"/>
                </a:solidFill>
                <a:latin typeface="Arial MT"/>
                <a:cs typeface="Arial MT"/>
              </a:rPr>
              <a:t>Stakeholder</a:t>
            </a:r>
            <a:r>
              <a:rPr sz="3650" spc="-175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3650" spc="-265" dirty="0">
                <a:solidFill>
                  <a:srgbClr val="37502E"/>
                </a:solidFill>
                <a:latin typeface="Arial MT"/>
                <a:cs typeface="Arial MT"/>
              </a:rPr>
              <a:t>Requirements</a:t>
            </a:r>
            <a:r>
              <a:rPr sz="3650" dirty="0">
                <a:solidFill>
                  <a:srgbClr val="37502E"/>
                </a:solidFill>
                <a:latin typeface="Arial MT"/>
                <a:cs typeface="Arial MT"/>
              </a:rPr>
              <a:t>	</a:t>
            </a:r>
            <a:r>
              <a:rPr sz="3650" spc="-204" dirty="0">
                <a:solidFill>
                  <a:srgbClr val="37502E"/>
                </a:solidFill>
                <a:latin typeface="Arial MT"/>
                <a:cs typeface="Arial MT"/>
              </a:rPr>
              <a:t>Functional</a:t>
            </a:r>
            <a:r>
              <a:rPr sz="3650" spc="-24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3650" spc="-85" dirty="0">
                <a:solidFill>
                  <a:srgbClr val="37502E"/>
                </a:solidFill>
                <a:latin typeface="Arial MT"/>
                <a:cs typeface="Arial MT"/>
              </a:rPr>
              <a:t>Specifications</a:t>
            </a:r>
            <a:endParaRPr sz="365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20"/>
              </a:spcBef>
              <a:buSzPct val="86274"/>
              <a:buChar char="•"/>
              <a:tabLst>
                <a:tab pos="469265" algn="l"/>
                <a:tab pos="9092565" algn="l"/>
                <a:tab pos="9549765" algn="l"/>
              </a:tabLst>
            </a:pPr>
            <a:r>
              <a:rPr sz="2550" spc="-110" dirty="0">
                <a:solidFill>
                  <a:srgbClr val="3A362F"/>
                </a:solidFill>
                <a:latin typeface="Arial MT"/>
                <a:cs typeface="Arial MT"/>
              </a:rPr>
              <a:t>Patient</a:t>
            </a:r>
            <a:r>
              <a:rPr sz="2550" spc="-114" dirty="0">
                <a:solidFill>
                  <a:srgbClr val="3A362F"/>
                </a:solidFill>
                <a:latin typeface="Arial MT"/>
                <a:cs typeface="Arial MT"/>
              </a:rPr>
              <a:t> self-</a:t>
            </a:r>
            <a:r>
              <a:rPr sz="2550" spc="-120" dirty="0">
                <a:solidFill>
                  <a:srgbClr val="3A362F"/>
                </a:solidFill>
                <a:latin typeface="Arial MT"/>
                <a:cs typeface="Arial MT"/>
              </a:rPr>
              <a:t>booking</a:t>
            </a:r>
            <a:r>
              <a:rPr sz="2550" spc="-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80" dirty="0">
                <a:solidFill>
                  <a:srgbClr val="3A362F"/>
                </a:solidFill>
                <a:latin typeface="Arial MT"/>
                <a:cs typeface="Arial MT"/>
              </a:rPr>
              <a:t>capabilities</a:t>
            </a:r>
            <a:r>
              <a:rPr sz="255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14" dirty="0">
                <a:solidFill>
                  <a:srgbClr val="3A362F"/>
                </a:solidFill>
                <a:latin typeface="Arial MT"/>
                <a:cs typeface="Arial MT"/>
              </a:rPr>
              <a:t>across</a:t>
            </a:r>
            <a:r>
              <a:rPr sz="255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75" dirty="0">
                <a:solidFill>
                  <a:srgbClr val="3A362F"/>
                </a:solidFill>
                <a:latin typeface="Arial MT"/>
                <a:cs typeface="Arial MT"/>
              </a:rPr>
              <a:t>multiple </a:t>
            </a:r>
            <a:r>
              <a:rPr sz="2550" spc="-10" dirty="0">
                <a:solidFill>
                  <a:srgbClr val="3A362F"/>
                </a:solidFill>
                <a:latin typeface="Arial MT"/>
                <a:cs typeface="Arial MT"/>
              </a:rPr>
              <a:t>departments</a:t>
            </a:r>
            <a:r>
              <a:rPr sz="2550" dirty="0">
                <a:solidFill>
                  <a:srgbClr val="3A362F"/>
                </a:solidFill>
                <a:latin typeface="Arial MT"/>
                <a:cs typeface="Arial MT"/>
              </a:rPr>
              <a:t>	</a:t>
            </a:r>
            <a:r>
              <a:rPr sz="2200" spc="-50" dirty="0">
                <a:solidFill>
                  <a:srgbClr val="3A362F"/>
                </a:solidFill>
                <a:latin typeface="Arial MT"/>
                <a:cs typeface="Arial MT"/>
              </a:rPr>
              <a:t>•</a:t>
            </a:r>
            <a:r>
              <a:rPr sz="2200" dirty="0">
                <a:solidFill>
                  <a:srgbClr val="3A362F"/>
                </a:solidFill>
                <a:latin typeface="Arial MT"/>
                <a:cs typeface="Arial MT"/>
              </a:rPr>
              <a:t>	</a:t>
            </a:r>
            <a:r>
              <a:rPr sz="2550" spc="-235" dirty="0">
                <a:solidFill>
                  <a:srgbClr val="3A362F"/>
                </a:solidFill>
                <a:latin typeface="Arial MT"/>
                <a:cs typeface="Arial MT"/>
              </a:rPr>
              <a:t>Real-</a:t>
            </a:r>
            <a:r>
              <a:rPr sz="2550" spc="-60" dirty="0">
                <a:solidFill>
                  <a:srgbClr val="3A362F"/>
                </a:solidFill>
                <a:latin typeface="Arial MT"/>
                <a:cs typeface="Arial MT"/>
              </a:rPr>
              <a:t>time</a:t>
            </a:r>
            <a:r>
              <a:rPr sz="2550" spc="-1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0" dirty="0">
                <a:solidFill>
                  <a:srgbClr val="3A362F"/>
                </a:solidFill>
                <a:latin typeface="Arial MT"/>
                <a:cs typeface="Arial MT"/>
              </a:rPr>
              <a:t>appointment </a:t>
            </a:r>
            <a:r>
              <a:rPr sz="2550" spc="-65" dirty="0">
                <a:solidFill>
                  <a:srgbClr val="3A362F"/>
                </a:solidFill>
                <a:latin typeface="Arial MT"/>
                <a:cs typeface="Arial MT"/>
              </a:rPr>
              <a:t>slot</a:t>
            </a:r>
            <a:r>
              <a:rPr sz="2550" spc="-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85" dirty="0">
                <a:solidFill>
                  <a:srgbClr val="3A362F"/>
                </a:solidFill>
                <a:latin typeface="Arial MT"/>
                <a:cs typeface="Arial MT"/>
              </a:rPr>
              <a:t>availability</a:t>
            </a:r>
            <a:r>
              <a:rPr sz="2550" spc="-1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362F"/>
                </a:solidFill>
                <a:latin typeface="Arial MT"/>
                <a:cs typeface="Arial MT"/>
              </a:rPr>
              <a:t>checking</a:t>
            </a:r>
            <a:endParaRPr sz="255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540"/>
              </a:spcBef>
              <a:buSzPct val="86274"/>
              <a:buChar char="•"/>
              <a:tabLst>
                <a:tab pos="469265" algn="l"/>
                <a:tab pos="9092565" algn="l"/>
                <a:tab pos="9549765" algn="l"/>
              </a:tabLst>
            </a:pPr>
            <a:r>
              <a:rPr sz="2550" spc="-120" dirty="0">
                <a:solidFill>
                  <a:srgbClr val="3A362F"/>
                </a:solidFill>
                <a:latin typeface="Arial MT"/>
                <a:cs typeface="Arial MT"/>
              </a:rPr>
              <a:t>Doctor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95" dirty="0">
                <a:solidFill>
                  <a:srgbClr val="3A362F"/>
                </a:solidFill>
                <a:latin typeface="Arial MT"/>
                <a:cs typeface="Arial MT"/>
              </a:rPr>
              <a:t>availability</a:t>
            </a:r>
            <a:r>
              <a:rPr sz="2550" spc="-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55" dirty="0">
                <a:solidFill>
                  <a:srgbClr val="3A362F"/>
                </a:solidFill>
                <a:latin typeface="Arial MT"/>
                <a:cs typeface="Arial MT"/>
              </a:rPr>
              <a:t>management</a:t>
            </a:r>
            <a:r>
              <a:rPr sz="2550" spc="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7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55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25" dirty="0">
                <a:solidFill>
                  <a:srgbClr val="3A362F"/>
                </a:solidFill>
                <a:latin typeface="Arial MT"/>
                <a:cs typeface="Arial MT"/>
              </a:rPr>
              <a:t>calendar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362F"/>
                </a:solidFill>
                <a:latin typeface="Arial MT"/>
                <a:cs typeface="Arial MT"/>
              </a:rPr>
              <a:t>integration</a:t>
            </a:r>
            <a:r>
              <a:rPr sz="2550" dirty="0">
                <a:solidFill>
                  <a:srgbClr val="3A362F"/>
                </a:solidFill>
                <a:latin typeface="Arial MT"/>
                <a:cs typeface="Arial MT"/>
              </a:rPr>
              <a:t>	</a:t>
            </a:r>
            <a:r>
              <a:rPr sz="2200" spc="-50" dirty="0">
                <a:solidFill>
                  <a:srgbClr val="3A362F"/>
                </a:solidFill>
                <a:latin typeface="Arial MT"/>
                <a:cs typeface="Arial MT"/>
              </a:rPr>
              <a:t>•</a:t>
            </a:r>
            <a:r>
              <a:rPr sz="2200" dirty="0">
                <a:solidFill>
                  <a:srgbClr val="3A362F"/>
                </a:solidFill>
                <a:latin typeface="Arial MT"/>
                <a:cs typeface="Arial MT"/>
              </a:rPr>
              <a:t>	</a:t>
            </a:r>
            <a:r>
              <a:rPr sz="2550" spc="-105" dirty="0">
                <a:solidFill>
                  <a:srgbClr val="3A362F"/>
                </a:solidFill>
                <a:latin typeface="Arial MT"/>
                <a:cs typeface="Arial MT"/>
              </a:rPr>
              <a:t>Multi-</a:t>
            </a:r>
            <a:r>
              <a:rPr sz="2550" spc="-130" dirty="0">
                <a:solidFill>
                  <a:srgbClr val="3A362F"/>
                </a:solidFill>
                <a:latin typeface="Arial MT"/>
                <a:cs typeface="Arial MT"/>
              </a:rPr>
              <a:t>user</a:t>
            </a:r>
            <a:r>
              <a:rPr sz="255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20" dirty="0">
                <a:solidFill>
                  <a:srgbClr val="3A362F"/>
                </a:solidFill>
                <a:latin typeface="Arial MT"/>
                <a:cs typeface="Arial MT"/>
              </a:rPr>
              <a:t>role</a:t>
            </a:r>
            <a:r>
              <a:rPr sz="255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access</a:t>
            </a:r>
            <a:r>
              <a:rPr sz="255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95" dirty="0">
                <a:solidFill>
                  <a:srgbClr val="3A362F"/>
                </a:solidFill>
                <a:latin typeface="Arial MT"/>
                <a:cs typeface="Arial MT"/>
              </a:rPr>
              <a:t>control</a:t>
            </a:r>
            <a:r>
              <a:rPr sz="2550" spc="-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362F"/>
                </a:solidFill>
                <a:latin typeface="Arial MT"/>
                <a:cs typeface="Arial MT"/>
              </a:rPr>
              <a:t>system</a:t>
            </a:r>
            <a:endParaRPr sz="255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540"/>
              </a:spcBef>
              <a:buSzPct val="86274"/>
              <a:buChar char="•"/>
              <a:tabLst>
                <a:tab pos="469265" algn="l"/>
                <a:tab pos="9092565" algn="l"/>
                <a:tab pos="9549765" algn="l"/>
              </a:tabLst>
            </a:pPr>
            <a:r>
              <a:rPr sz="2550" spc="-100" dirty="0">
                <a:solidFill>
                  <a:srgbClr val="3A362F"/>
                </a:solidFill>
                <a:latin typeface="Arial MT"/>
                <a:cs typeface="Arial MT"/>
              </a:rPr>
              <a:t>Administrative</a:t>
            </a:r>
            <a:r>
              <a:rPr sz="255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3A362F"/>
                </a:solidFill>
                <a:latin typeface="Arial MT"/>
                <a:cs typeface="Arial MT"/>
              </a:rPr>
              <a:t>oversight</a:t>
            </a:r>
            <a:r>
              <a:rPr sz="2550" spc="-11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7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55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3A362F"/>
                </a:solidFill>
                <a:latin typeface="Arial MT"/>
                <a:cs typeface="Arial MT"/>
              </a:rPr>
              <a:t>reporting</a:t>
            </a:r>
            <a:r>
              <a:rPr sz="255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362F"/>
                </a:solidFill>
                <a:latin typeface="Arial MT"/>
                <a:cs typeface="Arial MT"/>
              </a:rPr>
              <a:t>dashboards</a:t>
            </a:r>
            <a:r>
              <a:rPr sz="2550" dirty="0">
                <a:solidFill>
                  <a:srgbClr val="3A362F"/>
                </a:solidFill>
                <a:latin typeface="Arial MT"/>
                <a:cs typeface="Arial MT"/>
              </a:rPr>
              <a:t>	</a:t>
            </a:r>
            <a:r>
              <a:rPr sz="2200" spc="-50" dirty="0">
                <a:solidFill>
                  <a:srgbClr val="3A362F"/>
                </a:solidFill>
                <a:latin typeface="Arial MT"/>
                <a:cs typeface="Arial MT"/>
              </a:rPr>
              <a:t>•</a:t>
            </a:r>
            <a:r>
              <a:rPr sz="2200" dirty="0">
                <a:solidFill>
                  <a:srgbClr val="3A362F"/>
                </a:solidFill>
                <a:latin typeface="Arial MT"/>
                <a:cs typeface="Arial MT"/>
              </a:rPr>
              <a:t>	</a:t>
            </a:r>
            <a:r>
              <a:rPr sz="2550" spc="-100" dirty="0">
                <a:solidFill>
                  <a:srgbClr val="3A362F"/>
                </a:solidFill>
                <a:latin typeface="Arial MT"/>
                <a:cs typeface="Arial MT"/>
              </a:rPr>
              <a:t>Integration</a:t>
            </a:r>
            <a:r>
              <a:rPr sz="255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80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2550" spc="-1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95" dirty="0">
                <a:solidFill>
                  <a:srgbClr val="3A362F"/>
                </a:solidFill>
                <a:latin typeface="Arial MT"/>
                <a:cs typeface="Arial MT"/>
              </a:rPr>
              <a:t>existing</a:t>
            </a:r>
            <a:r>
              <a:rPr sz="255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90" dirty="0">
                <a:solidFill>
                  <a:srgbClr val="3A362F"/>
                </a:solidFill>
                <a:latin typeface="Arial MT"/>
                <a:cs typeface="Arial MT"/>
              </a:rPr>
              <a:t>hospital</a:t>
            </a:r>
            <a:r>
              <a:rPr sz="2550" spc="-11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45" dirty="0">
                <a:solidFill>
                  <a:srgbClr val="3A362F"/>
                </a:solidFill>
                <a:latin typeface="Arial MT"/>
                <a:cs typeface="Arial MT"/>
              </a:rPr>
              <a:t>management</a:t>
            </a:r>
            <a:r>
              <a:rPr sz="255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55" dirty="0">
                <a:solidFill>
                  <a:srgbClr val="3A362F"/>
                </a:solidFill>
                <a:latin typeface="Arial MT"/>
                <a:cs typeface="Arial MT"/>
              </a:rPr>
              <a:t>system</a:t>
            </a:r>
            <a:endParaRPr sz="255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540"/>
              </a:spcBef>
              <a:buSzPct val="86274"/>
              <a:buChar char="•"/>
              <a:tabLst>
                <a:tab pos="469265" algn="l"/>
                <a:tab pos="9092565" algn="l"/>
                <a:tab pos="9549765" algn="l"/>
              </a:tabLst>
            </a:pPr>
            <a:r>
              <a:rPr sz="2550" spc="-130" dirty="0">
                <a:solidFill>
                  <a:srgbClr val="3A362F"/>
                </a:solidFill>
                <a:latin typeface="Arial MT"/>
                <a:cs typeface="Arial MT"/>
              </a:rPr>
              <a:t>Automated</a:t>
            </a:r>
            <a:r>
              <a:rPr sz="255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265" dirty="0">
                <a:solidFill>
                  <a:srgbClr val="3A362F"/>
                </a:solidFill>
                <a:latin typeface="Arial MT"/>
                <a:cs typeface="Arial MT"/>
              </a:rPr>
              <a:t>SMS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7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55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14" dirty="0">
                <a:solidFill>
                  <a:srgbClr val="3A362F"/>
                </a:solidFill>
                <a:latin typeface="Arial MT"/>
                <a:cs typeface="Arial MT"/>
              </a:rPr>
              <a:t>email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3A362F"/>
                </a:solidFill>
                <a:latin typeface="Arial MT"/>
                <a:cs typeface="Arial MT"/>
              </a:rPr>
              <a:t>appointment</a:t>
            </a:r>
            <a:r>
              <a:rPr sz="2550" spc="-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362F"/>
                </a:solidFill>
                <a:latin typeface="Arial MT"/>
                <a:cs typeface="Arial MT"/>
              </a:rPr>
              <a:t>reminders</a:t>
            </a:r>
            <a:r>
              <a:rPr sz="2550" dirty="0">
                <a:solidFill>
                  <a:srgbClr val="3A362F"/>
                </a:solidFill>
                <a:latin typeface="Arial MT"/>
                <a:cs typeface="Arial MT"/>
              </a:rPr>
              <a:t>	</a:t>
            </a:r>
            <a:r>
              <a:rPr sz="2200" spc="-50" dirty="0">
                <a:solidFill>
                  <a:srgbClr val="3A362F"/>
                </a:solidFill>
                <a:latin typeface="Arial MT"/>
                <a:cs typeface="Arial MT"/>
              </a:rPr>
              <a:t>•</a:t>
            </a:r>
            <a:r>
              <a:rPr sz="2200" dirty="0">
                <a:solidFill>
                  <a:srgbClr val="3A362F"/>
                </a:solidFill>
                <a:latin typeface="Arial MT"/>
                <a:cs typeface="Arial MT"/>
              </a:rPr>
              <a:t>	</a:t>
            </a:r>
            <a:r>
              <a:rPr sz="2550" spc="-140" dirty="0">
                <a:solidFill>
                  <a:srgbClr val="3A362F"/>
                </a:solidFill>
                <a:latin typeface="Arial MT"/>
                <a:cs typeface="Arial MT"/>
              </a:rPr>
              <a:t>Compliance</a:t>
            </a:r>
            <a:r>
              <a:rPr sz="2550" spc="-1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55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250" dirty="0">
                <a:solidFill>
                  <a:srgbClr val="3A362F"/>
                </a:solidFill>
                <a:latin typeface="Arial MT"/>
                <a:cs typeface="Arial MT"/>
              </a:rPr>
              <a:t>NHS</a:t>
            </a:r>
            <a:r>
              <a:rPr sz="255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3A362F"/>
                </a:solidFill>
                <a:latin typeface="Arial MT"/>
                <a:cs typeface="Arial MT"/>
              </a:rPr>
              <a:t>data</a:t>
            </a:r>
            <a:r>
              <a:rPr sz="2550" spc="-11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85" dirty="0">
                <a:solidFill>
                  <a:srgbClr val="3A362F"/>
                </a:solidFill>
                <a:latin typeface="Arial MT"/>
                <a:cs typeface="Arial MT"/>
              </a:rPr>
              <a:t>protection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362F"/>
                </a:solidFill>
                <a:latin typeface="Arial MT"/>
                <a:cs typeface="Arial MT"/>
              </a:rPr>
              <a:t>standards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6337" y="7740291"/>
            <a:ext cx="8557895" cy="2173605"/>
          </a:xfrm>
          <a:custGeom>
            <a:avLst/>
            <a:gdLst/>
            <a:ahLst/>
            <a:cxnLst/>
            <a:rect l="l" t="t" r="r" b="b"/>
            <a:pathLst>
              <a:path w="8557895" h="2173604">
                <a:moveTo>
                  <a:pt x="8512936" y="2173224"/>
                </a:moveTo>
                <a:lnTo>
                  <a:pt x="44830" y="2173224"/>
                </a:lnTo>
                <a:lnTo>
                  <a:pt x="27380" y="2169691"/>
                </a:lnTo>
                <a:lnTo>
                  <a:pt x="13130" y="2160056"/>
                </a:lnTo>
                <a:lnTo>
                  <a:pt x="3523" y="2145765"/>
                </a:lnTo>
                <a:lnTo>
                  <a:pt x="0" y="2128266"/>
                </a:lnTo>
                <a:lnTo>
                  <a:pt x="0" y="44831"/>
                </a:lnTo>
                <a:lnTo>
                  <a:pt x="3523" y="27380"/>
                </a:lnTo>
                <a:lnTo>
                  <a:pt x="13130" y="13130"/>
                </a:lnTo>
                <a:lnTo>
                  <a:pt x="27380" y="3523"/>
                </a:lnTo>
                <a:lnTo>
                  <a:pt x="44830" y="0"/>
                </a:lnTo>
                <a:lnTo>
                  <a:pt x="8512936" y="0"/>
                </a:lnTo>
                <a:lnTo>
                  <a:pt x="8530436" y="3523"/>
                </a:lnTo>
                <a:lnTo>
                  <a:pt x="8544727" y="13130"/>
                </a:lnTo>
                <a:lnTo>
                  <a:pt x="8554362" y="27380"/>
                </a:lnTo>
                <a:lnTo>
                  <a:pt x="8557895" y="44831"/>
                </a:lnTo>
                <a:lnTo>
                  <a:pt x="8557895" y="2128266"/>
                </a:lnTo>
                <a:lnTo>
                  <a:pt x="8554362" y="2145765"/>
                </a:lnTo>
                <a:lnTo>
                  <a:pt x="8544727" y="2160056"/>
                </a:lnTo>
                <a:lnTo>
                  <a:pt x="8530436" y="2169691"/>
                </a:lnTo>
                <a:lnTo>
                  <a:pt x="8512936" y="2173224"/>
                </a:lnTo>
                <a:close/>
              </a:path>
            </a:pathLst>
          </a:custGeom>
          <a:solidFill>
            <a:srgbClr val="F2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20800" y="7975124"/>
            <a:ext cx="23412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75" dirty="0">
                <a:solidFill>
                  <a:srgbClr val="3A362F"/>
                </a:solidFill>
                <a:latin typeface="Arial MT"/>
                <a:cs typeface="Arial MT"/>
              </a:rPr>
              <a:t>Key</a:t>
            </a:r>
            <a:r>
              <a:rPr sz="3000" spc="-21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3000" spc="-155" dirty="0">
                <a:solidFill>
                  <a:srgbClr val="3A362F"/>
                </a:solidFill>
                <a:latin typeface="Arial MT"/>
                <a:cs typeface="Arial MT"/>
              </a:rPr>
              <a:t>Deliverable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0800" y="8573992"/>
            <a:ext cx="6764020" cy="990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95"/>
              </a:spcBef>
            </a:pPr>
            <a:r>
              <a:rPr sz="2550" spc="-160" dirty="0">
                <a:solidFill>
                  <a:srgbClr val="3A362F"/>
                </a:solidFill>
                <a:latin typeface="Arial MT"/>
                <a:cs typeface="Arial MT"/>
              </a:rPr>
              <a:t>Comprehensive</a:t>
            </a:r>
            <a:r>
              <a:rPr sz="2550" spc="-1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25" dirty="0">
                <a:solidFill>
                  <a:srgbClr val="3A362F"/>
                </a:solidFill>
                <a:latin typeface="Arial MT"/>
                <a:cs typeface="Arial MT"/>
              </a:rPr>
              <a:t>requirements</a:t>
            </a:r>
            <a:r>
              <a:rPr sz="255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20" dirty="0">
                <a:solidFill>
                  <a:srgbClr val="3A362F"/>
                </a:solidFill>
                <a:latin typeface="Arial MT"/>
                <a:cs typeface="Arial MT"/>
              </a:rPr>
              <a:t>document</a:t>
            </a:r>
            <a:r>
              <a:rPr sz="2550" spc="-90" dirty="0">
                <a:solidFill>
                  <a:srgbClr val="3A362F"/>
                </a:solidFill>
                <a:latin typeface="Arial MT"/>
                <a:cs typeface="Arial MT"/>
              </a:rPr>
              <a:t> detailing</a:t>
            </a:r>
            <a:r>
              <a:rPr sz="255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3A362F"/>
                </a:solidFill>
                <a:latin typeface="Arial MT"/>
                <a:cs typeface="Arial MT"/>
              </a:rPr>
              <a:t>all </a:t>
            </a:r>
            <a:r>
              <a:rPr sz="2550" spc="-80" dirty="0">
                <a:solidFill>
                  <a:srgbClr val="3A362F"/>
                </a:solidFill>
                <a:latin typeface="Arial MT"/>
                <a:cs typeface="Arial MT"/>
              </a:rPr>
              <a:t>functional</a:t>
            </a:r>
            <a:r>
              <a:rPr sz="2550" spc="-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7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55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95" dirty="0">
                <a:solidFill>
                  <a:srgbClr val="3A362F"/>
                </a:solidFill>
                <a:latin typeface="Arial MT"/>
                <a:cs typeface="Arial MT"/>
              </a:rPr>
              <a:t>non-</a:t>
            </a:r>
            <a:r>
              <a:rPr sz="2550" spc="-80" dirty="0">
                <a:solidFill>
                  <a:srgbClr val="3A362F"/>
                </a:solidFill>
                <a:latin typeface="Arial MT"/>
                <a:cs typeface="Arial MT"/>
              </a:rPr>
              <a:t>functional</a:t>
            </a:r>
            <a:r>
              <a:rPr sz="2550" spc="-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A362F"/>
                </a:solidFill>
                <a:latin typeface="Arial MT"/>
                <a:cs typeface="Arial MT"/>
              </a:rPr>
              <a:t>specifications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903135" y="7740291"/>
            <a:ext cx="8558530" cy="2173605"/>
          </a:xfrm>
          <a:custGeom>
            <a:avLst/>
            <a:gdLst/>
            <a:ahLst/>
            <a:cxnLst/>
            <a:rect l="l" t="t" r="r" b="b"/>
            <a:pathLst>
              <a:path w="8558530" h="2173604">
                <a:moveTo>
                  <a:pt x="8513192" y="2173224"/>
                </a:moveTo>
                <a:lnTo>
                  <a:pt x="44831" y="2173224"/>
                </a:lnTo>
                <a:lnTo>
                  <a:pt x="27380" y="2169691"/>
                </a:lnTo>
                <a:lnTo>
                  <a:pt x="13130" y="2160056"/>
                </a:lnTo>
                <a:lnTo>
                  <a:pt x="3523" y="2145765"/>
                </a:lnTo>
                <a:lnTo>
                  <a:pt x="0" y="2128266"/>
                </a:lnTo>
                <a:lnTo>
                  <a:pt x="0" y="44831"/>
                </a:lnTo>
                <a:lnTo>
                  <a:pt x="3523" y="27380"/>
                </a:lnTo>
                <a:lnTo>
                  <a:pt x="13130" y="13130"/>
                </a:lnTo>
                <a:lnTo>
                  <a:pt x="27380" y="3523"/>
                </a:lnTo>
                <a:lnTo>
                  <a:pt x="44831" y="0"/>
                </a:lnTo>
                <a:lnTo>
                  <a:pt x="8513192" y="0"/>
                </a:lnTo>
                <a:lnTo>
                  <a:pt x="8530641" y="3523"/>
                </a:lnTo>
                <a:lnTo>
                  <a:pt x="8544891" y="13130"/>
                </a:lnTo>
                <a:lnTo>
                  <a:pt x="8554498" y="27380"/>
                </a:lnTo>
                <a:lnTo>
                  <a:pt x="8558021" y="44831"/>
                </a:lnTo>
                <a:lnTo>
                  <a:pt x="8558021" y="2128266"/>
                </a:lnTo>
                <a:lnTo>
                  <a:pt x="8554498" y="2145765"/>
                </a:lnTo>
                <a:lnTo>
                  <a:pt x="8544891" y="2160056"/>
                </a:lnTo>
                <a:lnTo>
                  <a:pt x="8530641" y="2169691"/>
                </a:lnTo>
                <a:lnTo>
                  <a:pt x="8513192" y="2173224"/>
                </a:lnTo>
                <a:close/>
              </a:path>
            </a:pathLst>
          </a:custGeom>
          <a:solidFill>
            <a:srgbClr val="F2E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185400" y="7975124"/>
            <a:ext cx="13252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35" dirty="0">
                <a:solidFill>
                  <a:srgbClr val="3A362F"/>
                </a:solidFill>
                <a:latin typeface="Arial MT"/>
                <a:cs typeface="Arial MT"/>
              </a:rPr>
              <a:t>Timeline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85400" y="8573992"/>
            <a:ext cx="6540500" cy="990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200"/>
              </a:lnSpc>
              <a:spcBef>
                <a:spcPts val="95"/>
              </a:spcBef>
            </a:pP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4</a:t>
            </a:r>
            <a:r>
              <a:rPr sz="255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60" dirty="0">
                <a:solidFill>
                  <a:srgbClr val="3A362F"/>
                </a:solidFill>
                <a:latin typeface="Arial MT"/>
                <a:cs typeface="Arial MT"/>
              </a:rPr>
              <a:t>weeks</a:t>
            </a:r>
            <a:r>
              <a:rPr sz="2550" spc="-1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3A362F"/>
                </a:solidFill>
                <a:latin typeface="Arial MT"/>
                <a:cs typeface="Arial MT"/>
              </a:rPr>
              <a:t>of</a:t>
            </a:r>
            <a:r>
              <a:rPr sz="255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20" dirty="0">
                <a:solidFill>
                  <a:srgbClr val="3A362F"/>
                </a:solidFill>
                <a:latin typeface="Arial MT"/>
                <a:cs typeface="Arial MT"/>
              </a:rPr>
              <a:t>stakeholder</a:t>
            </a:r>
            <a:r>
              <a:rPr sz="2550" spc="-1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30" dirty="0">
                <a:solidFill>
                  <a:srgbClr val="3A362F"/>
                </a:solidFill>
                <a:latin typeface="Arial MT"/>
                <a:cs typeface="Arial MT"/>
              </a:rPr>
              <a:t>interviews,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45" dirty="0">
                <a:solidFill>
                  <a:srgbClr val="3A362F"/>
                </a:solidFill>
                <a:latin typeface="Arial MT"/>
                <a:cs typeface="Arial MT"/>
              </a:rPr>
              <a:t>workshops,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65" dirty="0">
                <a:solidFill>
                  <a:srgbClr val="3A362F"/>
                </a:solidFill>
                <a:latin typeface="Arial MT"/>
                <a:cs typeface="Arial MT"/>
              </a:rPr>
              <a:t>and </a:t>
            </a:r>
            <a:r>
              <a:rPr sz="2550" spc="-30" dirty="0">
                <a:solidFill>
                  <a:srgbClr val="3A362F"/>
                </a:solidFill>
                <a:latin typeface="Arial MT"/>
                <a:cs typeface="Arial MT"/>
              </a:rPr>
              <a:t>documentation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315200" cy="109728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066210" y="1221123"/>
            <a:ext cx="1118235" cy="403225"/>
            <a:chOff x="8066210" y="1221123"/>
            <a:chExt cx="1118235" cy="403225"/>
          </a:xfrm>
        </p:grpSpPr>
        <p:sp>
          <p:nvSpPr>
            <p:cNvPr id="4" name="object 4"/>
            <p:cNvSpPr/>
            <p:nvPr/>
          </p:nvSpPr>
          <p:spPr>
            <a:xfrm>
              <a:off x="8066210" y="1221123"/>
              <a:ext cx="1118235" cy="403225"/>
            </a:xfrm>
            <a:custGeom>
              <a:avLst/>
              <a:gdLst/>
              <a:ahLst/>
              <a:cxnLst/>
              <a:rect l="l" t="t" r="r" b="b"/>
              <a:pathLst>
                <a:path w="1118234" h="403225">
                  <a:moveTo>
                    <a:pt x="1092200" y="403097"/>
                  </a:moveTo>
                  <a:lnTo>
                    <a:pt x="25781" y="403097"/>
                  </a:lnTo>
                  <a:lnTo>
                    <a:pt x="15746" y="401071"/>
                  </a:lnTo>
                  <a:lnTo>
                    <a:pt x="7551" y="395546"/>
                  </a:lnTo>
                  <a:lnTo>
                    <a:pt x="2026" y="387352"/>
                  </a:lnTo>
                  <a:lnTo>
                    <a:pt x="0" y="377316"/>
                  </a:lnTo>
                  <a:lnTo>
                    <a:pt x="0" y="25780"/>
                  </a:lnTo>
                  <a:lnTo>
                    <a:pt x="2026" y="15745"/>
                  </a:lnTo>
                  <a:lnTo>
                    <a:pt x="7551" y="7551"/>
                  </a:lnTo>
                  <a:lnTo>
                    <a:pt x="15746" y="2025"/>
                  </a:lnTo>
                  <a:lnTo>
                    <a:pt x="25781" y="0"/>
                  </a:lnTo>
                  <a:lnTo>
                    <a:pt x="1092200" y="0"/>
                  </a:lnTo>
                  <a:lnTo>
                    <a:pt x="1102234" y="2025"/>
                  </a:lnTo>
                  <a:lnTo>
                    <a:pt x="1110429" y="7551"/>
                  </a:lnTo>
                  <a:lnTo>
                    <a:pt x="1115954" y="15745"/>
                  </a:lnTo>
                  <a:lnTo>
                    <a:pt x="1117980" y="25780"/>
                  </a:lnTo>
                  <a:lnTo>
                    <a:pt x="1117980" y="377316"/>
                  </a:lnTo>
                  <a:lnTo>
                    <a:pt x="1115954" y="387352"/>
                  </a:lnTo>
                  <a:lnTo>
                    <a:pt x="1110429" y="395546"/>
                  </a:lnTo>
                  <a:lnTo>
                    <a:pt x="1102234" y="401071"/>
                  </a:lnTo>
                  <a:lnTo>
                    <a:pt x="1092200" y="403097"/>
                  </a:lnTo>
                  <a:close/>
                </a:path>
              </a:pathLst>
            </a:custGeom>
            <a:solidFill>
              <a:srgbClr val="E2EC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1500" y="1333500"/>
              <a:ext cx="177800" cy="177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432800" y="1289526"/>
            <a:ext cx="6902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65" dirty="0">
                <a:solidFill>
                  <a:srgbClr val="3A362F"/>
                </a:solidFill>
                <a:latin typeface="Arial MT"/>
                <a:cs typeface="Arial MT"/>
              </a:rPr>
              <a:t>PHASE</a:t>
            </a:r>
            <a:r>
              <a:rPr sz="1450" spc="-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60" dirty="0">
                <a:solidFill>
                  <a:srgbClr val="3A362F"/>
                </a:solidFill>
                <a:latin typeface="Arial MT"/>
                <a:cs typeface="Arial MT"/>
              </a:rPr>
              <a:t>2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051800" y="1607978"/>
            <a:ext cx="10604500" cy="13220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>
              <a:lnSpc>
                <a:spcPts val="5000"/>
              </a:lnSpc>
              <a:spcBef>
                <a:spcPts val="405"/>
              </a:spcBef>
            </a:pPr>
            <a:r>
              <a:rPr sz="4300" spc="-275" dirty="0"/>
              <a:t>System</a:t>
            </a:r>
            <a:r>
              <a:rPr sz="4300" spc="-285" dirty="0"/>
              <a:t> </a:t>
            </a:r>
            <a:r>
              <a:rPr sz="4300" spc="-270" dirty="0"/>
              <a:t>Design</a:t>
            </a:r>
            <a:r>
              <a:rPr sz="4300" spc="-320" dirty="0"/>
              <a:t> </a:t>
            </a:r>
            <a:r>
              <a:rPr sz="4300" spc="-310" dirty="0"/>
              <a:t>Phase:</a:t>
            </a:r>
            <a:r>
              <a:rPr sz="4300" spc="-200" dirty="0"/>
              <a:t> </a:t>
            </a:r>
            <a:r>
              <a:rPr sz="4300" spc="-185" dirty="0"/>
              <a:t>Architecture</a:t>
            </a:r>
            <a:r>
              <a:rPr sz="4300" spc="-235" dirty="0"/>
              <a:t> </a:t>
            </a:r>
            <a:r>
              <a:rPr sz="4300" spc="-245" dirty="0"/>
              <a:t>Planning</a:t>
            </a:r>
            <a:r>
              <a:rPr sz="4300" spc="-145" dirty="0"/>
              <a:t> </a:t>
            </a:r>
            <a:r>
              <a:rPr sz="4300" spc="-310" dirty="0"/>
              <a:t>and </a:t>
            </a:r>
            <a:r>
              <a:rPr sz="4300" spc="-275" dirty="0"/>
              <a:t>Database</a:t>
            </a:r>
            <a:r>
              <a:rPr sz="4300" spc="-245" dirty="0"/>
              <a:t> </a:t>
            </a:r>
            <a:r>
              <a:rPr sz="4300" spc="-315" dirty="0"/>
              <a:t>Schema</a:t>
            </a:r>
            <a:r>
              <a:rPr sz="4300" spc="-190" dirty="0"/>
              <a:t> </a:t>
            </a:r>
            <a:r>
              <a:rPr sz="4300" spc="-300" dirty="0"/>
              <a:t>Design</a:t>
            </a:r>
            <a:endParaRPr sz="4300"/>
          </a:p>
        </p:txBody>
      </p:sp>
      <p:grpSp>
        <p:nvGrpSpPr>
          <p:cNvPr id="8" name="object 8"/>
          <p:cNvGrpSpPr/>
          <p:nvPr/>
        </p:nvGrpSpPr>
        <p:grpSpPr>
          <a:xfrm>
            <a:off x="8050970" y="3278555"/>
            <a:ext cx="10721340" cy="1651000"/>
            <a:chOff x="8050970" y="3278555"/>
            <a:chExt cx="10721340" cy="1651000"/>
          </a:xfrm>
        </p:grpSpPr>
        <p:sp>
          <p:nvSpPr>
            <p:cNvPr id="9" name="object 9"/>
            <p:cNvSpPr/>
            <p:nvPr/>
          </p:nvSpPr>
          <p:spPr>
            <a:xfrm>
              <a:off x="8066210" y="3293795"/>
              <a:ext cx="10690860" cy="1620520"/>
            </a:xfrm>
            <a:custGeom>
              <a:avLst/>
              <a:gdLst/>
              <a:ahLst/>
              <a:cxnLst/>
              <a:rect l="l" t="t" r="r" b="b"/>
              <a:pathLst>
                <a:path w="10690860" h="1620520">
                  <a:moveTo>
                    <a:pt x="10658221" y="1620012"/>
                  </a:moveTo>
                  <a:lnTo>
                    <a:pt x="32131" y="1620012"/>
                  </a:lnTo>
                  <a:lnTo>
                    <a:pt x="19624" y="1617486"/>
                  </a:lnTo>
                  <a:lnTo>
                    <a:pt x="9411" y="1610601"/>
                  </a:lnTo>
                  <a:lnTo>
                    <a:pt x="2525" y="1600387"/>
                  </a:lnTo>
                  <a:lnTo>
                    <a:pt x="0" y="1587880"/>
                  </a:lnTo>
                  <a:lnTo>
                    <a:pt x="0" y="32130"/>
                  </a:lnTo>
                  <a:lnTo>
                    <a:pt x="2525" y="19624"/>
                  </a:lnTo>
                  <a:lnTo>
                    <a:pt x="9411" y="9410"/>
                  </a:lnTo>
                  <a:lnTo>
                    <a:pt x="19624" y="2525"/>
                  </a:lnTo>
                  <a:lnTo>
                    <a:pt x="32131" y="0"/>
                  </a:lnTo>
                  <a:lnTo>
                    <a:pt x="10658221" y="0"/>
                  </a:lnTo>
                  <a:lnTo>
                    <a:pt x="10670728" y="2525"/>
                  </a:lnTo>
                  <a:lnTo>
                    <a:pt x="10680942" y="9410"/>
                  </a:lnTo>
                  <a:lnTo>
                    <a:pt x="10687828" y="19624"/>
                  </a:lnTo>
                  <a:lnTo>
                    <a:pt x="10690353" y="32130"/>
                  </a:lnTo>
                  <a:lnTo>
                    <a:pt x="10690353" y="1587880"/>
                  </a:lnTo>
                  <a:lnTo>
                    <a:pt x="10687828" y="1600387"/>
                  </a:lnTo>
                  <a:lnTo>
                    <a:pt x="10680942" y="1610601"/>
                  </a:lnTo>
                  <a:lnTo>
                    <a:pt x="10670728" y="1617486"/>
                  </a:lnTo>
                  <a:lnTo>
                    <a:pt x="10658221" y="1620012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66210" y="3293795"/>
              <a:ext cx="10690860" cy="1620520"/>
            </a:xfrm>
            <a:custGeom>
              <a:avLst/>
              <a:gdLst/>
              <a:ahLst/>
              <a:cxnLst/>
              <a:rect l="l" t="t" r="r" b="b"/>
              <a:pathLst>
                <a:path w="10690860" h="1620520">
                  <a:moveTo>
                    <a:pt x="0" y="1587880"/>
                  </a:moveTo>
                  <a:lnTo>
                    <a:pt x="2525" y="1600387"/>
                  </a:lnTo>
                  <a:lnTo>
                    <a:pt x="9411" y="1610601"/>
                  </a:lnTo>
                  <a:lnTo>
                    <a:pt x="19624" y="1617486"/>
                  </a:lnTo>
                  <a:lnTo>
                    <a:pt x="32131" y="1620012"/>
                  </a:lnTo>
                  <a:lnTo>
                    <a:pt x="10658221" y="1620012"/>
                  </a:lnTo>
                  <a:lnTo>
                    <a:pt x="10670728" y="1617486"/>
                  </a:lnTo>
                  <a:lnTo>
                    <a:pt x="10680942" y="1610601"/>
                  </a:lnTo>
                  <a:lnTo>
                    <a:pt x="10687828" y="1600387"/>
                  </a:lnTo>
                  <a:lnTo>
                    <a:pt x="10690353" y="1587880"/>
                  </a:lnTo>
                  <a:lnTo>
                    <a:pt x="10690353" y="32130"/>
                  </a:lnTo>
                  <a:lnTo>
                    <a:pt x="10687828" y="19624"/>
                  </a:lnTo>
                  <a:lnTo>
                    <a:pt x="10680942" y="9410"/>
                  </a:lnTo>
                  <a:lnTo>
                    <a:pt x="10670728" y="2525"/>
                  </a:lnTo>
                  <a:lnTo>
                    <a:pt x="10658221" y="0"/>
                  </a:lnTo>
                  <a:lnTo>
                    <a:pt x="32131" y="0"/>
                  </a:lnTo>
                  <a:lnTo>
                    <a:pt x="19624" y="2525"/>
                  </a:lnTo>
                  <a:lnTo>
                    <a:pt x="9411" y="9410"/>
                  </a:lnTo>
                  <a:lnTo>
                    <a:pt x="2525" y="19624"/>
                  </a:lnTo>
                  <a:lnTo>
                    <a:pt x="0" y="32130"/>
                  </a:lnTo>
                  <a:lnTo>
                    <a:pt x="0" y="1587880"/>
                  </a:lnTo>
                  <a:close/>
                </a:path>
              </a:pathLst>
            </a:custGeom>
            <a:ln w="30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096691" y="3324276"/>
            <a:ext cx="858519" cy="1559560"/>
          </a:xfrm>
          <a:prstGeom prst="rect">
            <a:avLst/>
          </a:prstGeom>
          <a:solidFill>
            <a:srgbClr val="F2E7D4"/>
          </a:solidFill>
        </p:spPr>
        <p:txBody>
          <a:bodyPr vert="horz" wrap="square" lIns="0" tIns="1009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endParaRPr sz="2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  <a:spcBef>
                <a:spcPts val="5"/>
              </a:spcBef>
            </a:pPr>
            <a:r>
              <a:rPr sz="2750" spc="-50" dirty="0">
                <a:solidFill>
                  <a:srgbClr val="3A362F"/>
                </a:solidFill>
                <a:latin typeface="Arial MT"/>
                <a:cs typeface="Arial MT"/>
              </a:rPr>
              <a:t>1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0" y="3490753"/>
            <a:ext cx="2381250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Architecture</a:t>
            </a: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75" dirty="0">
                <a:solidFill>
                  <a:srgbClr val="3A362F"/>
                </a:solidFill>
                <a:latin typeface="Arial MT"/>
                <a:cs typeface="Arial MT"/>
              </a:rPr>
              <a:t>Selection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0" y="3921537"/>
            <a:ext cx="911923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00"/>
              </a:spcBef>
            </a:pPr>
            <a:r>
              <a:rPr sz="1900" spc="-185" dirty="0">
                <a:solidFill>
                  <a:srgbClr val="3A362F"/>
                </a:solidFill>
                <a:latin typeface="Arial MT"/>
                <a:cs typeface="Arial MT"/>
              </a:rPr>
              <a:t>Three-</a:t>
            </a:r>
            <a:r>
              <a:rPr sz="1900" spc="-80" dirty="0">
                <a:solidFill>
                  <a:srgbClr val="3A362F"/>
                </a:solidFill>
                <a:latin typeface="Arial MT"/>
                <a:cs typeface="Arial MT"/>
              </a:rPr>
              <a:t>tier</a:t>
            </a:r>
            <a:r>
              <a:rPr sz="19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architecture</a:t>
            </a:r>
            <a:r>
              <a:rPr sz="19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50" dirty="0">
                <a:solidFill>
                  <a:srgbClr val="3A362F"/>
                </a:solidFill>
                <a:latin typeface="Arial MT"/>
                <a:cs typeface="Arial MT"/>
              </a:rPr>
              <a:t>chosen:</a:t>
            </a:r>
            <a:r>
              <a:rPr sz="190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presentation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5" dirty="0">
                <a:solidFill>
                  <a:srgbClr val="3A362F"/>
                </a:solidFill>
                <a:latin typeface="Arial MT"/>
                <a:cs typeface="Arial MT"/>
              </a:rPr>
              <a:t>layer</a:t>
            </a:r>
            <a:r>
              <a:rPr sz="19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55" dirty="0">
                <a:solidFill>
                  <a:srgbClr val="3A362F"/>
                </a:solidFill>
                <a:latin typeface="Arial MT"/>
                <a:cs typeface="Arial MT"/>
              </a:rPr>
              <a:t>(React),</a:t>
            </a:r>
            <a:r>
              <a:rPr sz="1900" spc="-100" dirty="0">
                <a:solidFill>
                  <a:srgbClr val="3A362F"/>
                </a:solidFill>
                <a:latin typeface="Arial MT"/>
                <a:cs typeface="Arial MT"/>
              </a:rPr>
              <a:t> application </a:t>
            </a:r>
            <a:r>
              <a:rPr sz="1900" spc="-145" dirty="0">
                <a:solidFill>
                  <a:srgbClr val="3A362F"/>
                </a:solidFill>
                <a:latin typeface="Arial MT"/>
                <a:cs typeface="Arial MT"/>
              </a:rPr>
              <a:t>layer</a:t>
            </a:r>
            <a:r>
              <a:rPr sz="19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45" dirty="0">
                <a:solidFill>
                  <a:srgbClr val="3A362F"/>
                </a:solidFill>
                <a:latin typeface="Arial MT"/>
                <a:cs typeface="Arial MT"/>
              </a:rPr>
              <a:t>(Node.js),</a:t>
            </a:r>
            <a:r>
              <a:rPr sz="190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55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1900" spc="-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database </a:t>
            </a:r>
            <a:r>
              <a:rPr sz="1900" spc="-145" dirty="0">
                <a:solidFill>
                  <a:srgbClr val="3A362F"/>
                </a:solidFill>
                <a:latin typeface="Arial MT"/>
                <a:cs typeface="Arial MT"/>
              </a:rPr>
              <a:t>layer</a:t>
            </a:r>
            <a:r>
              <a:rPr sz="1900" spc="-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0" dirty="0">
                <a:solidFill>
                  <a:srgbClr val="3A362F"/>
                </a:solidFill>
                <a:latin typeface="Arial MT"/>
                <a:cs typeface="Arial MT"/>
              </a:rPr>
              <a:t>(PostgreSQL)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50970" y="5113097"/>
            <a:ext cx="10721340" cy="1651000"/>
            <a:chOff x="8050970" y="5113097"/>
            <a:chExt cx="10721340" cy="1651000"/>
          </a:xfrm>
        </p:grpSpPr>
        <p:sp>
          <p:nvSpPr>
            <p:cNvPr id="15" name="object 15"/>
            <p:cNvSpPr/>
            <p:nvPr/>
          </p:nvSpPr>
          <p:spPr>
            <a:xfrm>
              <a:off x="8066210" y="5128337"/>
              <a:ext cx="10690860" cy="1620520"/>
            </a:xfrm>
            <a:custGeom>
              <a:avLst/>
              <a:gdLst/>
              <a:ahLst/>
              <a:cxnLst/>
              <a:rect l="l" t="t" r="r" b="b"/>
              <a:pathLst>
                <a:path w="10690860" h="1620520">
                  <a:moveTo>
                    <a:pt x="10658221" y="1620011"/>
                  </a:moveTo>
                  <a:lnTo>
                    <a:pt x="32131" y="1620011"/>
                  </a:lnTo>
                  <a:lnTo>
                    <a:pt x="19624" y="1617487"/>
                  </a:lnTo>
                  <a:lnTo>
                    <a:pt x="9411" y="1610601"/>
                  </a:lnTo>
                  <a:lnTo>
                    <a:pt x="2525" y="1600388"/>
                  </a:lnTo>
                  <a:lnTo>
                    <a:pt x="0" y="1587881"/>
                  </a:lnTo>
                  <a:lnTo>
                    <a:pt x="0" y="32130"/>
                  </a:lnTo>
                  <a:lnTo>
                    <a:pt x="2525" y="19624"/>
                  </a:lnTo>
                  <a:lnTo>
                    <a:pt x="9411" y="9410"/>
                  </a:lnTo>
                  <a:lnTo>
                    <a:pt x="19624" y="2525"/>
                  </a:lnTo>
                  <a:lnTo>
                    <a:pt x="32131" y="0"/>
                  </a:lnTo>
                  <a:lnTo>
                    <a:pt x="10658221" y="0"/>
                  </a:lnTo>
                  <a:lnTo>
                    <a:pt x="10670728" y="2525"/>
                  </a:lnTo>
                  <a:lnTo>
                    <a:pt x="10680942" y="9410"/>
                  </a:lnTo>
                  <a:lnTo>
                    <a:pt x="10687828" y="19624"/>
                  </a:lnTo>
                  <a:lnTo>
                    <a:pt x="10690353" y="32130"/>
                  </a:lnTo>
                  <a:lnTo>
                    <a:pt x="10690353" y="1587881"/>
                  </a:lnTo>
                  <a:lnTo>
                    <a:pt x="10687828" y="1600388"/>
                  </a:lnTo>
                  <a:lnTo>
                    <a:pt x="10680942" y="1610601"/>
                  </a:lnTo>
                  <a:lnTo>
                    <a:pt x="10670728" y="1617487"/>
                  </a:lnTo>
                  <a:lnTo>
                    <a:pt x="10658221" y="1620011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66210" y="5128337"/>
              <a:ext cx="10690860" cy="1620520"/>
            </a:xfrm>
            <a:custGeom>
              <a:avLst/>
              <a:gdLst/>
              <a:ahLst/>
              <a:cxnLst/>
              <a:rect l="l" t="t" r="r" b="b"/>
              <a:pathLst>
                <a:path w="10690860" h="1620520">
                  <a:moveTo>
                    <a:pt x="0" y="1587881"/>
                  </a:moveTo>
                  <a:lnTo>
                    <a:pt x="2525" y="1600388"/>
                  </a:lnTo>
                  <a:lnTo>
                    <a:pt x="9411" y="1610601"/>
                  </a:lnTo>
                  <a:lnTo>
                    <a:pt x="19624" y="1617487"/>
                  </a:lnTo>
                  <a:lnTo>
                    <a:pt x="32131" y="1620011"/>
                  </a:lnTo>
                  <a:lnTo>
                    <a:pt x="10658221" y="1620011"/>
                  </a:lnTo>
                  <a:lnTo>
                    <a:pt x="10670728" y="1617487"/>
                  </a:lnTo>
                  <a:lnTo>
                    <a:pt x="10680942" y="1610601"/>
                  </a:lnTo>
                  <a:lnTo>
                    <a:pt x="10687828" y="1600388"/>
                  </a:lnTo>
                  <a:lnTo>
                    <a:pt x="10690353" y="1587881"/>
                  </a:lnTo>
                  <a:lnTo>
                    <a:pt x="10690353" y="32130"/>
                  </a:lnTo>
                  <a:lnTo>
                    <a:pt x="10687828" y="19624"/>
                  </a:lnTo>
                  <a:lnTo>
                    <a:pt x="10680942" y="9410"/>
                  </a:lnTo>
                  <a:lnTo>
                    <a:pt x="10670728" y="2525"/>
                  </a:lnTo>
                  <a:lnTo>
                    <a:pt x="10658221" y="0"/>
                  </a:lnTo>
                  <a:lnTo>
                    <a:pt x="32131" y="0"/>
                  </a:lnTo>
                  <a:lnTo>
                    <a:pt x="19624" y="2525"/>
                  </a:lnTo>
                  <a:lnTo>
                    <a:pt x="9411" y="9410"/>
                  </a:lnTo>
                  <a:lnTo>
                    <a:pt x="2525" y="19624"/>
                  </a:lnTo>
                  <a:lnTo>
                    <a:pt x="0" y="32130"/>
                  </a:lnTo>
                  <a:lnTo>
                    <a:pt x="0" y="1587881"/>
                  </a:lnTo>
                  <a:close/>
                </a:path>
              </a:pathLst>
            </a:custGeom>
            <a:ln w="30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96691" y="5158818"/>
            <a:ext cx="858519" cy="1559560"/>
          </a:xfrm>
          <a:prstGeom prst="rect">
            <a:avLst/>
          </a:prstGeom>
          <a:solidFill>
            <a:srgbClr val="F2E7D4"/>
          </a:solidFill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endParaRPr sz="25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  <a:spcBef>
                <a:spcPts val="5"/>
              </a:spcBef>
            </a:pPr>
            <a:r>
              <a:rPr sz="2750" spc="-50" dirty="0">
                <a:solidFill>
                  <a:srgbClr val="3A362F"/>
                </a:solidFill>
                <a:latin typeface="Arial MT"/>
                <a:cs typeface="Arial MT"/>
              </a:rPr>
              <a:t>2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0" y="5332253"/>
            <a:ext cx="1972945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140" dirty="0">
                <a:solidFill>
                  <a:srgbClr val="3A362F"/>
                </a:solidFill>
                <a:latin typeface="Arial MT"/>
                <a:cs typeface="Arial MT"/>
              </a:rPr>
              <a:t>Database</a:t>
            </a:r>
            <a:r>
              <a:rPr sz="2100" spc="-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Schema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0" y="5763037"/>
            <a:ext cx="93167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00"/>
              </a:spcBef>
            </a:pPr>
            <a:r>
              <a:rPr sz="1900" spc="-165" dirty="0">
                <a:solidFill>
                  <a:srgbClr val="3A362F"/>
                </a:solidFill>
                <a:latin typeface="Arial MT"/>
                <a:cs typeface="Arial MT"/>
              </a:rPr>
              <a:t>Designed</a:t>
            </a:r>
            <a:r>
              <a:rPr sz="19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normalised</a:t>
            </a:r>
            <a:r>
              <a:rPr sz="19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55" dirty="0">
                <a:solidFill>
                  <a:srgbClr val="3A362F"/>
                </a:solidFill>
                <a:latin typeface="Arial MT"/>
                <a:cs typeface="Arial MT"/>
              </a:rPr>
              <a:t>schema</a:t>
            </a:r>
            <a:r>
              <a:rPr sz="19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75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10" dirty="0">
                <a:solidFill>
                  <a:srgbClr val="3A362F"/>
                </a:solidFill>
                <a:latin typeface="Arial MT"/>
                <a:cs typeface="Arial MT"/>
              </a:rPr>
              <a:t>tables</a:t>
            </a:r>
            <a:r>
              <a:rPr sz="1900" spc="-60" dirty="0">
                <a:solidFill>
                  <a:srgbClr val="3A362F"/>
                </a:solidFill>
                <a:latin typeface="Arial MT"/>
                <a:cs typeface="Arial MT"/>
              </a:rPr>
              <a:t> for</a:t>
            </a:r>
            <a:r>
              <a:rPr sz="1900" spc="-1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patients, </a:t>
            </a:r>
            <a:r>
              <a:rPr sz="1900" spc="-125" dirty="0">
                <a:solidFill>
                  <a:srgbClr val="3A362F"/>
                </a:solidFill>
                <a:latin typeface="Arial MT"/>
                <a:cs typeface="Arial MT"/>
              </a:rPr>
              <a:t>appointments,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doctors, </a:t>
            </a:r>
            <a:r>
              <a:rPr sz="1900" spc="-145" dirty="0">
                <a:solidFill>
                  <a:srgbClr val="3A362F"/>
                </a:solidFill>
                <a:latin typeface="Arial MT"/>
                <a:cs typeface="Arial MT"/>
              </a:rPr>
              <a:t>departments,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55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1900" spc="-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3A362F"/>
                </a:solidFill>
                <a:latin typeface="Arial MT"/>
                <a:cs typeface="Arial MT"/>
              </a:rPr>
              <a:t>audit </a:t>
            </a:r>
            <a:r>
              <a:rPr sz="1900" spc="-20" dirty="0">
                <a:solidFill>
                  <a:srgbClr val="3A362F"/>
                </a:solidFill>
                <a:latin typeface="Arial MT"/>
                <a:cs typeface="Arial MT"/>
              </a:rPr>
              <a:t>logs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50970" y="6947640"/>
            <a:ext cx="10721340" cy="1317625"/>
            <a:chOff x="8050970" y="6947640"/>
            <a:chExt cx="10721340" cy="1317625"/>
          </a:xfrm>
        </p:grpSpPr>
        <p:sp>
          <p:nvSpPr>
            <p:cNvPr id="21" name="object 21"/>
            <p:cNvSpPr/>
            <p:nvPr/>
          </p:nvSpPr>
          <p:spPr>
            <a:xfrm>
              <a:off x="8066210" y="6962880"/>
              <a:ext cx="10690860" cy="1287145"/>
            </a:xfrm>
            <a:custGeom>
              <a:avLst/>
              <a:gdLst/>
              <a:ahLst/>
              <a:cxnLst/>
              <a:rect l="l" t="t" r="r" b="b"/>
              <a:pathLst>
                <a:path w="10690860" h="1287145">
                  <a:moveTo>
                    <a:pt x="10658221" y="1287144"/>
                  </a:moveTo>
                  <a:lnTo>
                    <a:pt x="32131" y="1287144"/>
                  </a:lnTo>
                  <a:lnTo>
                    <a:pt x="19624" y="1284619"/>
                  </a:lnTo>
                  <a:lnTo>
                    <a:pt x="9411" y="1277733"/>
                  </a:lnTo>
                  <a:lnTo>
                    <a:pt x="2525" y="1267520"/>
                  </a:lnTo>
                  <a:lnTo>
                    <a:pt x="0" y="1255014"/>
                  </a:lnTo>
                  <a:lnTo>
                    <a:pt x="0" y="32131"/>
                  </a:lnTo>
                  <a:lnTo>
                    <a:pt x="2525" y="19624"/>
                  </a:lnTo>
                  <a:lnTo>
                    <a:pt x="9411" y="9411"/>
                  </a:lnTo>
                  <a:lnTo>
                    <a:pt x="19624" y="2525"/>
                  </a:lnTo>
                  <a:lnTo>
                    <a:pt x="32131" y="0"/>
                  </a:lnTo>
                  <a:lnTo>
                    <a:pt x="10658221" y="0"/>
                  </a:lnTo>
                  <a:lnTo>
                    <a:pt x="10670728" y="2525"/>
                  </a:lnTo>
                  <a:lnTo>
                    <a:pt x="10680942" y="9411"/>
                  </a:lnTo>
                  <a:lnTo>
                    <a:pt x="10687828" y="19624"/>
                  </a:lnTo>
                  <a:lnTo>
                    <a:pt x="10690353" y="32131"/>
                  </a:lnTo>
                  <a:lnTo>
                    <a:pt x="10690353" y="1255014"/>
                  </a:lnTo>
                  <a:lnTo>
                    <a:pt x="10687828" y="1267520"/>
                  </a:lnTo>
                  <a:lnTo>
                    <a:pt x="10680942" y="1277733"/>
                  </a:lnTo>
                  <a:lnTo>
                    <a:pt x="10670728" y="1284619"/>
                  </a:lnTo>
                  <a:lnTo>
                    <a:pt x="10658221" y="1287144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66210" y="6962880"/>
              <a:ext cx="10690860" cy="1287145"/>
            </a:xfrm>
            <a:custGeom>
              <a:avLst/>
              <a:gdLst/>
              <a:ahLst/>
              <a:cxnLst/>
              <a:rect l="l" t="t" r="r" b="b"/>
              <a:pathLst>
                <a:path w="10690860" h="1287145">
                  <a:moveTo>
                    <a:pt x="0" y="1255014"/>
                  </a:moveTo>
                  <a:lnTo>
                    <a:pt x="2525" y="1267520"/>
                  </a:lnTo>
                  <a:lnTo>
                    <a:pt x="9411" y="1277733"/>
                  </a:lnTo>
                  <a:lnTo>
                    <a:pt x="19624" y="1284619"/>
                  </a:lnTo>
                  <a:lnTo>
                    <a:pt x="32131" y="1287144"/>
                  </a:lnTo>
                  <a:lnTo>
                    <a:pt x="10658221" y="1287144"/>
                  </a:lnTo>
                  <a:lnTo>
                    <a:pt x="10670728" y="1284619"/>
                  </a:lnTo>
                  <a:lnTo>
                    <a:pt x="10680942" y="1277733"/>
                  </a:lnTo>
                  <a:lnTo>
                    <a:pt x="10687828" y="1267520"/>
                  </a:lnTo>
                  <a:lnTo>
                    <a:pt x="10690353" y="1255014"/>
                  </a:lnTo>
                  <a:lnTo>
                    <a:pt x="10690353" y="32131"/>
                  </a:lnTo>
                  <a:lnTo>
                    <a:pt x="10687828" y="19624"/>
                  </a:lnTo>
                  <a:lnTo>
                    <a:pt x="10680942" y="9411"/>
                  </a:lnTo>
                  <a:lnTo>
                    <a:pt x="10670728" y="2525"/>
                  </a:lnTo>
                  <a:lnTo>
                    <a:pt x="10658221" y="0"/>
                  </a:lnTo>
                  <a:lnTo>
                    <a:pt x="32131" y="0"/>
                  </a:lnTo>
                  <a:lnTo>
                    <a:pt x="19624" y="2525"/>
                  </a:lnTo>
                  <a:lnTo>
                    <a:pt x="9411" y="9411"/>
                  </a:lnTo>
                  <a:lnTo>
                    <a:pt x="2525" y="19624"/>
                  </a:lnTo>
                  <a:lnTo>
                    <a:pt x="0" y="32131"/>
                  </a:lnTo>
                  <a:lnTo>
                    <a:pt x="0" y="1255014"/>
                  </a:lnTo>
                  <a:close/>
                </a:path>
              </a:pathLst>
            </a:custGeom>
            <a:ln w="30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096691" y="6993360"/>
            <a:ext cx="858519" cy="1226185"/>
          </a:xfrm>
          <a:prstGeom prst="rect">
            <a:avLst/>
          </a:prstGeom>
          <a:solidFill>
            <a:srgbClr val="F2E7D4"/>
          </a:solidFill>
        </p:spPr>
        <p:txBody>
          <a:bodyPr vert="horz" wrap="square" lIns="0" tIns="30289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2385"/>
              </a:spcBef>
            </a:pPr>
            <a:r>
              <a:rPr sz="2750" spc="-50" dirty="0">
                <a:solidFill>
                  <a:srgbClr val="3A362F"/>
                </a:solidFill>
                <a:latin typeface="Arial MT"/>
                <a:cs typeface="Arial MT"/>
              </a:rPr>
              <a:t>3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0" y="7161053"/>
            <a:ext cx="2141855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Security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Framework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0" y="7646511"/>
            <a:ext cx="943356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204" dirty="0">
                <a:solidFill>
                  <a:srgbClr val="3A362F"/>
                </a:solidFill>
                <a:latin typeface="Arial MT"/>
                <a:cs typeface="Arial MT"/>
              </a:rPr>
              <a:t>Role-</a:t>
            </a:r>
            <a:r>
              <a:rPr sz="1900" spc="-140" dirty="0">
                <a:solidFill>
                  <a:srgbClr val="3A362F"/>
                </a:solidFill>
                <a:latin typeface="Arial MT"/>
                <a:cs typeface="Arial MT"/>
              </a:rPr>
              <a:t>based</a:t>
            </a:r>
            <a:r>
              <a:rPr sz="19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5" dirty="0">
                <a:solidFill>
                  <a:srgbClr val="3A362F"/>
                </a:solidFill>
                <a:latin typeface="Arial MT"/>
                <a:cs typeface="Arial MT"/>
              </a:rPr>
              <a:t>access</a:t>
            </a:r>
            <a:r>
              <a:rPr sz="19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14" dirty="0">
                <a:solidFill>
                  <a:srgbClr val="3A362F"/>
                </a:solidFill>
                <a:latin typeface="Arial MT"/>
                <a:cs typeface="Arial MT"/>
              </a:rPr>
              <a:t>control,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45" dirty="0">
                <a:solidFill>
                  <a:srgbClr val="3A362F"/>
                </a:solidFill>
                <a:latin typeface="Arial MT"/>
                <a:cs typeface="Arial MT"/>
              </a:rPr>
              <a:t>encrypted</a:t>
            </a:r>
            <a:r>
              <a:rPr sz="19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5" dirty="0">
                <a:solidFill>
                  <a:srgbClr val="3A362F"/>
                </a:solidFill>
                <a:latin typeface="Arial MT"/>
                <a:cs typeface="Arial MT"/>
              </a:rPr>
              <a:t>data</a:t>
            </a:r>
            <a:r>
              <a:rPr sz="19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transmission,</a:t>
            </a:r>
            <a:r>
              <a:rPr sz="1900" spc="-11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55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19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295" dirty="0">
                <a:solidFill>
                  <a:srgbClr val="3A362F"/>
                </a:solidFill>
                <a:latin typeface="Arial MT"/>
                <a:cs typeface="Arial MT"/>
              </a:rPr>
              <a:t>GDPR-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compliant</a:t>
            </a:r>
            <a:r>
              <a:rPr sz="19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5" dirty="0">
                <a:solidFill>
                  <a:srgbClr val="3A362F"/>
                </a:solidFill>
                <a:latin typeface="Arial MT"/>
                <a:cs typeface="Arial MT"/>
              </a:rPr>
              <a:t>data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handling</a:t>
            </a:r>
            <a:r>
              <a:rPr sz="1900" spc="-1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40" dirty="0">
                <a:solidFill>
                  <a:srgbClr val="3A362F"/>
                </a:solidFill>
                <a:latin typeface="Arial MT"/>
                <a:cs typeface="Arial MT"/>
              </a:rPr>
              <a:t>protocols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50970" y="8449279"/>
            <a:ext cx="10721340" cy="1317625"/>
            <a:chOff x="8050970" y="8449279"/>
            <a:chExt cx="10721340" cy="1317625"/>
          </a:xfrm>
        </p:grpSpPr>
        <p:sp>
          <p:nvSpPr>
            <p:cNvPr id="27" name="object 27"/>
            <p:cNvSpPr/>
            <p:nvPr/>
          </p:nvSpPr>
          <p:spPr>
            <a:xfrm>
              <a:off x="8066210" y="8464519"/>
              <a:ext cx="10690860" cy="1287145"/>
            </a:xfrm>
            <a:custGeom>
              <a:avLst/>
              <a:gdLst/>
              <a:ahLst/>
              <a:cxnLst/>
              <a:rect l="l" t="t" r="r" b="b"/>
              <a:pathLst>
                <a:path w="10690860" h="1287145">
                  <a:moveTo>
                    <a:pt x="10658221" y="1287144"/>
                  </a:moveTo>
                  <a:lnTo>
                    <a:pt x="32131" y="1287144"/>
                  </a:lnTo>
                  <a:lnTo>
                    <a:pt x="19624" y="1284619"/>
                  </a:lnTo>
                  <a:lnTo>
                    <a:pt x="9411" y="1277733"/>
                  </a:lnTo>
                  <a:lnTo>
                    <a:pt x="2525" y="1267520"/>
                  </a:lnTo>
                  <a:lnTo>
                    <a:pt x="0" y="1255014"/>
                  </a:lnTo>
                  <a:lnTo>
                    <a:pt x="0" y="32131"/>
                  </a:lnTo>
                  <a:lnTo>
                    <a:pt x="2525" y="19624"/>
                  </a:lnTo>
                  <a:lnTo>
                    <a:pt x="9411" y="9411"/>
                  </a:lnTo>
                  <a:lnTo>
                    <a:pt x="19624" y="2525"/>
                  </a:lnTo>
                  <a:lnTo>
                    <a:pt x="32131" y="0"/>
                  </a:lnTo>
                  <a:lnTo>
                    <a:pt x="10658221" y="0"/>
                  </a:lnTo>
                  <a:lnTo>
                    <a:pt x="10670728" y="2525"/>
                  </a:lnTo>
                  <a:lnTo>
                    <a:pt x="10680942" y="9411"/>
                  </a:lnTo>
                  <a:lnTo>
                    <a:pt x="10687828" y="19624"/>
                  </a:lnTo>
                  <a:lnTo>
                    <a:pt x="10690353" y="32131"/>
                  </a:lnTo>
                  <a:lnTo>
                    <a:pt x="10690353" y="1255014"/>
                  </a:lnTo>
                  <a:lnTo>
                    <a:pt x="10687828" y="1267520"/>
                  </a:lnTo>
                  <a:lnTo>
                    <a:pt x="10680942" y="1277733"/>
                  </a:lnTo>
                  <a:lnTo>
                    <a:pt x="10670728" y="1284619"/>
                  </a:lnTo>
                  <a:lnTo>
                    <a:pt x="10658221" y="1287144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66210" y="8464519"/>
              <a:ext cx="10690860" cy="1287145"/>
            </a:xfrm>
            <a:custGeom>
              <a:avLst/>
              <a:gdLst/>
              <a:ahLst/>
              <a:cxnLst/>
              <a:rect l="l" t="t" r="r" b="b"/>
              <a:pathLst>
                <a:path w="10690860" h="1287145">
                  <a:moveTo>
                    <a:pt x="0" y="1255014"/>
                  </a:moveTo>
                  <a:lnTo>
                    <a:pt x="2525" y="1267520"/>
                  </a:lnTo>
                  <a:lnTo>
                    <a:pt x="9411" y="1277733"/>
                  </a:lnTo>
                  <a:lnTo>
                    <a:pt x="19624" y="1284619"/>
                  </a:lnTo>
                  <a:lnTo>
                    <a:pt x="32131" y="1287144"/>
                  </a:lnTo>
                  <a:lnTo>
                    <a:pt x="10658221" y="1287144"/>
                  </a:lnTo>
                  <a:lnTo>
                    <a:pt x="10670728" y="1284619"/>
                  </a:lnTo>
                  <a:lnTo>
                    <a:pt x="10680942" y="1277733"/>
                  </a:lnTo>
                  <a:lnTo>
                    <a:pt x="10687828" y="1267520"/>
                  </a:lnTo>
                  <a:lnTo>
                    <a:pt x="10690353" y="1255014"/>
                  </a:lnTo>
                  <a:lnTo>
                    <a:pt x="10690353" y="32131"/>
                  </a:lnTo>
                  <a:lnTo>
                    <a:pt x="10687828" y="19624"/>
                  </a:lnTo>
                  <a:lnTo>
                    <a:pt x="10680942" y="9411"/>
                  </a:lnTo>
                  <a:lnTo>
                    <a:pt x="10670728" y="2525"/>
                  </a:lnTo>
                  <a:lnTo>
                    <a:pt x="10658221" y="0"/>
                  </a:lnTo>
                  <a:lnTo>
                    <a:pt x="32131" y="0"/>
                  </a:lnTo>
                  <a:lnTo>
                    <a:pt x="19624" y="2525"/>
                  </a:lnTo>
                  <a:lnTo>
                    <a:pt x="9411" y="9411"/>
                  </a:lnTo>
                  <a:lnTo>
                    <a:pt x="2525" y="19624"/>
                  </a:lnTo>
                  <a:lnTo>
                    <a:pt x="0" y="32131"/>
                  </a:lnTo>
                  <a:lnTo>
                    <a:pt x="0" y="1255014"/>
                  </a:lnTo>
                  <a:close/>
                </a:path>
              </a:pathLst>
            </a:custGeom>
            <a:ln w="30479">
              <a:solidFill>
                <a:srgbClr val="D9C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096691" y="8495000"/>
            <a:ext cx="858519" cy="1226185"/>
          </a:xfrm>
          <a:prstGeom prst="rect">
            <a:avLst/>
          </a:prstGeom>
          <a:solidFill>
            <a:srgbClr val="F2E7D4"/>
          </a:solidFill>
        </p:spPr>
        <p:txBody>
          <a:bodyPr vert="horz" wrap="square" lIns="0" tIns="299720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2360"/>
              </a:spcBef>
            </a:pPr>
            <a:r>
              <a:rPr sz="2750" spc="-50" dirty="0">
                <a:solidFill>
                  <a:srgbClr val="3A362F"/>
                </a:solidFill>
                <a:latin typeface="Arial MT"/>
                <a:cs typeface="Arial MT"/>
              </a:rPr>
              <a:t>4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0" y="8659653"/>
            <a:ext cx="1928495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Integration</a:t>
            </a:r>
            <a:r>
              <a:rPr sz="210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55" dirty="0">
                <a:solidFill>
                  <a:srgbClr val="3A362F"/>
                </a:solidFill>
                <a:latin typeface="Arial MT"/>
                <a:cs typeface="Arial MT"/>
              </a:rPr>
              <a:t>Points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44000" y="9145111"/>
            <a:ext cx="966216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180" dirty="0">
                <a:solidFill>
                  <a:srgbClr val="3A362F"/>
                </a:solidFill>
                <a:latin typeface="Arial MT"/>
                <a:cs typeface="Arial MT"/>
              </a:rPr>
              <a:t>API</a:t>
            </a:r>
            <a:r>
              <a:rPr sz="190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design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3A362F"/>
                </a:solidFill>
                <a:latin typeface="Arial MT"/>
                <a:cs typeface="Arial MT"/>
              </a:rPr>
              <a:t>for</a:t>
            </a:r>
            <a:r>
              <a:rPr sz="1900" spc="-1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connecting</a:t>
            </a:r>
            <a:r>
              <a:rPr sz="19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75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10" dirty="0">
                <a:solidFill>
                  <a:srgbClr val="3A362F"/>
                </a:solidFill>
                <a:latin typeface="Arial MT"/>
                <a:cs typeface="Arial MT"/>
              </a:rPr>
              <a:t>existing</a:t>
            </a:r>
            <a:r>
              <a:rPr sz="1900" spc="-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hospital</a:t>
            </a:r>
            <a:r>
              <a:rPr sz="190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0" dirty="0">
                <a:solidFill>
                  <a:srgbClr val="3A362F"/>
                </a:solidFill>
                <a:latin typeface="Arial MT"/>
                <a:cs typeface="Arial MT"/>
              </a:rPr>
              <a:t>information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systems</a:t>
            </a:r>
            <a:r>
              <a:rPr sz="1900" spc="-1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55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19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third-party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 notification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3A362F"/>
                </a:solidFill>
                <a:latin typeface="Arial MT"/>
                <a:cs typeface="Arial MT"/>
              </a:rPr>
              <a:t>services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394" y="608498"/>
            <a:ext cx="1153795" cy="415925"/>
            <a:chOff x="774394" y="608498"/>
            <a:chExt cx="1153795" cy="415925"/>
          </a:xfrm>
        </p:grpSpPr>
        <p:sp>
          <p:nvSpPr>
            <p:cNvPr id="3" name="object 3"/>
            <p:cNvSpPr/>
            <p:nvPr/>
          </p:nvSpPr>
          <p:spPr>
            <a:xfrm>
              <a:off x="774394" y="608498"/>
              <a:ext cx="1153795" cy="415925"/>
            </a:xfrm>
            <a:custGeom>
              <a:avLst/>
              <a:gdLst/>
              <a:ahLst/>
              <a:cxnLst/>
              <a:rect l="l" t="t" r="r" b="b"/>
              <a:pathLst>
                <a:path w="1153795" h="415925">
                  <a:moveTo>
                    <a:pt x="1126743" y="415925"/>
                  </a:moveTo>
                  <a:lnTo>
                    <a:pt x="26543" y="415925"/>
                  </a:lnTo>
                  <a:lnTo>
                    <a:pt x="16211" y="413839"/>
                  </a:lnTo>
                  <a:lnTo>
                    <a:pt x="7774" y="408150"/>
                  </a:lnTo>
                  <a:lnTo>
                    <a:pt x="2085" y="399713"/>
                  </a:lnTo>
                  <a:lnTo>
                    <a:pt x="0" y="389381"/>
                  </a:lnTo>
                  <a:lnTo>
                    <a:pt x="0" y="26543"/>
                  </a:lnTo>
                  <a:lnTo>
                    <a:pt x="2085" y="16211"/>
                  </a:lnTo>
                  <a:lnTo>
                    <a:pt x="7774" y="7774"/>
                  </a:lnTo>
                  <a:lnTo>
                    <a:pt x="16211" y="2085"/>
                  </a:lnTo>
                  <a:lnTo>
                    <a:pt x="26543" y="0"/>
                  </a:lnTo>
                  <a:lnTo>
                    <a:pt x="1126743" y="0"/>
                  </a:lnTo>
                  <a:lnTo>
                    <a:pt x="1137075" y="2085"/>
                  </a:lnTo>
                  <a:lnTo>
                    <a:pt x="1145512" y="7774"/>
                  </a:lnTo>
                  <a:lnTo>
                    <a:pt x="1151201" y="16211"/>
                  </a:lnTo>
                  <a:lnTo>
                    <a:pt x="1153286" y="26543"/>
                  </a:lnTo>
                  <a:lnTo>
                    <a:pt x="1153286" y="389381"/>
                  </a:lnTo>
                  <a:lnTo>
                    <a:pt x="1151201" y="399713"/>
                  </a:lnTo>
                  <a:lnTo>
                    <a:pt x="1145512" y="408150"/>
                  </a:lnTo>
                  <a:lnTo>
                    <a:pt x="1137075" y="413839"/>
                  </a:lnTo>
                  <a:lnTo>
                    <a:pt x="1126743" y="415925"/>
                  </a:lnTo>
                  <a:close/>
                </a:path>
              </a:pathLst>
            </a:custGeom>
            <a:solidFill>
              <a:srgbClr val="E2EC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1700" y="723900"/>
              <a:ext cx="177800" cy="1778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155700" y="692626"/>
            <a:ext cx="6902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65" dirty="0">
                <a:solidFill>
                  <a:srgbClr val="3A362F"/>
                </a:solidFill>
                <a:latin typeface="Arial MT"/>
                <a:cs typeface="Arial MT"/>
              </a:rPr>
              <a:t>PHASE</a:t>
            </a:r>
            <a:r>
              <a:rPr sz="1450" spc="-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60" dirty="0">
                <a:solidFill>
                  <a:srgbClr val="3A362F"/>
                </a:solidFill>
                <a:latin typeface="Arial MT"/>
                <a:cs typeface="Arial MT"/>
              </a:rPr>
              <a:t>3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9300" y="995521"/>
            <a:ext cx="16773525" cy="136842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5100"/>
              </a:lnSpc>
              <a:spcBef>
                <a:spcPts val="570"/>
              </a:spcBef>
            </a:pPr>
            <a:r>
              <a:rPr sz="4550" spc="-320" dirty="0"/>
              <a:t>Development</a:t>
            </a:r>
            <a:r>
              <a:rPr sz="4550" spc="-270" dirty="0"/>
              <a:t> </a:t>
            </a:r>
            <a:r>
              <a:rPr sz="4550" spc="-355" dirty="0"/>
              <a:t>Phase:</a:t>
            </a:r>
            <a:r>
              <a:rPr sz="4550" spc="-320" dirty="0"/>
              <a:t> </a:t>
            </a:r>
            <a:r>
              <a:rPr sz="4550" spc="-380" dirty="0"/>
              <a:t>Core</a:t>
            </a:r>
            <a:r>
              <a:rPr sz="4550" spc="-300" dirty="0"/>
              <a:t> </a:t>
            </a:r>
            <a:r>
              <a:rPr sz="4550" spc="-225" dirty="0"/>
              <a:t>Functionality</a:t>
            </a:r>
            <a:r>
              <a:rPr sz="4550" spc="-365" dirty="0"/>
              <a:t> </a:t>
            </a:r>
            <a:r>
              <a:rPr sz="4550" spc="-235" dirty="0"/>
              <a:t>Implementation</a:t>
            </a:r>
            <a:r>
              <a:rPr sz="4550" spc="-290" dirty="0"/>
              <a:t> </a:t>
            </a:r>
            <a:r>
              <a:rPr sz="4550" spc="-305" dirty="0"/>
              <a:t>and</a:t>
            </a:r>
            <a:r>
              <a:rPr sz="4550" spc="-340" dirty="0"/>
              <a:t> </a:t>
            </a:r>
            <a:r>
              <a:rPr sz="4550" spc="-370" dirty="0"/>
              <a:t>User</a:t>
            </a:r>
            <a:r>
              <a:rPr sz="4550" spc="-315" dirty="0"/>
              <a:t> </a:t>
            </a:r>
            <a:r>
              <a:rPr sz="4550" spc="-145" dirty="0"/>
              <a:t>Interface </a:t>
            </a:r>
            <a:r>
              <a:rPr sz="4550" spc="-285" dirty="0"/>
              <a:t>Creation</a:t>
            </a:r>
            <a:endParaRPr sz="4550"/>
          </a:p>
        </p:txBody>
      </p:sp>
      <p:sp>
        <p:nvSpPr>
          <p:cNvPr id="7" name="object 7"/>
          <p:cNvSpPr txBox="1"/>
          <p:nvPr/>
        </p:nvSpPr>
        <p:spPr>
          <a:xfrm>
            <a:off x="749300" y="3011011"/>
            <a:ext cx="27432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65" dirty="0">
                <a:solidFill>
                  <a:srgbClr val="3A362F"/>
                </a:solidFill>
                <a:latin typeface="Arial MT"/>
                <a:cs typeface="Arial MT"/>
              </a:rPr>
              <a:t>01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394" y="3341580"/>
            <a:ext cx="5169535" cy="30480"/>
          </a:xfrm>
          <a:custGeom>
            <a:avLst/>
            <a:gdLst/>
            <a:ahLst/>
            <a:cxnLst/>
            <a:rect l="l" t="t" r="r" b="b"/>
            <a:pathLst>
              <a:path w="5169535" h="30479">
                <a:moveTo>
                  <a:pt x="5169027" y="30479"/>
                </a:moveTo>
                <a:lnTo>
                  <a:pt x="0" y="30479"/>
                </a:lnTo>
                <a:lnTo>
                  <a:pt x="0" y="0"/>
                </a:lnTo>
                <a:lnTo>
                  <a:pt x="5169027" y="0"/>
                </a:lnTo>
                <a:lnTo>
                  <a:pt x="5169027" y="30479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9300" y="3451225"/>
            <a:ext cx="2513330" cy="364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10" dirty="0">
                <a:solidFill>
                  <a:srgbClr val="3A362F"/>
                </a:solidFill>
                <a:latin typeface="Arial MT"/>
                <a:cs typeface="Arial MT"/>
              </a:rPr>
              <a:t>Sprint</a:t>
            </a:r>
            <a:r>
              <a:rPr sz="2200" spc="-1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35" dirty="0">
                <a:solidFill>
                  <a:srgbClr val="3A362F"/>
                </a:solidFill>
                <a:latin typeface="Arial MT"/>
                <a:cs typeface="Arial MT"/>
              </a:rPr>
              <a:t>1:</a:t>
            </a:r>
            <a:r>
              <a:rPr sz="220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14" dirty="0">
                <a:solidFill>
                  <a:srgbClr val="3A362F"/>
                </a:solidFill>
                <a:latin typeface="Arial MT"/>
                <a:cs typeface="Arial MT"/>
              </a:rPr>
              <a:t>Patient</a:t>
            </a:r>
            <a:r>
              <a:rPr sz="22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3A362F"/>
                </a:solidFill>
                <a:latin typeface="Arial MT"/>
                <a:cs typeface="Arial MT"/>
              </a:rPr>
              <a:t>Portal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300" y="4010437"/>
            <a:ext cx="40589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00"/>
              </a:spcBef>
            </a:pPr>
            <a:r>
              <a:rPr sz="1900" spc="-150" dirty="0">
                <a:solidFill>
                  <a:srgbClr val="3A362F"/>
                </a:solidFill>
                <a:latin typeface="Arial MT"/>
                <a:cs typeface="Arial MT"/>
              </a:rPr>
              <a:t>User</a:t>
            </a:r>
            <a:r>
              <a:rPr sz="19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registration,</a:t>
            </a:r>
            <a:r>
              <a:rPr sz="1900" spc="-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70" dirty="0">
                <a:solidFill>
                  <a:srgbClr val="3A362F"/>
                </a:solidFill>
                <a:latin typeface="Arial MT"/>
                <a:cs typeface="Arial MT"/>
              </a:rPr>
              <a:t>login</a:t>
            </a:r>
            <a:r>
              <a:rPr sz="1900" spc="-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90" dirty="0">
                <a:solidFill>
                  <a:srgbClr val="3A362F"/>
                </a:solidFill>
                <a:latin typeface="Arial MT"/>
                <a:cs typeface="Arial MT"/>
              </a:rPr>
              <a:t>authentication,</a:t>
            </a:r>
            <a:r>
              <a:rPr sz="190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3A362F"/>
                </a:solidFill>
                <a:latin typeface="Arial MT"/>
                <a:cs typeface="Arial MT"/>
              </a:rPr>
              <a:t>and 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appointment</a:t>
            </a:r>
            <a:r>
              <a:rPr sz="1900" spc="-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5" dirty="0">
                <a:solidFill>
                  <a:srgbClr val="3A362F"/>
                </a:solidFill>
                <a:latin typeface="Arial MT"/>
                <a:cs typeface="Arial MT"/>
              </a:rPr>
              <a:t>search</a:t>
            </a:r>
            <a:r>
              <a:rPr sz="1900" spc="-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3A362F"/>
                </a:solidFill>
                <a:latin typeface="Arial MT"/>
                <a:cs typeface="Arial MT"/>
              </a:rPr>
              <a:t>functionality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6800" y="3011011"/>
            <a:ext cx="27432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65" dirty="0">
                <a:solidFill>
                  <a:srgbClr val="3A362F"/>
                </a:solidFill>
                <a:latin typeface="Arial MT"/>
                <a:cs typeface="Arial MT"/>
              </a:rPr>
              <a:t>02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64514" y="3341580"/>
            <a:ext cx="5169535" cy="30480"/>
          </a:xfrm>
          <a:custGeom>
            <a:avLst/>
            <a:gdLst/>
            <a:ahLst/>
            <a:cxnLst/>
            <a:rect l="l" t="t" r="r" b="b"/>
            <a:pathLst>
              <a:path w="5169534" h="30479">
                <a:moveTo>
                  <a:pt x="5169153" y="30479"/>
                </a:moveTo>
                <a:lnTo>
                  <a:pt x="0" y="30479"/>
                </a:lnTo>
                <a:lnTo>
                  <a:pt x="0" y="0"/>
                </a:lnTo>
                <a:lnTo>
                  <a:pt x="5169153" y="0"/>
                </a:lnTo>
                <a:lnTo>
                  <a:pt x="5169153" y="30479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46800" y="3451225"/>
            <a:ext cx="2726055" cy="364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10" dirty="0">
                <a:solidFill>
                  <a:srgbClr val="3A362F"/>
                </a:solidFill>
                <a:latin typeface="Arial MT"/>
                <a:cs typeface="Arial MT"/>
              </a:rPr>
              <a:t>Sprint</a:t>
            </a:r>
            <a:r>
              <a:rPr sz="22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35" dirty="0">
                <a:solidFill>
                  <a:srgbClr val="3A362F"/>
                </a:solidFill>
                <a:latin typeface="Arial MT"/>
                <a:cs typeface="Arial MT"/>
              </a:rPr>
              <a:t>2:</a:t>
            </a:r>
            <a:r>
              <a:rPr sz="220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3A362F"/>
                </a:solidFill>
                <a:latin typeface="Arial MT"/>
                <a:cs typeface="Arial MT"/>
              </a:rPr>
              <a:t>Booking</a:t>
            </a:r>
            <a:r>
              <a:rPr sz="2200" spc="-11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3A362F"/>
                </a:solidFill>
                <a:latin typeface="Arial MT"/>
                <a:cs typeface="Arial MT"/>
              </a:rPr>
              <a:t>Engine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46800" y="4010437"/>
            <a:ext cx="50114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00"/>
              </a:spcBef>
            </a:pPr>
            <a:r>
              <a:rPr sz="1900" spc="-185" dirty="0">
                <a:solidFill>
                  <a:srgbClr val="3A362F"/>
                </a:solidFill>
                <a:latin typeface="Arial MT"/>
                <a:cs typeface="Arial MT"/>
              </a:rPr>
              <a:t>Real-</a:t>
            </a:r>
            <a:r>
              <a:rPr sz="1900" spc="-65" dirty="0">
                <a:solidFill>
                  <a:srgbClr val="3A362F"/>
                </a:solidFill>
                <a:latin typeface="Arial MT"/>
                <a:cs typeface="Arial MT"/>
              </a:rPr>
              <a:t>time</a:t>
            </a:r>
            <a:r>
              <a:rPr sz="190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40" dirty="0">
                <a:solidFill>
                  <a:srgbClr val="3A362F"/>
                </a:solidFill>
                <a:latin typeface="Arial MT"/>
                <a:cs typeface="Arial MT"/>
              </a:rPr>
              <a:t>slot</a:t>
            </a:r>
            <a:r>
              <a:rPr sz="19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0" dirty="0">
                <a:solidFill>
                  <a:srgbClr val="3A362F"/>
                </a:solidFill>
                <a:latin typeface="Arial MT"/>
                <a:cs typeface="Arial MT"/>
              </a:rPr>
              <a:t>availability,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booking</a:t>
            </a:r>
            <a:r>
              <a:rPr sz="1900" spc="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0" dirty="0">
                <a:solidFill>
                  <a:srgbClr val="3A362F"/>
                </a:solidFill>
                <a:latin typeface="Arial MT"/>
                <a:cs typeface="Arial MT"/>
              </a:rPr>
              <a:t>confirmation,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3A362F"/>
                </a:solidFill>
                <a:latin typeface="Arial MT"/>
                <a:cs typeface="Arial MT"/>
              </a:rPr>
              <a:t>and </a:t>
            </a:r>
            <a:r>
              <a:rPr sz="1900" spc="-80" dirty="0">
                <a:solidFill>
                  <a:srgbClr val="3A362F"/>
                </a:solidFill>
                <a:latin typeface="Arial MT"/>
                <a:cs typeface="Arial MT"/>
              </a:rPr>
              <a:t>cancellation</a:t>
            </a:r>
            <a:r>
              <a:rPr sz="190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3A362F"/>
                </a:solidFill>
                <a:latin typeface="Arial MT"/>
                <a:cs typeface="Arial MT"/>
              </a:rPr>
              <a:t>features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300" y="5170011"/>
            <a:ext cx="27432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65" dirty="0">
                <a:solidFill>
                  <a:srgbClr val="3A362F"/>
                </a:solidFill>
                <a:latin typeface="Arial MT"/>
                <a:cs typeface="Arial MT"/>
              </a:rPr>
              <a:t>03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394" y="5500135"/>
            <a:ext cx="5169535" cy="30480"/>
          </a:xfrm>
          <a:custGeom>
            <a:avLst/>
            <a:gdLst/>
            <a:ahLst/>
            <a:cxnLst/>
            <a:rect l="l" t="t" r="r" b="b"/>
            <a:pathLst>
              <a:path w="5169535" h="30479">
                <a:moveTo>
                  <a:pt x="5169027" y="30479"/>
                </a:moveTo>
                <a:lnTo>
                  <a:pt x="0" y="30479"/>
                </a:lnTo>
                <a:lnTo>
                  <a:pt x="0" y="0"/>
                </a:lnTo>
                <a:lnTo>
                  <a:pt x="5169027" y="0"/>
                </a:lnTo>
                <a:lnTo>
                  <a:pt x="5169027" y="30479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9300" y="5610225"/>
            <a:ext cx="3013710" cy="364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10" dirty="0">
                <a:solidFill>
                  <a:srgbClr val="3A362F"/>
                </a:solidFill>
                <a:latin typeface="Arial MT"/>
                <a:cs typeface="Arial MT"/>
              </a:rPr>
              <a:t>Sprint</a:t>
            </a:r>
            <a:r>
              <a:rPr sz="22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35" dirty="0">
                <a:solidFill>
                  <a:srgbClr val="3A362F"/>
                </a:solidFill>
                <a:latin typeface="Arial MT"/>
                <a:cs typeface="Arial MT"/>
              </a:rPr>
              <a:t>3:</a:t>
            </a:r>
            <a:r>
              <a:rPr sz="220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3A362F"/>
                </a:solidFill>
                <a:latin typeface="Arial MT"/>
                <a:cs typeface="Arial MT"/>
              </a:rPr>
              <a:t>Doctor</a:t>
            </a:r>
            <a:r>
              <a:rPr sz="2200" spc="-1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35" dirty="0">
                <a:solidFill>
                  <a:srgbClr val="3A362F"/>
                </a:solidFill>
                <a:latin typeface="Arial MT"/>
                <a:cs typeface="Arial MT"/>
              </a:rPr>
              <a:t>Dashboard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300" y="6169437"/>
            <a:ext cx="47701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00"/>
              </a:spcBef>
            </a:pP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Calendar</a:t>
            </a:r>
            <a:r>
              <a:rPr sz="190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management,</a:t>
            </a:r>
            <a:r>
              <a:rPr sz="1900" spc="-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95" dirty="0">
                <a:solidFill>
                  <a:srgbClr val="3A362F"/>
                </a:solidFill>
                <a:latin typeface="Arial MT"/>
                <a:cs typeface="Arial MT"/>
              </a:rPr>
              <a:t>appointment</a:t>
            </a:r>
            <a:r>
              <a:rPr sz="1900" spc="-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viewing,</a:t>
            </a:r>
            <a:r>
              <a:rPr sz="19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3A362F"/>
                </a:solidFill>
                <a:latin typeface="Arial MT"/>
                <a:cs typeface="Arial MT"/>
              </a:rPr>
              <a:t>and </a:t>
            </a:r>
            <a:r>
              <a:rPr sz="1900" spc="-75" dirty="0">
                <a:solidFill>
                  <a:srgbClr val="3A362F"/>
                </a:solidFill>
                <a:latin typeface="Arial MT"/>
                <a:cs typeface="Arial MT"/>
              </a:rPr>
              <a:t>patient</a:t>
            </a:r>
            <a:r>
              <a:rPr sz="19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history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3A362F"/>
                </a:solidFill>
                <a:latin typeface="Arial MT"/>
                <a:cs typeface="Arial MT"/>
              </a:rPr>
              <a:t>access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46800" y="5170011"/>
            <a:ext cx="27432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65" dirty="0">
                <a:solidFill>
                  <a:srgbClr val="3A362F"/>
                </a:solidFill>
                <a:latin typeface="Arial MT"/>
                <a:cs typeface="Arial MT"/>
              </a:rPr>
              <a:t>04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64514" y="5500135"/>
            <a:ext cx="5169535" cy="30480"/>
          </a:xfrm>
          <a:custGeom>
            <a:avLst/>
            <a:gdLst/>
            <a:ahLst/>
            <a:cxnLst/>
            <a:rect l="l" t="t" r="r" b="b"/>
            <a:pathLst>
              <a:path w="5169534" h="30479">
                <a:moveTo>
                  <a:pt x="5169153" y="30479"/>
                </a:moveTo>
                <a:lnTo>
                  <a:pt x="0" y="30479"/>
                </a:lnTo>
                <a:lnTo>
                  <a:pt x="0" y="0"/>
                </a:lnTo>
                <a:lnTo>
                  <a:pt x="5169153" y="0"/>
                </a:lnTo>
                <a:lnTo>
                  <a:pt x="5169153" y="30479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46800" y="5610225"/>
            <a:ext cx="2687955" cy="364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10" dirty="0">
                <a:solidFill>
                  <a:srgbClr val="3A362F"/>
                </a:solidFill>
                <a:latin typeface="Arial MT"/>
                <a:cs typeface="Arial MT"/>
              </a:rPr>
              <a:t>Sprint</a:t>
            </a:r>
            <a:r>
              <a:rPr sz="2200" spc="-1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35" dirty="0">
                <a:solidFill>
                  <a:srgbClr val="3A362F"/>
                </a:solidFill>
                <a:latin typeface="Arial MT"/>
                <a:cs typeface="Arial MT"/>
              </a:rPr>
              <a:t>4:</a:t>
            </a:r>
            <a:r>
              <a:rPr sz="220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3A362F"/>
                </a:solidFill>
                <a:latin typeface="Arial MT"/>
                <a:cs typeface="Arial MT"/>
              </a:rPr>
              <a:t>Admin</a:t>
            </a:r>
            <a:r>
              <a:rPr sz="2200" spc="-1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14" dirty="0">
                <a:solidFill>
                  <a:srgbClr val="3A362F"/>
                </a:solidFill>
                <a:latin typeface="Arial MT"/>
                <a:cs typeface="Arial MT"/>
              </a:rPr>
              <a:t>Console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46800" y="6169437"/>
            <a:ext cx="44824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100"/>
              </a:spcBef>
            </a:pPr>
            <a:r>
              <a:rPr sz="1900" spc="-150" dirty="0">
                <a:solidFill>
                  <a:srgbClr val="3A362F"/>
                </a:solidFill>
                <a:latin typeface="Arial MT"/>
                <a:cs typeface="Arial MT"/>
              </a:rPr>
              <a:t>User</a:t>
            </a:r>
            <a:r>
              <a:rPr sz="1900" spc="-1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5" dirty="0">
                <a:solidFill>
                  <a:srgbClr val="3A362F"/>
                </a:solidFill>
                <a:latin typeface="Arial MT"/>
                <a:cs typeface="Arial MT"/>
              </a:rPr>
              <a:t>management,</a:t>
            </a: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reporting</a:t>
            </a:r>
            <a:r>
              <a:rPr sz="1900" spc="-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0" dirty="0">
                <a:solidFill>
                  <a:srgbClr val="3A362F"/>
                </a:solidFill>
                <a:latin typeface="Arial MT"/>
                <a:cs typeface="Arial MT"/>
              </a:rPr>
              <a:t>tools,</a:t>
            </a:r>
            <a:r>
              <a:rPr sz="1900" spc="-1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190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70" dirty="0">
                <a:solidFill>
                  <a:srgbClr val="3A362F"/>
                </a:solidFill>
                <a:latin typeface="Arial MT"/>
                <a:cs typeface="Arial MT"/>
              </a:rPr>
              <a:t>system </a:t>
            </a:r>
            <a:r>
              <a:rPr sz="1900" spc="-75" dirty="0">
                <a:solidFill>
                  <a:srgbClr val="3A362F"/>
                </a:solidFill>
                <a:latin typeface="Arial MT"/>
                <a:cs typeface="Arial MT"/>
              </a:rPr>
              <a:t>configuration</a:t>
            </a:r>
            <a:r>
              <a:rPr sz="1900" spc="-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3A362F"/>
                </a:solidFill>
                <a:latin typeface="Arial MT"/>
                <a:cs typeface="Arial MT"/>
              </a:rPr>
              <a:t>settings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74394" y="7658692"/>
            <a:ext cx="10559415" cy="30480"/>
          </a:xfrm>
          <a:custGeom>
            <a:avLst/>
            <a:gdLst/>
            <a:ahLst/>
            <a:cxnLst/>
            <a:rect l="l" t="t" r="r" b="b"/>
            <a:pathLst>
              <a:path w="10559415" h="30479">
                <a:moveTo>
                  <a:pt x="10559288" y="30480"/>
                </a:moveTo>
                <a:lnTo>
                  <a:pt x="0" y="30480"/>
                </a:lnTo>
                <a:lnTo>
                  <a:pt x="0" y="0"/>
                </a:lnTo>
                <a:lnTo>
                  <a:pt x="10559288" y="0"/>
                </a:lnTo>
                <a:lnTo>
                  <a:pt x="10559288" y="30480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49300" y="7199821"/>
            <a:ext cx="5783580" cy="149733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900" spc="-25" dirty="0">
                <a:solidFill>
                  <a:srgbClr val="3A362F"/>
                </a:solidFill>
                <a:latin typeface="Arial MT"/>
                <a:cs typeface="Arial MT"/>
              </a:rPr>
              <a:t>05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200" spc="-110" dirty="0">
                <a:solidFill>
                  <a:srgbClr val="3A362F"/>
                </a:solidFill>
                <a:latin typeface="Arial MT"/>
                <a:cs typeface="Arial MT"/>
              </a:rPr>
              <a:t>Sprint</a:t>
            </a:r>
            <a:r>
              <a:rPr sz="22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35" dirty="0">
                <a:solidFill>
                  <a:srgbClr val="3A362F"/>
                </a:solidFill>
                <a:latin typeface="Arial MT"/>
                <a:cs typeface="Arial MT"/>
              </a:rPr>
              <a:t>5:</a:t>
            </a:r>
            <a:r>
              <a:rPr sz="220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3A362F"/>
                </a:solidFill>
                <a:latin typeface="Arial MT"/>
                <a:cs typeface="Arial MT"/>
              </a:rPr>
              <a:t>Notifications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900" spc="-100" dirty="0">
                <a:solidFill>
                  <a:srgbClr val="3A362F"/>
                </a:solidFill>
                <a:latin typeface="Arial MT"/>
                <a:cs typeface="Arial MT"/>
              </a:rPr>
              <a:t>Automated</a:t>
            </a:r>
            <a:r>
              <a:rPr sz="1900" spc="-1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reminder</a:t>
            </a:r>
            <a:r>
              <a:rPr sz="190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0" dirty="0">
                <a:solidFill>
                  <a:srgbClr val="3A362F"/>
                </a:solidFill>
                <a:latin typeface="Arial MT"/>
                <a:cs typeface="Arial MT"/>
              </a:rPr>
              <a:t>system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70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1900" spc="-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215" dirty="0">
                <a:solidFill>
                  <a:srgbClr val="3A362F"/>
                </a:solidFill>
                <a:latin typeface="Arial MT"/>
                <a:cs typeface="Arial MT"/>
              </a:rPr>
              <a:t>SMS</a:t>
            </a:r>
            <a:r>
              <a:rPr sz="19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190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0" dirty="0">
                <a:solidFill>
                  <a:srgbClr val="3A362F"/>
                </a:solidFill>
                <a:latin typeface="Arial MT"/>
                <a:cs typeface="Arial MT"/>
              </a:rPr>
              <a:t>email</a:t>
            </a:r>
            <a:r>
              <a:rPr sz="19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3A362F"/>
                </a:solidFill>
                <a:latin typeface="Arial MT"/>
                <a:cs typeface="Arial MT"/>
              </a:rPr>
              <a:t>integration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200" y="2997200"/>
            <a:ext cx="6858000" cy="685800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1861800" y="10042525"/>
            <a:ext cx="6436360" cy="9277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45" dirty="0">
                <a:solidFill>
                  <a:srgbClr val="37502E"/>
                </a:solidFill>
                <a:latin typeface="Arial MT"/>
                <a:cs typeface="Arial MT"/>
              </a:rPr>
              <a:t>Development</a:t>
            </a:r>
            <a:r>
              <a:rPr sz="2200" spc="-8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37502E"/>
                </a:solidFill>
                <a:latin typeface="Arial MT"/>
                <a:cs typeface="Arial MT"/>
              </a:rPr>
              <a:t>Methodology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900" spc="-100" dirty="0">
                <a:solidFill>
                  <a:srgbClr val="3A362F"/>
                </a:solidFill>
                <a:latin typeface="Arial MT"/>
                <a:cs typeface="Arial MT"/>
              </a:rPr>
              <a:t>Agile</a:t>
            </a:r>
            <a:r>
              <a:rPr sz="1900" spc="-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Scrum</a:t>
            </a:r>
            <a:r>
              <a:rPr sz="190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1900" spc="-1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3A362F"/>
                </a:solidFill>
                <a:latin typeface="Arial MT"/>
                <a:cs typeface="Arial MT"/>
              </a:rPr>
              <a:t>two-</a:t>
            </a:r>
            <a:r>
              <a:rPr sz="1900" spc="-140" dirty="0">
                <a:solidFill>
                  <a:srgbClr val="3A362F"/>
                </a:solidFill>
                <a:latin typeface="Arial MT"/>
                <a:cs typeface="Arial MT"/>
              </a:rPr>
              <a:t>week</a:t>
            </a:r>
            <a:r>
              <a:rPr sz="1900" spc="-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00" dirty="0">
                <a:solidFill>
                  <a:srgbClr val="3A362F"/>
                </a:solidFill>
                <a:latin typeface="Arial MT"/>
                <a:cs typeface="Arial MT"/>
              </a:rPr>
              <a:t>sprints,</a:t>
            </a:r>
            <a:r>
              <a:rPr sz="1900" spc="-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95" dirty="0">
                <a:solidFill>
                  <a:srgbClr val="3A362F"/>
                </a:solidFill>
                <a:latin typeface="Arial MT"/>
                <a:cs typeface="Arial MT"/>
              </a:rPr>
              <a:t>daily</a:t>
            </a:r>
            <a:r>
              <a:rPr sz="1900" spc="-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110" dirty="0">
                <a:solidFill>
                  <a:srgbClr val="3A362F"/>
                </a:solidFill>
                <a:latin typeface="Arial MT"/>
                <a:cs typeface="Arial MT"/>
              </a:rPr>
              <a:t>stand-</a:t>
            </a:r>
            <a:r>
              <a:rPr sz="1900" spc="-130" dirty="0">
                <a:solidFill>
                  <a:srgbClr val="3A362F"/>
                </a:solidFill>
                <a:latin typeface="Arial MT"/>
                <a:cs typeface="Arial MT"/>
              </a:rPr>
              <a:t>ups, </a:t>
            </a:r>
            <a:r>
              <a:rPr sz="1900" spc="-12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1900" spc="-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3A362F"/>
                </a:solidFill>
                <a:latin typeface="Arial MT"/>
                <a:cs typeface="Arial MT"/>
              </a:rPr>
              <a:t>continuous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0" y="0"/>
            <a:ext cx="7315200" cy="109728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19321" y="1283990"/>
            <a:ext cx="1220470" cy="440055"/>
            <a:chOff x="819321" y="1283990"/>
            <a:chExt cx="1220470" cy="440055"/>
          </a:xfrm>
        </p:grpSpPr>
        <p:sp>
          <p:nvSpPr>
            <p:cNvPr id="4" name="object 4"/>
            <p:cNvSpPr/>
            <p:nvPr/>
          </p:nvSpPr>
          <p:spPr>
            <a:xfrm>
              <a:off x="819321" y="1283990"/>
              <a:ext cx="1220470" cy="440055"/>
            </a:xfrm>
            <a:custGeom>
              <a:avLst/>
              <a:gdLst/>
              <a:ahLst/>
              <a:cxnLst/>
              <a:rect l="l" t="t" r="r" b="b"/>
              <a:pathLst>
                <a:path w="1220470" h="440055">
                  <a:moveTo>
                    <a:pt x="1191894" y="440054"/>
                  </a:moveTo>
                  <a:lnTo>
                    <a:pt x="28066" y="440054"/>
                  </a:lnTo>
                  <a:lnTo>
                    <a:pt x="17142" y="437849"/>
                  </a:lnTo>
                  <a:lnTo>
                    <a:pt x="8220" y="431834"/>
                  </a:lnTo>
                  <a:lnTo>
                    <a:pt x="2205" y="422912"/>
                  </a:lnTo>
                  <a:lnTo>
                    <a:pt x="0" y="411988"/>
                  </a:lnTo>
                  <a:lnTo>
                    <a:pt x="0" y="28066"/>
                  </a:lnTo>
                  <a:lnTo>
                    <a:pt x="2205" y="17142"/>
                  </a:lnTo>
                  <a:lnTo>
                    <a:pt x="8220" y="8220"/>
                  </a:lnTo>
                  <a:lnTo>
                    <a:pt x="17142" y="2205"/>
                  </a:lnTo>
                  <a:lnTo>
                    <a:pt x="28066" y="0"/>
                  </a:lnTo>
                  <a:lnTo>
                    <a:pt x="1191894" y="0"/>
                  </a:lnTo>
                  <a:lnTo>
                    <a:pt x="1202819" y="2205"/>
                  </a:lnTo>
                  <a:lnTo>
                    <a:pt x="1211741" y="8220"/>
                  </a:lnTo>
                  <a:lnTo>
                    <a:pt x="1217756" y="17142"/>
                  </a:lnTo>
                  <a:lnTo>
                    <a:pt x="1219961" y="28066"/>
                  </a:lnTo>
                  <a:lnTo>
                    <a:pt x="1219961" y="411988"/>
                  </a:lnTo>
                  <a:lnTo>
                    <a:pt x="1217756" y="422912"/>
                  </a:lnTo>
                  <a:lnTo>
                    <a:pt x="1211741" y="431834"/>
                  </a:lnTo>
                  <a:lnTo>
                    <a:pt x="1202819" y="437849"/>
                  </a:lnTo>
                  <a:lnTo>
                    <a:pt x="1191894" y="440054"/>
                  </a:lnTo>
                  <a:close/>
                </a:path>
              </a:pathLst>
            </a:custGeom>
            <a:solidFill>
              <a:srgbClr val="E2EC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200" y="1409699"/>
              <a:ext cx="190500" cy="1905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19200" y="1350168"/>
            <a:ext cx="755015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225" dirty="0">
                <a:solidFill>
                  <a:srgbClr val="3A362F"/>
                </a:solidFill>
                <a:latin typeface="Arial MT"/>
                <a:cs typeface="Arial MT"/>
              </a:rPr>
              <a:t>PHASE</a:t>
            </a:r>
            <a:r>
              <a:rPr sz="165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3A362F"/>
                </a:solidFill>
                <a:latin typeface="Arial MT"/>
                <a:cs typeface="Arial MT"/>
              </a:rPr>
              <a:t>4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00100" y="1716563"/>
            <a:ext cx="9432925" cy="144081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5400"/>
              </a:lnSpc>
              <a:spcBef>
                <a:spcPts val="540"/>
              </a:spcBef>
            </a:pPr>
            <a:r>
              <a:rPr spc="-225" dirty="0"/>
              <a:t>Testing</a:t>
            </a:r>
            <a:r>
              <a:rPr spc="-215" dirty="0"/>
              <a:t> </a:t>
            </a:r>
            <a:r>
              <a:rPr spc="-340" dirty="0"/>
              <a:t>Phase:</a:t>
            </a:r>
            <a:r>
              <a:rPr spc="-345" dirty="0"/>
              <a:t> </a:t>
            </a:r>
            <a:r>
              <a:rPr spc="-220" dirty="0"/>
              <a:t>Unit</a:t>
            </a:r>
            <a:r>
              <a:rPr spc="-315" dirty="0"/>
              <a:t> </a:t>
            </a:r>
            <a:r>
              <a:rPr spc="-254" dirty="0"/>
              <a:t>Testing,</a:t>
            </a:r>
            <a:r>
              <a:rPr spc="-245" dirty="0"/>
              <a:t> </a:t>
            </a:r>
            <a:r>
              <a:rPr spc="-165" dirty="0"/>
              <a:t>Integration </a:t>
            </a:r>
            <a:r>
              <a:rPr spc="-254" dirty="0"/>
              <a:t>Testing,</a:t>
            </a:r>
            <a:r>
              <a:rPr spc="-350" dirty="0"/>
              <a:t> </a:t>
            </a:r>
            <a:r>
              <a:rPr spc="-280" dirty="0"/>
              <a:t>and</a:t>
            </a:r>
            <a:r>
              <a:rPr spc="-215" dirty="0"/>
              <a:t> </a:t>
            </a:r>
            <a:r>
              <a:rPr spc="-360" dirty="0"/>
              <a:t>User </a:t>
            </a:r>
            <a:r>
              <a:rPr spc="-245" dirty="0"/>
              <a:t>Acceptance</a:t>
            </a:r>
            <a:r>
              <a:rPr spc="-275" dirty="0"/>
              <a:t> </a:t>
            </a:r>
            <a:r>
              <a:rPr spc="-40" dirty="0"/>
              <a:t>Testing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5500" y="3543300"/>
            <a:ext cx="1168400" cy="4521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09800" y="3716496"/>
            <a:ext cx="8995410" cy="399287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00" spc="-105" dirty="0">
                <a:solidFill>
                  <a:srgbClr val="3A362F"/>
                </a:solidFill>
                <a:latin typeface="Arial MT"/>
                <a:cs typeface="Arial MT"/>
              </a:rPr>
              <a:t>Unit</a:t>
            </a:r>
            <a:r>
              <a:rPr sz="23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Arial MT"/>
                <a:cs typeface="Arial MT"/>
              </a:rPr>
              <a:t>Testing</a:t>
            </a:r>
            <a:endParaRPr sz="2300">
              <a:latin typeface="Arial MT"/>
              <a:cs typeface="Arial MT"/>
            </a:endParaRPr>
          </a:p>
          <a:p>
            <a:pPr marL="12700" marR="306070">
              <a:lnSpc>
                <a:spcPct val="120800"/>
              </a:lnSpc>
              <a:spcBef>
                <a:spcPts val="1040"/>
              </a:spcBef>
            </a:pPr>
            <a:r>
              <a:rPr sz="2000" spc="-100" dirty="0">
                <a:solidFill>
                  <a:srgbClr val="3A362F"/>
                </a:solidFill>
                <a:latin typeface="Arial MT"/>
                <a:cs typeface="Arial MT"/>
              </a:rPr>
              <a:t>Individual</a:t>
            </a:r>
            <a:r>
              <a:rPr sz="20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3A362F"/>
                </a:solidFill>
                <a:latin typeface="Arial MT"/>
                <a:cs typeface="Arial MT"/>
              </a:rPr>
              <a:t>component</a:t>
            </a:r>
            <a:r>
              <a:rPr sz="20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3A362F"/>
                </a:solidFill>
                <a:latin typeface="Arial MT"/>
                <a:cs typeface="Arial MT"/>
              </a:rPr>
              <a:t>testing</a:t>
            </a:r>
            <a:r>
              <a:rPr sz="20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55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2000" spc="-11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240" dirty="0">
                <a:solidFill>
                  <a:srgbClr val="3A362F"/>
                </a:solidFill>
                <a:latin typeface="Arial MT"/>
                <a:cs typeface="Arial MT"/>
              </a:rPr>
              <a:t>85%</a:t>
            </a:r>
            <a:r>
              <a:rPr sz="2000" spc="-1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10" dirty="0">
                <a:solidFill>
                  <a:srgbClr val="3A362F"/>
                </a:solidFill>
                <a:latin typeface="Arial MT"/>
                <a:cs typeface="Arial MT"/>
              </a:rPr>
              <a:t>code</a:t>
            </a:r>
            <a:r>
              <a:rPr sz="2000" spc="-1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35" dirty="0">
                <a:solidFill>
                  <a:srgbClr val="3A362F"/>
                </a:solidFill>
                <a:latin typeface="Arial MT"/>
                <a:cs typeface="Arial MT"/>
              </a:rPr>
              <a:t>coverage</a:t>
            </a:r>
            <a:r>
              <a:rPr sz="200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30" dirty="0">
                <a:solidFill>
                  <a:srgbClr val="3A362F"/>
                </a:solidFill>
                <a:latin typeface="Arial MT"/>
                <a:cs typeface="Arial MT"/>
              </a:rPr>
              <a:t>achieved</a:t>
            </a:r>
            <a:r>
              <a:rPr sz="20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10" dirty="0">
                <a:solidFill>
                  <a:srgbClr val="3A362F"/>
                </a:solidFill>
                <a:latin typeface="Arial MT"/>
                <a:cs typeface="Arial MT"/>
              </a:rPr>
              <a:t>using</a:t>
            </a:r>
            <a:r>
              <a:rPr sz="20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3A362F"/>
                </a:solidFill>
                <a:latin typeface="Arial MT"/>
                <a:cs typeface="Arial MT"/>
              </a:rPr>
              <a:t>Jest</a:t>
            </a:r>
            <a:r>
              <a:rPr sz="20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000" spc="-1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10" dirty="0">
                <a:solidFill>
                  <a:srgbClr val="3A362F"/>
                </a:solidFill>
                <a:latin typeface="Arial MT"/>
                <a:cs typeface="Arial MT"/>
              </a:rPr>
              <a:t>Enzyme </a:t>
            </a:r>
            <a:r>
              <a:rPr sz="2000" spc="-10" dirty="0">
                <a:solidFill>
                  <a:srgbClr val="3A362F"/>
                </a:solidFill>
                <a:latin typeface="Arial MT"/>
                <a:cs typeface="Arial MT"/>
              </a:rPr>
              <a:t>frameworks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300" spc="-80" dirty="0">
                <a:solidFill>
                  <a:srgbClr val="3A362F"/>
                </a:solidFill>
                <a:latin typeface="Arial MT"/>
                <a:cs typeface="Arial MT"/>
              </a:rPr>
              <a:t>Integration </a:t>
            </a:r>
            <a:r>
              <a:rPr sz="2300" spc="-10" dirty="0">
                <a:solidFill>
                  <a:srgbClr val="3A362F"/>
                </a:solidFill>
                <a:latin typeface="Arial MT"/>
                <a:cs typeface="Arial MT"/>
              </a:rPr>
              <a:t>Testing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000" spc="-195" dirty="0">
                <a:solidFill>
                  <a:srgbClr val="3A362F"/>
                </a:solidFill>
                <a:latin typeface="Arial MT"/>
                <a:cs typeface="Arial MT"/>
              </a:rPr>
              <a:t>End-</a:t>
            </a:r>
            <a:r>
              <a:rPr sz="2000" spc="-125" dirty="0">
                <a:solidFill>
                  <a:srgbClr val="3A362F"/>
                </a:solidFill>
                <a:latin typeface="Arial MT"/>
                <a:cs typeface="Arial MT"/>
              </a:rPr>
              <a:t>to-</a:t>
            </a:r>
            <a:r>
              <a:rPr sz="2000" spc="-155" dirty="0">
                <a:solidFill>
                  <a:srgbClr val="3A362F"/>
                </a:solidFill>
                <a:latin typeface="Arial MT"/>
                <a:cs typeface="Arial MT"/>
              </a:rPr>
              <a:t>end</a:t>
            </a:r>
            <a:r>
              <a:rPr sz="2000" spc="-1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90" dirty="0">
                <a:solidFill>
                  <a:srgbClr val="3A362F"/>
                </a:solidFill>
                <a:latin typeface="Arial MT"/>
                <a:cs typeface="Arial MT"/>
              </a:rPr>
              <a:t>workflow</a:t>
            </a:r>
            <a:r>
              <a:rPr sz="20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90" dirty="0">
                <a:solidFill>
                  <a:srgbClr val="3A362F"/>
                </a:solidFill>
                <a:latin typeface="Arial MT"/>
                <a:cs typeface="Arial MT"/>
              </a:rPr>
              <a:t>validation</a:t>
            </a:r>
            <a:r>
              <a:rPr sz="2000" spc="-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35" dirty="0">
                <a:solidFill>
                  <a:srgbClr val="3A362F"/>
                </a:solidFill>
                <a:latin typeface="Arial MT"/>
                <a:cs typeface="Arial MT"/>
              </a:rPr>
              <a:t>ensuring</a:t>
            </a:r>
            <a:r>
              <a:rPr sz="2000" spc="-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30" dirty="0">
                <a:solidFill>
                  <a:srgbClr val="3A362F"/>
                </a:solidFill>
                <a:latin typeface="Arial MT"/>
                <a:cs typeface="Arial MT"/>
              </a:rPr>
              <a:t>seamless</a:t>
            </a:r>
            <a:r>
              <a:rPr sz="2000" spc="-1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90" dirty="0">
                <a:solidFill>
                  <a:srgbClr val="3A362F"/>
                </a:solidFill>
                <a:latin typeface="Arial MT"/>
                <a:cs typeface="Arial MT"/>
              </a:rPr>
              <a:t>data</a:t>
            </a:r>
            <a:r>
              <a:rPr sz="200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40" dirty="0">
                <a:solidFill>
                  <a:srgbClr val="3A362F"/>
                </a:solidFill>
                <a:latin typeface="Arial MT"/>
                <a:cs typeface="Arial MT"/>
              </a:rPr>
              <a:t>flow</a:t>
            </a:r>
            <a:r>
              <a:rPr sz="2000" spc="-1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40" dirty="0">
                <a:solidFill>
                  <a:srgbClr val="3A362F"/>
                </a:solidFill>
                <a:latin typeface="Arial MT"/>
                <a:cs typeface="Arial MT"/>
              </a:rPr>
              <a:t>between</a:t>
            </a:r>
            <a:r>
              <a:rPr sz="200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10" dirty="0">
                <a:solidFill>
                  <a:srgbClr val="3A362F"/>
                </a:solidFill>
                <a:latin typeface="Arial MT"/>
                <a:cs typeface="Arial MT"/>
              </a:rPr>
              <a:t>system</a:t>
            </a:r>
            <a:r>
              <a:rPr sz="200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55" dirty="0">
                <a:solidFill>
                  <a:srgbClr val="3A362F"/>
                </a:solidFill>
                <a:latin typeface="Arial MT"/>
                <a:cs typeface="Arial MT"/>
              </a:rPr>
              <a:t>components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300" spc="-170" dirty="0">
                <a:solidFill>
                  <a:srgbClr val="3A362F"/>
                </a:solidFill>
                <a:latin typeface="Arial MT"/>
                <a:cs typeface="Arial MT"/>
              </a:rPr>
              <a:t>User</a:t>
            </a:r>
            <a:r>
              <a:rPr sz="2300" spc="-1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Arial MT"/>
                <a:cs typeface="Arial MT"/>
              </a:rPr>
              <a:t>Acceptance</a:t>
            </a:r>
            <a:r>
              <a:rPr sz="23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Arial MT"/>
                <a:cs typeface="Arial MT"/>
              </a:rPr>
              <a:t>Testing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000" spc="-190" dirty="0">
                <a:solidFill>
                  <a:srgbClr val="3A362F"/>
                </a:solidFill>
                <a:latin typeface="Arial MT"/>
                <a:cs typeface="Arial MT"/>
              </a:rPr>
              <a:t>Real-</a:t>
            </a:r>
            <a:r>
              <a:rPr sz="2000" spc="-105" dirty="0">
                <a:solidFill>
                  <a:srgbClr val="3A362F"/>
                </a:solidFill>
                <a:latin typeface="Arial MT"/>
                <a:cs typeface="Arial MT"/>
              </a:rPr>
              <a:t>world</a:t>
            </a:r>
            <a:r>
              <a:rPr sz="2000" spc="-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3A362F"/>
                </a:solidFill>
                <a:latin typeface="Arial MT"/>
                <a:cs typeface="Arial MT"/>
              </a:rPr>
              <a:t>scenario</a:t>
            </a:r>
            <a:r>
              <a:rPr sz="2000" spc="-1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3A362F"/>
                </a:solidFill>
                <a:latin typeface="Arial MT"/>
                <a:cs typeface="Arial MT"/>
              </a:rPr>
              <a:t>testing</a:t>
            </a:r>
            <a:r>
              <a:rPr sz="2000" spc="-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20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3A362F"/>
                </a:solidFill>
                <a:latin typeface="Arial MT"/>
                <a:cs typeface="Arial MT"/>
              </a:rPr>
              <a:t>50</a:t>
            </a:r>
            <a:r>
              <a:rPr sz="2000" spc="-35" dirty="0">
                <a:solidFill>
                  <a:srgbClr val="3A362F"/>
                </a:solidFill>
                <a:latin typeface="Arial MT"/>
                <a:cs typeface="Arial MT"/>
              </a:rPr>
              <a:t> staff</a:t>
            </a:r>
            <a:r>
              <a:rPr sz="200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40" dirty="0">
                <a:solidFill>
                  <a:srgbClr val="3A362F"/>
                </a:solidFill>
                <a:latin typeface="Arial MT"/>
                <a:cs typeface="Arial MT"/>
              </a:rPr>
              <a:t>members</a:t>
            </a:r>
            <a:r>
              <a:rPr sz="200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5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0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3A362F"/>
                </a:solidFill>
                <a:latin typeface="Arial MT"/>
                <a:cs typeface="Arial MT"/>
              </a:rPr>
              <a:t>100</a:t>
            </a:r>
            <a:r>
              <a:rPr sz="20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3A362F"/>
                </a:solidFill>
                <a:latin typeface="Arial MT"/>
                <a:cs typeface="Arial MT"/>
              </a:rPr>
              <a:t>patients</a:t>
            </a:r>
            <a:r>
              <a:rPr sz="200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05" dirty="0">
                <a:solidFill>
                  <a:srgbClr val="3A362F"/>
                </a:solidFill>
                <a:latin typeface="Arial MT"/>
                <a:cs typeface="Arial MT"/>
              </a:rPr>
              <a:t>across</a:t>
            </a:r>
            <a:r>
              <a:rPr sz="2000" spc="-1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3A362F"/>
                </a:solidFill>
                <a:latin typeface="Arial MT"/>
                <a:cs typeface="Arial MT"/>
              </a:rPr>
              <a:t>three</a:t>
            </a:r>
            <a:r>
              <a:rPr sz="2000" spc="-1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A362F"/>
                </a:solidFill>
                <a:latin typeface="Arial MT"/>
                <a:cs typeface="Arial MT"/>
              </a:rPr>
              <a:t>weeks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19321" y="8319578"/>
            <a:ext cx="10553700" cy="1369695"/>
            <a:chOff x="819321" y="8319578"/>
            <a:chExt cx="10553700" cy="1369695"/>
          </a:xfrm>
        </p:grpSpPr>
        <p:sp>
          <p:nvSpPr>
            <p:cNvPr id="11" name="object 11"/>
            <p:cNvSpPr/>
            <p:nvPr/>
          </p:nvSpPr>
          <p:spPr>
            <a:xfrm>
              <a:off x="819321" y="8319578"/>
              <a:ext cx="10553700" cy="1369695"/>
            </a:xfrm>
            <a:custGeom>
              <a:avLst/>
              <a:gdLst/>
              <a:ahLst/>
              <a:cxnLst/>
              <a:rect l="l" t="t" r="r" b="b"/>
              <a:pathLst>
                <a:path w="10553700" h="1369695">
                  <a:moveTo>
                    <a:pt x="10518393" y="1369441"/>
                  </a:moveTo>
                  <a:lnTo>
                    <a:pt x="35178" y="1369441"/>
                  </a:lnTo>
                  <a:lnTo>
                    <a:pt x="21485" y="1366676"/>
                  </a:lnTo>
                  <a:lnTo>
                    <a:pt x="10303" y="1359137"/>
                  </a:lnTo>
                  <a:lnTo>
                    <a:pt x="2764" y="1347955"/>
                  </a:lnTo>
                  <a:lnTo>
                    <a:pt x="0" y="1334262"/>
                  </a:lnTo>
                  <a:lnTo>
                    <a:pt x="0" y="35179"/>
                  </a:lnTo>
                  <a:lnTo>
                    <a:pt x="2764" y="21485"/>
                  </a:lnTo>
                  <a:lnTo>
                    <a:pt x="10303" y="10303"/>
                  </a:lnTo>
                  <a:lnTo>
                    <a:pt x="21485" y="2764"/>
                  </a:lnTo>
                  <a:lnTo>
                    <a:pt x="35178" y="0"/>
                  </a:lnTo>
                  <a:lnTo>
                    <a:pt x="10518393" y="0"/>
                  </a:lnTo>
                  <a:lnTo>
                    <a:pt x="10532087" y="2764"/>
                  </a:lnTo>
                  <a:lnTo>
                    <a:pt x="10543269" y="10303"/>
                  </a:lnTo>
                  <a:lnTo>
                    <a:pt x="10550808" y="21485"/>
                  </a:lnTo>
                  <a:lnTo>
                    <a:pt x="10553573" y="35179"/>
                  </a:lnTo>
                  <a:lnTo>
                    <a:pt x="10553573" y="1334262"/>
                  </a:lnTo>
                  <a:lnTo>
                    <a:pt x="10550808" y="1347955"/>
                  </a:lnTo>
                  <a:lnTo>
                    <a:pt x="10543269" y="1359137"/>
                  </a:lnTo>
                  <a:lnTo>
                    <a:pt x="10532087" y="1366676"/>
                  </a:lnTo>
                  <a:lnTo>
                    <a:pt x="10518393" y="1369441"/>
                  </a:lnTo>
                  <a:close/>
                </a:path>
              </a:pathLst>
            </a:custGeom>
            <a:solidFill>
              <a:srgbClr val="D4E3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4100" y="8661400"/>
              <a:ext cx="292100" cy="2286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62100" y="8559863"/>
            <a:ext cx="946404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000" b="1" spc="-160" dirty="0">
                <a:latin typeface="Roboto"/>
                <a:cs typeface="Roboto"/>
              </a:rPr>
              <a:t>Critical</a:t>
            </a:r>
            <a:r>
              <a:rPr sz="2000" b="1" spc="-140" dirty="0">
                <a:latin typeface="Roboto"/>
                <a:cs typeface="Roboto"/>
              </a:rPr>
              <a:t> </a:t>
            </a:r>
            <a:r>
              <a:rPr sz="2000" b="1" spc="-215" dirty="0">
                <a:latin typeface="Roboto"/>
                <a:cs typeface="Roboto"/>
              </a:rPr>
              <a:t>Success</a:t>
            </a:r>
            <a:r>
              <a:rPr sz="2000" b="1" spc="-190" dirty="0">
                <a:latin typeface="Roboto"/>
                <a:cs typeface="Roboto"/>
              </a:rPr>
              <a:t> </a:t>
            </a:r>
            <a:r>
              <a:rPr sz="2000" b="1" spc="-180" dirty="0">
                <a:latin typeface="Roboto"/>
                <a:cs typeface="Roboto"/>
              </a:rPr>
              <a:t>Factor:</a:t>
            </a:r>
            <a:r>
              <a:rPr sz="2000" b="1" spc="-65" dirty="0">
                <a:latin typeface="Roboto"/>
                <a:cs typeface="Roboto"/>
              </a:rPr>
              <a:t> </a:t>
            </a:r>
            <a:r>
              <a:rPr sz="2000" spc="-225" dirty="0">
                <a:latin typeface="Arial MT"/>
                <a:cs typeface="Arial MT"/>
              </a:rPr>
              <a:t>UAT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feedback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resulted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in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23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usability</a:t>
            </a:r>
            <a:r>
              <a:rPr sz="2000" spc="-170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improvements,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including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simplified </a:t>
            </a:r>
            <a:r>
              <a:rPr sz="2000" spc="-105" dirty="0">
                <a:latin typeface="Arial MT"/>
                <a:cs typeface="Arial MT"/>
              </a:rPr>
              <a:t>navigation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20" dirty="0">
                <a:latin typeface="Arial MT"/>
                <a:cs typeface="Arial MT"/>
              </a:rPr>
              <a:t>and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clearer</a:t>
            </a:r>
            <a:r>
              <a:rPr sz="2000" spc="-100" dirty="0">
                <a:latin typeface="Arial MT"/>
                <a:cs typeface="Arial MT"/>
              </a:rPr>
              <a:t> appointment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confirmation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messages.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430" y="452920"/>
            <a:ext cx="858519" cy="309880"/>
            <a:chOff x="576430" y="452920"/>
            <a:chExt cx="858519" cy="309880"/>
          </a:xfrm>
        </p:grpSpPr>
        <p:sp>
          <p:nvSpPr>
            <p:cNvPr id="3" name="object 3"/>
            <p:cNvSpPr/>
            <p:nvPr/>
          </p:nvSpPr>
          <p:spPr>
            <a:xfrm>
              <a:off x="576430" y="452920"/>
              <a:ext cx="858519" cy="309880"/>
            </a:xfrm>
            <a:custGeom>
              <a:avLst/>
              <a:gdLst/>
              <a:ahLst/>
              <a:cxnLst/>
              <a:rect l="l" t="t" r="r" b="b"/>
              <a:pathLst>
                <a:path w="858519" h="309880">
                  <a:moveTo>
                    <a:pt x="838327" y="309625"/>
                  </a:moveTo>
                  <a:lnTo>
                    <a:pt x="19812" y="309625"/>
                  </a:lnTo>
                  <a:lnTo>
                    <a:pt x="12100" y="308069"/>
                  </a:lnTo>
                  <a:lnTo>
                    <a:pt x="5802" y="303823"/>
                  </a:lnTo>
                  <a:lnTo>
                    <a:pt x="1556" y="297525"/>
                  </a:lnTo>
                  <a:lnTo>
                    <a:pt x="0" y="289813"/>
                  </a:lnTo>
                  <a:lnTo>
                    <a:pt x="0" y="19812"/>
                  </a:lnTo>
                  <a:lnTo>
                    <a:pt x="1556" y="12100"/>
                  </a:lnTo>
                  <a:lnTo>
                    <a:pt x="5802" y="5802"/>
                  </a:lnTo>
                  <a:lnTo>
                    <a:pt x="12100" y="1556"/>
                  </a:lnTo>
                  <a:lnTo>
                    <a:pt x="19812" y="0"/>
                  </a:lnTo>
                  <a:lnTo>
                    <a:pt x="838327" y="0"/>
                  </a:lnTo>
                  <a:lnTo>
                    <a:pt x="845989" y="1556"/>
                  </a:lnTo>
                  <a:lnTo>
                    <a:pt x="852246" y="5802"/>
                  </a:lnTo>
                  <a:lnTo>
                    <a:pt x="856465" y="12100"/>
                  </a:lnTo>
                  <a:lnTo>
                    <a:pt x="858011" y="19812"/>
                  </a:lnTo>
                  <a:lnTo>
                    <a:pt x="858011" y="289813"/>
                  </a:lnTo>
                  <a:lnTo>
                    <a:pt x="856465" y="297525"/>
                  </a:lnTo>
                  <a:lnTo>
                    <a:pt x="852246" y="303823"/>
                  </a:lnTo>
                  <a:lnTo>
                    <a:pt x="845989" y="308069"/>
                  </a:lnTo>
                  <a:lnTo>
                    <a:pt x="838327" y="309625"/>
                  </a:lnTo>
                  <a:close/>
                </a:path>
              </a:pathLst>
            </a:custGeom>
            <a:solidFill>
              <a:srgbClr val="E2EC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100" y="546099"/>
              <a:ext cx="127000" cy="1270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50900" y="493712"/>
            <a:ext cx="51625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145" dirty="0">
                <a:solidFill>
                  <a:srgbClr val="3A362F"/>
                </a:solidFill>
                <a:latin typeface="Arial MT"/>
                <a:cs typeface="Arial MT"/>
              </a:rPr>
              <a:t>PHASE</a:t>
            </a:r>
            <a:r>
              <a:rPr sz="1100" spc="-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3A362F"/>
                </a:solidFill>
                <a:latin typeface="Arial MT"/>
                <a:cs typeface="Arial MT"/>
              </a:rPr>
              <a:t>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800" y="757237"/>
            <a:ext cx="11902440" cy="534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00" spc="-204" dirty="0"/>
              <a:t>Deployment</a:t>
            </a:r>
            <a:r>
              <a:rPr sz="3300" spc="-170" dirty="0"/>
              <a:t> </a:t>
            </a:r>
            <a:r>
              <a:rPr sz="3300" spc="-254" dirty="0"/>
              <a:t>Phase:</a:t>
            </a:r>
            <a:r>
              <a:rPr sz="3300" spc="-114" dirty="0"/>
              <a:t> </a:t>
            </a:r>
            <a:r>
              <a:rPr sz="3300" spc="-155" dirty="0"/>
              <a:t>Production</a:t>
            </a:r>
            <a:r>
              <a:rPr sz="3300" spc="-250" dirty="0"/>
              <a:t> </a:t>
            </a:r>
            <a:r>
              <a:rPr sz="3300" spc="-200" dirty="0"/>
              <a:t>Environment</a:t>
            </a:r>
            <a:r>
              <a:rPr sz="3300" spc="-170" dirty="0"/>
              <a:t> </a:t>
            </a:r>
            <a:r>
              <a:rPr sz="3300" spc="-220" dirty="0"/>
              <a:t>Setup</a:t>
            </a:r>
            <a:r>
              <a:rPr sz="3300" spc="-175" dirty="0"/>
              <a:t> </a:t>
            </a:r>
            <a:r>
              <a:rPr sz="3300" spc="-210" dirty="0"/>
              <a:t>and</a:t>
            </a:r>
            <a:r>
              <a:rPr sz="3300" spc="-180" dirty="0"/>
              <a:t> </a:t>
            </a:r>
            <a:r>
              <a:rPr sz="3300" spc="-345" dirty="0"/>
              <a:t>Go-</a:t>
            </a:r>
            <a:r>
              <a:rPr sz="3300" spc="-200" dirty="0"/>
              <a:t>Live</a:t>
            </a:r>
            <a:r>
              <a:rPr sz="3300" spc="-180" dirty="0"/>
              <a:t> </a:t>
            </a:r>
            <a:r>
              <a:rPr sz="3300" spc="-120" dirty="0"/>
              <a:t>Strategy</a:t>
            </a:r>
            <a:endParaRPr sz="3300"/>
          </a:p>
        </p:txBody>
      </p:sp>
      <p:grpSp>
        <p:nvGrpSpPr>
          <p:cNvPr id="7" name="object 7"/>
          <p:cNvGrpSpPr/>
          <p:nvPr/>
        </p:nvGrpSpPr>
        <p:grpSpPr>
          <a:xfrm>
            <a:off x="571500" y="1739900"/>
            <a:ext cx="9065260" cy="8039100"/>
            <a:chOff x="571500" y="1739900"/>
            <a:chExt cx="9065260" cy="80391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1739900"/>
              <a:ext cx="8039100" cy="80391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99386" y="1760194"/>
              <a:ext cx="1137285" cy="4135754"/>
            </a:xfrm>
            <a:custGeom>
              <a:avLst/>
              <a:gdLst/>
              <a:ahLst/>
              <a:cxnLst/>
              <a:rect l="l" t="t" r="r" b="b"/>
              <a:pathLst>
                <a:path w="1137284" h="4135754">
                  <a:moveTo>
                    <a:pt x="609727" y="0"/>
                  </a:moveTo>
                  <a:lnTo>
                    <a:pt x="607885" y="47650"/>
                  </a:lnTo>
                  <a:lnTo>
                    <a:pt x="602475" y="94297"/>
                  </a:lnTo>
                  <a:lnTo>
                    <a:pt x="593623" y="139814"/>
                  </a:lnTo>
                  <a:lnTo>
                    <a:pt x="581456" y="184048"/>
                  </a:lnTo>
                  <a:lnTo>
                    <a:pt x="568566" y="220027"/>
                  </a:lnTo>
                  <a:lnTo>
                    <a:pt x="555688" y="184048"/>
                  </a:lnTo>
                  <a:lnTo>
                    <a:pt x="543534" y="139814"/>
                  </a:lnTo>
                  <a:lnTo>
                    <a:pt x="534670" y="94297"/>
                  </a:lnTo>
                  <a:lnTo>
                    <a:pt x="529259" y="47650"/>
                  </a:lnTo>
                  <a:lnTo>
                    <a:pt x="527431" y="0"/>
                  </a:lnTo>
                  <a:lnTo>
                    <a:pt x="527431" y="305981"/>
                  </a:lnTo>
                  <a:lnTo>
                    <a:pt x="502437" y="345528"/>
                  </a:lnTo>
                  <a:lnTo>
                    <a:pt x="475780" y="381355"/>
                  </a:lnTo>
                  <a:lnTo>
                    <a:pt x="446608" y="415099"/>
                  </a:lnTo>
                  <a:lnTo>
                    <a:pt x="415099" y="446620"/>
                  </a:lnTo>
                  <a:lnTo>
                    <a:pt x="381355" y="475780"/>
                  </a:lnTo>
                  <a:lnTo>
                    <a:pt x="345516" y="502450"/>
                  </a:lnTo>
                  <a:lnTo>
                    <a:pt x="307733" y="526478"/>
                  </a:lnTo>
                  <a:lnTo>
                    <a:pt x="305968" y="527431"/>
                  </a:lnTo>
                  <a:lnTo>
                    <a:pt x="0" y="527431"/>
                  </a:lnTo>
                  <a:lnTo>
                    <a:pt x="47650" y="529272"/>
                  </a:lnTo>
                  <a:lnTo>
                    <a:pt x="94297" y="534682"/>
                  </a:lnTo>
                  <a:lnTo>
                    <a:pt x="139801" y="543534"/>
                  </a:lnTo>
                  <a:lnTo>
                    <a:pt x="184035" y="555701"/>
                  </a:lnTo>
                  <a:lnTo>
                    <a:pt x="220014" y="568579"/>
                  </a:lnTo>
                  <a:lnTo>
                    <a:pt x="184035" y="581469"/>
                  </a:lnTo>
                  <a:lnTo>
                    <a:pt x="139801" y="593623"/>
                  </a:lnTo>
                  <a:lnTo>
                    <a:pt x="94297" y="602488"/>
                  </a:lnTo>
                  <a:lnTo>
                    <a:pt x="47650" y="607898"/>
                  </a:lnTo>
                  <a:lnTo>
                    <a:pt x="0" y="609727"/>
                  </a:lnTo>
                  <a:lnTo>
                    <a:pt x="305981" y="609727"/>
                  </a:lnTo>
                  <a:lnTo>
                    <a:pt x="345516" y="634695"/>
                  </a:lnTo>
                  <a:lnTo>
                    <a:pt x="381355" y="661352"/>
                  </a:lnTo>
                  <a:lnTo>
                    <a:pt x="415099" y="690511"/>
                  </a:lnTo>
                  <a:lnTo>
                    <a:pt x="446608" y="722020"/>
                  </a:lnTo>
                  <a:lnTo>
                    <a:pt x="475780" y="755764"/>
                  </a:lnTo>
                  <a:lnTo>
                    <a:pt x="502437" y="791578"/>
                  </a:lnTo>
                  <a:lnTo>
                    <a:pt x="526478" y="829360"/>
                  </a:lnTo>
                  <a:lnTo>
                    <a:pt x="527431" y="831088"/>
                  </a:lnTo>
                  <a:lnTo>
                    <a:pt x="527431" y="999502"/>
                  </a:lnTo>
                  <a:lnTo>
                    <a:pt x="527431" y="1137031"/>
                  </a:lnTo>
                  <a:lnTo>
                    <a:pt x="527431" y="1305483"/>
                  </a:lnTo>
                  <a:lnTo>
                    <a:pt x="526478" y="1307249"/>
                  </a:lnTo>
                  <a:lnTo>
                    <a:pt x="502437" y="1345031"/>
                  </a:lnTo>
                  <a:lnTo>
                    <a:pt x="475780" y="1380858"/>
                  </a:lnTo>
                  <a:lnTo>
                    <a:pt x="446608" y="1414602"/>
                  </a:lnTo>
                  <a:lnTo>
                    <a:pt x="415099" y="1446123"/>
                  </a:lnTo>
                  <a:lnTo>
                    <a:pt x="381355" y="1475282"/>
                  </a:lnTo>
                  <a:lnTo>
                    <a:pt x="345516" y="1501952"/>
                  </a:lnTo>
                  <a:lnTo>
                    <a:pt x="307733" y="1525993"/>
                  </a:lnTo>
                  <a:lnTo>
                    <a:pt x="268135" y="1547266"/>
                  </a:lnTo>
                  <a:lnTo>
                    <a:pt x="305968" y="1526933"/>
                  </a:lnTo>
                  <a:lnTo>
                    <a:pt x="0" y="1526933"/>
                  </a:lnTo>
                  <a:lnTo>
                    <a:pt x="47650" y="1528775"/>
                  </a:lnTo>
                  <a:lnTo>
                    <a:pt x="94297" y="1534185"/>
                  </a:lnTo>
                  <a:lnTo>
                    <a:pt x="139801" y="1543037"/>
                  </a:lnTo>
                  <a:lnTo>
                    <a:pt x="184035" y="1555203"/>
                  </a:lnTo>
                  <a:lnTo>
                    <a:pt x="220014" y="1568081"/>
                  </a:lnTo>
                  <a:lnTo>
                    <a:pt x="184035" y="1580972"/>
                  </a:lnTo>
                  <a:lnTo>
                    <a:pt x="139801" y="1593126"/>
                  </a:lnTo>
                  <a:lnTo>
                    <a:pt x="94297" y="1601990"/>
                  </a:lnTo>
                  <a:lnTo>
                    <a:pt x="47650" y="1607400"/>
                  </a:lnTo>
                  <a:lnTo>
                    <a:pt x="0" y="1609229"/>
                  </a:lnTo>
                  <a:lnTo>
                    <a:pt x="305981" y="1609229"/>
                  </a:lnTo>
                  <a:lnTo>
                    <a:pt x="345516" y="1634197"/>
                  </a:lnTo>
                  <a:lnTo>
                    <a:pt x="381355" y="1660867"/>
                  </a:lnTo>
                  <a:lnTo>
                    <a:pt x="415099" y="1690014"/>
                  </a:lnTo>
                  <a:lnTo>
                    <a:pt x="446608" y="1721535"/>
                  </a:lnTo>
                  <a:lnTo>
                    <a:pt x="475780" y="1755267"/>
                  </a:lnTo>
                  <a:lnTo>
                    <a:pt x="502437" y="1791093"/>
                  </a:lnTo>
                  <a:lnTo>
                    <a:pt x="526478" y="1828863"/>
                  </a:lnTo>
                  <a:lnTo>
                    <a:pt x="527431" y="1830603"/>
                  </a:lnTo>
                  <a:lnTo>
                    <a:pt x="527431" y="1999018"/>
                  </a:lnTo>
                  <a:lnTo>
                    <a:pt x="527431" y="2136533"/>
                  </a:lnTo>
                  <a:lnTo>
                    <a:pt x="527431" y="2304986"/>
                  </a:lnTo>
                  <a:lnTo>
                    <a:pt x="526478" y="2306751"/>
                  </a:lnTo>
                  <a:lnTo>
                    <a:pt x="502437" y="2344534"/>
                  </a:lnTo>
                  <a:lnTo>
                    <a:pt x="475780" y="2380361"/>
                  </a:lnTo>
                  <a:lnTo>
                    <a:pt x="446608" y="2414105"/>
                  </a:lnTo>
                  <a:lnTo>
                    <a:pt x="415099" y="2445626"/>
                  </a:lnTo>
                  <a:lnTo>
                    <a:pt x="381355" y="2474785"/>
                  </a:lnTo>
                  <a:lnTo>
                    <a:pt x="345516" y="2501455"/>
                  </a:lnTo>
                  <a:lnTo>
                    <a:pt x="307733" y="2525496"/>
                  </a:lnTo>
                  <a:lnTo>
                    <a:pt x="305968" y="2526449"/>
                  </a:lnTo>
                  <a:lnTo>
                    <a:pt x="0" y="2526449"/>
                  </a:lnTo>
                  <a:lnTo>
                    <a:pt x="47650" y="2528278"/>
                  </a:lnTo>
                  <a:lnTo>
                    <a:pt x="94297" y="2533688"/>
                  </a:lnTo>
                  <a:lnTo>
                    <a:pt x="139801" y="2542540"/>
                  </a:lnTo>
                  <a:lnTo>
                    <a:pt x="184035" y="2554706"/>
                  </a:lnTo>
                  <a:lnTo>
                    <a:pt x="220014" y="2567584"/>
                  </a:lnTo>
                  <a:lnTo>
                    <a:pt x="184035" y="2580475"/>
                  </a:lnTo>
                  <a:lnTo>
                    <a:pt x="139801" y="2592641"/>
                  </a:lnTo>
                  <a:lnTo>
                    <a:pt x="94297" y="2601493"/>
                  </a:lnTo>
                  <a:lnTo>
                    <a:pt x="47650" y="2606903"/>
                  </a:lnTo>
                  <a:lnTo>
                    <a:pt x="0" y="2608745"/>
                  </a:lnTo>
                  <a:lnTo>
                    <a:pt x="306006" y="2608745"/>
                  </a:lnTo>
                  <a:lnTo>
                    <a:pt x="345516" y="2633700"/>
                  </a:lnTo>
                  <a:lnTo>
                    <a:pt x="381355" y="2660370"/>
                  </a:lnTo>
                  <a:lnTo>
                    <a:pt x="415099" y="2689517"/>
                  </a:lnTo>
                  <a:lnTo>
                    <a:pt x="446608" y="2721038"/>
                  </a:lnTo>
                  <a:lnTo>
                    <a:pt x="475780" y="2754769"/>
                  </a:lnTo>
                  <a:lnTo>
                    <a:pt x="502437" y="2790596"/>
                  </a:lnTo>
                  <a:lnTo>
                    <a:pt x="526478" y="2828366"/>
                  </a:lnTo>
                  <a:lnTo>
                    <a:pt x="527431" y="2830106"/>
                  </a:lnTo>
                  <a:lnTo>
                    <a:pt x="527431" y="2998520"/>
                  </a:lnTo>
                  <a:lnTo>
                    <a:pt x="527431" y="3136049"/>
                  </a:lnTo>
                  <a:lnTo>
                    <a:pt x="527431" y="3304489"/>
                  </a:lnTo>
                  <a:lnTo>
                    <a:pt x="526478" y="3306254"/>
                  </a:lnTo>
                  <a:lnTo>
                    <a:pt x="502437" y="3344037"/>
                  </a:lnTo>
                  <a:lnTo>
                    <a:pt x="475780" y="3379876"/>
                  </a:lnTo>
                  <a:lnTo>
                    <a:pt x="446608" y="3413620"/>
                  </a:lnTo>
                  <a:lnTo>
                    <a:pt x="415099" y="3445129"/>
                  </a:lnTo>
                  <a:lnTo>
                    <a:pt x="381355" y="3474301"/>
                  </a:lnTo>
                  <a:lnTo>
                    <a:pt x="345516" y="3500958"/>
                  </a:lnTo>
                  <a:lnTo>
                    <a:pt x="307733" y="3524999"/>
                  </a:lnTo>
                  <a:lnTo>
                    <a:pt x="305968" y="3525951"/>
                  </a:lnTo>
                  <a:lnTo>
                    <a:pt x="0" y="3525951"/>
                  </a:lnTo>
                  <a:lnTo>
                    <a:pt x="47650" y="3527780"/>
                  </a:lnTo>
                  <a:lnTo>
                    <a:pt x="94297" y="3533190"/>
                  </a:lnTo>
                  <a:lnTo>
                    <a:pt x="139801" y="3542055"/>
                  </a:lnTo>
                  <a:lnTo>
                    <a:pt x="184035" y="3554209"/>
                  </a:lnTo>
                  <a:lnTo>
                    <a:pt x="220014" y="3567099"/>
                  </a:lnTo>
                  <a:lnTo>
                    <a:pt x="184035" y="3579977"/>
                  </a:lnTo>
                  <a:lnTo>
                    <a:pt x="139801" y="3592144"/>
                  </a:lnTo>
                  <a:lnTo>
                    <a:pt x="94297" y="3600996"/>
                  </a:lnTo>
                  <a:lnTo>
                    <a:pt x="47650" y="3606406"/>
                  </a:lnTo>
                  <a:lnTo>
                    <a:pt x="0" y="3608247"/>
                  </a:lnTo>
                  <a:lnTo>
                    <a:pt x="306006" y="3608247"/>
                  </a:lnTo>
                  <a:lnTo>
                    <a:pt x="345516" y="3633216"/>
                  </a:lnTo>
                  <a:lnTo>
                    <a:pt x="381355" y="3659873"/>
                  </a:lnTo>
                  <a:lnTo>
                    <a:pt x="415099" y="3689032"/>
                  </a:lnTo>
                  <a:lnTo>
                    <a:pt x="446608" y="3720541"/>
                  </a:lnTo>
                  <a:lnTo>
                    <a:pt x="475780" y="3754272"/>
                  </a:lnTo>
                  <a:lnTo>
                    <a:pt x="502437" y="3790099"/>
                  </a:lnTo>
                  <a:lnTo>
                    <a:pt x="526478" y="3827869"/>
                  </a:lnTo>
                  <a:lnTo>
                    <a:pt x="527431" y="3829608"/>
                  </a:lnTo>
                  <a:lnTo>
                    <a:pt x="527431" y="4135551"/>
                  </a:lnTo>
                  <a:lnTo>
                    <a:pt x="529259" y="4087914"/>
                  </a:lnTo>
                  <a:lnTo>
                    <a:pt x="534670" y="4041267"/>
                  </a:lnTo>
                  <a:lnTo>
                    <a:pt x="543534" y="3995775"/>
                  </a:lnTo>
                  <a:lnTo>
                    <a:pt x="555688" y="3951554"/>
                  </a:lnTo>
                  <a:lnTo>
                    <a:pt x="568566" y="3915575"/>
                  </a:lnTo>
                  <a:lnTo>
                    <a:pt x="581456" y="3951554"/>
                  </a:lnTo>
                  <a:lnTo>
                    <a:pt x="593623" y="3995775"/>
                  </a:lnTo>
                  <a:lnTo>
                    <a:pt x="602475" y="4041267"/>
                  </a:lnTo>
                  <a:lnTo>
                    <a:pt x="607885" y="4087914"/>
                  </a:lnTo>
                  <a:lnTo>
                    <a:pt x="609727" y="4135551"/>
                  </a:lnTo>
                  <a:lnTo>
                    <a:pt x="609727" y="3829608"/>
                  </a:lnTo>
                  <a:lnTo>
                    <a:pt x="609701" y="3304489"/>
                  </a:lnTo>
                  <a:lnTo>
                    <a:pt x="589394" y="3266656"/>
                  </a:lnTo>
                  <a:lnTo>
                    <a:pt x="609727" y="3304489"/>
                  </a:lnTo>
                  <a:lnTo>
                    <a:pt x="609727" y="3136049"/>
                  </a:lnTo>
                  <a:lnTo>
                    <a:pt x="609727" y="2998520"/>
                  </a:lnTo>
                  <a:lnTo>
                    <a:pt x="609727" y="2830106"/>
                  </a:lnTo>
                  <a:lnTo>
                    <a:pt x="609701" y="2304986"/>
                  </a:lnTo>
                  <a:lnTo>
                    <a:pt x="605434" y="2297049"/>
                  </a:lnTo>
                  <a:lnTo>
                    <a:pt x="605434" y="3067291"/>
                  </a:lnTo>
                  <a:lnTo>
                    <a:pt x="602475" y="3092818"/>
                  </a:lnTo>
                  <a:lnTo>
                    <a:pt x="593623" y="3138322"/>
                  </a:lnTo>
                  <a:lnTo>
                    <a:pt x="581456" y="3182556"/>
                  </a:lnTo>
                  <a:lnTo>
                    <a:pt x="568566" y="3218535"/>
                  </a:lnTo>
                  <a:lnTo>
                    <a:pt x="555688" y="3182556"/>
                  </a:lnTo>
                  <a:lnTo>
                    <a:pt x="543534" y="3138322"/>
                  </a:lnTo>
                  <a:lnTo>
                    <a:pt x="534670" y="3092818"/>
                  </a:lnTo>
                  <a:lnTo>
                    <a:pt x="531698" y="3067291"/>
                  </a:lnTo>
                  <a:lnTo>
                    <a:pt x="534670" y="3041764"/>
                  </a:lnTo>
                  <a:lnTo>
                    <a:pt x="543534" y="2996273"/>
                  </a:lnTo>
                  <a:lnTo>
                    <a:pt x="555688" y="2952038"/>
                  </a:lnTo>
                  <a:lnTo>
                    <a:pt x="568566" y="2916072"/>
                  </a:lnTo>
                  <a:lnTo>
                    <a:pt x="581456" y="2952038"/>
                  </a:lnTo>
                  <a:lnTo>
                    <a:pt x="593623" y="2996273"/>
                  </a:lnTo>
                  <a:lnTo>
                    <a:pt x="602475" y="3041764"/>
                  </a:lnTo>
                  <a:lnTo>
                    <a:pt x="605434" y="3067291"/>
                  </a:lnTo>
                  <a:lnTo>
                    <a:pt x="605434" y="2297049"/>
                  </a:lnTo>
                  <a:lnTo>
                    <a:pt x="589394" y="2267153"/>
                  </a:lnTo>
                  <a:lnTo>
                    <a:pt x="609727" y="2304986"/>
                  </a:lnTo>
                  <a:lnTo>
                    <a:pt x="609727" y="2136533"/>
                  </a:lnTo>
                  <a:lnTo>
                    <a:pt x="609727" y="1999018"/>
                  </a:lnTo>
                  <a:lnTo>
                    <a:pt x="609727" y="1830603"/>
                  </a:lnTo>
                  <a:lnTo>
                    <a:pt x="609701" y="1305483"/>
                  </a:lnTo>
                  <a:lnTo>
                    <a:pt x="605434" y="1297546"/>
                  </a:lnTo>
                  <a:lnTo>
                    <a:pt x="605434" y="2067788"/>
                  </a:lnTo>
                  <a:lnTo>
                    <a:pt x="602475" y="2093315"/>
                  </a:lnTo>
                  <a:lnTo>
                    <a:pt x="593623" y="2138819"/>
                  </a:lnTo>
                  <a:lnTo>
                    <a:pt x="581456" y="2183053"/>
                  </a:lnTo>
                  <a:lnTo>
                    <a:pt x="568566" y="2219033"/>
                  </a:lnTo>
                  <a:lnTo>
                    <a:pt x="555688" y="2183053"/>
                  </a:lnTo>
                  <a:lnTo>
                    <a:pt x="543534" y="2138819"/>
                  </a:lnTo>
                  <a:lnTo>
                    <a:pt x="534670" y="2093315"/>
                  </a:lnTo>
                  <a:lnTo>
                    <a:pt x="531698" y="2067788"/>
                  </a:lnTo>
                  <a:lnTo>
                    <a:pt x="534670" y="2042261"/>
                  </a:lnTo>
                  <a:lnTo>
                    <a:pt x="543534" y="1996757"/>
                  </a:lnTo>
                  <a:lnTo>
                    <a:pt x="555688" y="1952536"/>
                  </a:lnTo>
                  <a:lnTo>
                    <a:pt x="568566" y="1916557"/>
                  </a:lnTo>
                  <a:lnTo>
                    <a:pt x="581456" y="1952536"/>
                  </a:lnTo>
                  <a:lnTo>
                    <a:pt x="593623" y="1996757"/>
                  </a:lnTo>
                  <a:lnTo>
                    <a:pt x="602475" y="2042261"/>
                  </a:lnTo>
                  <a:lnTo>
                    <a:pt x="605434" y="2067788"/>
                  </a:lnTo>
                  <a:lnTo>
                    <a:pt x="605434" y="1297546"/>
                  </a:lnTo>
                  <a:lnTo>
                    <a:pt x="589394" y="1267650"/>
                  </a:lnTo>
                  <a:lnTo>
                    <a:pt x="609727" y="1305483"/>
                  </a:lnTo>
                  <a:lnTo>
                    <a:pt x="609727" y="1137031"/>
                  </a:lnTo>
                  <a:lnTo>
                    <a:pt x="609727" y="999502"/>
                  </a:lnTo>
                  <a:lnTo>
                    <a:pt x="609727" y="831088"/>
                  </a:lnTo>
                  <a:lnTo>
                    <a:pt x="609701" y="305981"/>
                  </a:lnTo>
                  <a:lnTo>
                    <a:pt x="605434" y="298043"/>
                  </a:lnTo>
                  <a:lnTo>
                    <a:pt x="605434" y="1068285"/>
                  </a:lnTo>
                  <a:lnTo>
                    <a:pt x="602475" y="1093800"/>
                  </a:lnTo>
                  <a:lnTo>
                    <a:pt x="593623" y="1139317"/>
                  </a:lnTo>
                  <a:lnTo>
                    <a:pt x="581456" y="1183551"/>
                  </a:lnTo>
                  <a:lnTo>
                    <a:pt x="568566" y="1219530"/>
                  </a:lnTo>
                  <a:lnTo>
                    <a:pt x="555688" y="1183551"/>
                  </a:lnTo>
                  <a:lnTo>
                    <a:pt x="543534" y="1139317"/>
                  </a:lnTo>
                  <a:lnTo>
                    <a:pt x="534670" y="1093800"/>
                  </a:lnTo>
                  <a:lnTo>
                    <a:pt x="531698" y="1068285"/>
                  </a:lnTo>
                  <a:lnTo>
                    <a:pt x="534670" y="1042758"/>
                  </a:lnTo>
                  <a:lnTo>
                    <a:pt x="543534" y="997254"/>
                  </a:lnTo>
                  <a:lnTo>
                    <a:pt x="555688" y="953033"/>
                  </a:lnTo>
                  <a:lnTo>
                    <a:pt x="568566" y="917054"/>
                  </a:lnTo>
                  <a:lnTo>
                    <a:pt x="581456" y="953033"/>
                  </a:lnTo>
                  <a:lnTo>
                    <a:pt x="593623" y="997254"/>
                  </a:lnTo>
                  <a:lnTo>
                    <a:pt x="602475" y="1042758"/>
                  </a:lnTo>
                  <a:lnTo>
                    <a:pt x="605434" y="1068285"/>
                  </a:lnTo>
                  <a:lnTo>
                    <a:pt x="605434" y="298043"/>
                  </a:lnTo>
                  <a:lnTo>
                    <a:pt x="589394" y="268147"/>
                  </a:lnTo>
                  <a:lnTo>
                    <a:pt x="609727" y="305981"/>
                  </a:lnTo>
                  <a:lnTo>
                    <a:pt x="609727" y="0"/>
                  </a:lnTo>
                  <a:close/>
                </a:path>
                <a:path w="1137284" h="4135754">
                  <a:moveTo>
                    <a:pt x="1137031" y="3525951"/>
                  </a:moveTo>
                  <a:lnTo>
                    <a:pt x="831113" y="3525951"/>
                  </a:lnTo>
                  <a:lnTo>
                    <a:pt x="829348" y="3524999"/>
                  </a:lnTo>
                  <a:lnTo>
                    <a:pt x="791578" y="3500958"/>
                  </a:lnTo>
                  <a:lnTo>
                    <a:pt x="755751" y="3474301"/>
                  </a:lnTo>
                  <a:lnTo>
                    <a:pt x="722020" y="3445129"/>
                  </a:lnTo>
                  <a:lnTo>
                    <a:pt x="690511" y="3413620"/>
                  </a:lnTo>
                  <a:lnTo>
                    <a:pt x="661352" y="3379876"/>
                  </a:lnTo>
                  <a:lnTo>
                    <a:pt x="634695" y="3344037"/>
                  </a:lnTo>
                  <a:lnTo>
                    <a:pt x="610654" y="3306254"/>
                  </a:lnTo>
                  <a:lnTo>
                    <a:pt x="609727" y="3304489"/>
                  </a:lnTo>
                  <a:lnTo>
                    <a:pt x="609727" y="3829608"/>
                  </a:lnTo>
                  <a:lnTo>
                    <a:pt x="634695" y="3790099"/>
                  </a:lnTo>
                  <a:lnTo>
                    <a:pt x="661352" y="3754272"/>
                  </a:lnTo>
                  <a:lnTo>
                    <a:pt x="690511" y="3720541"/>
                  </a:lnTo>
                  <a:lnTo>
                    <a:pt x="722020" y="3689032"/>
                  </a:lnTo>
                  <a:lnTo>
                    <a:pt x="755751" y="3659873"/>
                  </a:lnTo>
                  <a:lnTo>
                    <a:pt x="791578" y="3633216"/>
                  </a:lnTo>
                  <a:lnTo>
                    <a:pt x="829348" y="3609175"/>
                  </a:lnTo>
                  <a:lnTo>
                    <a:pt x="831088" y="3608247"/>
                  </a:lnTo>
                  <a:lnTo>
                    <a:pt x="1137031" y="3608247"/>
                  </a:lnTo>
                  <a:lnTo>
                    <a:pt x="1089393" y="3606406"/>
                  </a:lnTo>
                  <a:lnTo>
                    <a:pt x="1042746" y="3600996"/>
                  </a:lnTo>
                  <a:lnTo>
                    <a:pt x="997254" y="3592144"/>
                  </a:lnTo>
                  <a:lnTo>
                    <a:pt x="953033" y="3579977"/>
                  </a:lnTo>
                  <a:lnTo>
                    <a:pt x="917054" y="3567099"/>
                  </a:lnTo>
                  <a:lnTo>
                    <a:pt x="953033" y="3554209"/>
                  </a:lnTo>
                  <a:lnTo>
                    <a:pt x="997254" y="3542055"/>
                  </a:lnTo>
                  <a:lnTo>
                    <a:pt x="1042746" y="3533190"/>
                  </a:lnTo>
                  <a:lnTo>
                    <a:pt x="1089393" y="3527780"/>
                  </a:lnTo>
                  <a:lnTo>
                    <a:pt x="1137031" y="3525951"/>
                  </a:lnTo>
                  <a:close/>
                </a:path>
                <a:path w="1137284" h="4135754">
                  <a:moveTo>
                    <a:pt x="1137031" y="2526449"/>
                  </a:moveTo>
                  <a:lnTo>
                    <a:pt x="831113" y="2526449"/>
                  </a:lnTo>
                  <a:lnTo>
                    <a:pt x="829348" y="2525496"/>
                  </a:lnTo>
                  <a:lnTo>
                    <a:pt x="791578" y="2501455"/>
                  </a:lnTo>
                  <a:lnTo>
                    <a:pt x="755751" y="2474785"/>
                  </a:lnTo>
                  <a:lnTo>
                    <a:pt x="722020" y="2445626"/>
                  </a:lnTo>
                  <a:lnTo>
                    <a:pt x="690511" y="2414105"/>
                  </a:lnTo>
                  <a:lnTo>
                    <a:pt x="661352" y="2380361"/>
                  </a:lnTo>
                  <a:lnTo>
                    <a:pt x="634695" y="2344534"/>
                  </a:lnTo>
                  <a:lnTo>
                    <a:pt x="610654" y="2306751"/>
                  </a:lnTo>
                  <a:lnTo>
                    <a:pt x="609727" y="2304986"/>
                  </a:lnTo>
                  <a:lnTo>
                    <a:pt x="609727" y="2830106"/>
                  </a:lnTo>
                  <a:lnTo>
                    <a:pt x="634695" y="2790596"/>
                  </a:lnTo>
                  <a:lnTo>
                    <a:pt x="661352" y="2754769"/>
                  </a:lnTo>
                  <a:lnTo>
                    <a:pt x="690511" y="2721038"/>
                  </a:lnTo>
                  <a:lnTo>
                    <a:pt x="722020" y="2689517"/>
                  </a:lnTo>
                  <a:lnTo>
                    <a:pt x="755751" y="2660370"/>
                  </a:lnTo>
                  <a:lnTo>
                    <a:pt x="791578" y="2633700"/>
                  </a:lnTo>
                  <a:lnTo>
                    <a:pt x="829348" y="2609672"/>
                  </a:lnTo>
                  <a:lnTo>
                    <a:pt x="831088" y="2608745"/>
                  </a:lnTo>
                  <a:lnTo>
                    <a:pt x="1137031" y="2608745"/>
                  </a:lnTo>
                  <a:lnTo>
                    <a:pt x="1089393" y="2606903"/>
                  </a:lnTo>
                  <a:lnTo>
                    <a:pt x="1042746" y="2601493"/>
                  </a:lnTo>
                  <a:lnTo>
                    <a:pt x="997254" y="2592641"/>
                  </a:lnTo>
                  <a:lnTo>
                    <a:pt x="953033" y="2580475"/>
                  </a:lnTo>
                  <a:lnTo>
                    <a:pt x="917054" y="2567584"/>
                  </a:lnTo>
                  <a:lnTo>
                    <a:pt x="953033" y="2554706"/>
                  </a:lnTo>
                  <a:lnTo>
                    <a:pt x="997254" y="2542540"/>
                  </a:lnTo>
                  <a:lnTo>
                    <a:pt x="1042746" y="2533688"/>
                  </a:lnTo>
                  <a:lnTo>
                    <a:pt x="1089393" y="2528278"/>
                  </a:lnTo>
                  <a:lnTo>
                    <a:pt x="1137031" y="2526449"/>
                  </a:lnTo>
                  <a:close/>
                </a:path>
                <a:path w="1137284" h="4135754">
                  <a:moveTo>
                    <a:pt x="1137031" y="1526933"/>
                  </a:moveTo>
                  <a:lnTo>
                    <a:pt x="831113" y="1526933"/>
                  </a:lnTo>
                  <a:lnTo>
                    <a:pt x="868946" y="1547266"/>
                  </a:lnTo>
                  <a:lnTo>
                    <a:pt x="829348" y="1525993"/>
                  </a:lnTo>
                  <a:lnTo>
                    <a:pt x="791578" y="1501952"/>
                  </a:lnTo>
                  <a:lnTo>
                    <a:pt x="755751" y="1475282"/>
                  </a:lnTo>
                  <a:lnTo>
                    <a:pt x="722020" y="1446123"/>
                  </a:lnTo>
                  <a:lnTo>
                    <a:pt x="690511" y="1414602"/>
                  </a:lnTo>
                  <a:lnTo>
                    <a:pt x="661352" y="1380858"/>
                  </a:lnTo>
                  <a:lnTo>
                    <a:pt x="634695" y="1345031"/>
                  </a:lnTo>
                  <a:lnTo>
                    <a:pt x="610654" y="1307249"/>
                  </a:lnTo>
                  <a:lnTo>
                    <a:pt x="609727" y="1305483"/>
                  </a:lnTo>
                  <a:lnTo>
                    <a:pt x="609727" y="1830603"/>
                  </a:lnTo>
                  <a:lnTo>
                    <a:pt x="634695" y="1791093"/>
                  </a:lnTo>
                  <a:lnTo>
                    <a:pt x="661352" y="1755267"/>
                  </a:lnTo>
                  <a:lnTo>
                    <a:pt x="690511" y="1721535"/>
                  </a:lnTo>
                  <a:lnTo>
                    <a:pt x="722020" y="1690014"/>
                  </a:lnTo>
                  <a:lnTo>
                    <a:pt x="755751" y="1660867"/>
                  </a:lnTo>
                  <a:lnTo>
                    <a:pt x="791578" y="1634197"/>
                  </a:lnTo>
                  <a:lnTo>
                    <a:pt x="829348" y="1610169"/>
                  </a:lnTo>
                  <a:lnTo>
                    <a:pt x="831088" y="1609229"/>
                  </a:lnTo>
                  <a:lnTo>
                    <a:pt x="1137031" y="1609229"/>
                  </a:lnTo>
                  <a:lnTo>
                    <a:pt x="1089393" y="1607400"/>
                  </a:lnTo>
                  <a:lnTo>
                    <a:pt x="1042746" y="1601990"/>
                  </a:lnTo>
                  <a:lnTo>
                    <a:pt x="997254" y="1593126"/>
                  </a:lnTo>
                  <a:lnTo>
                    <a:pt x="953033" y="1580972"/>
                  </a:lnTo>
                  <a:lnTo>
                    <a:pt x="917054" y="1568081"/>
                  </a:lnTo>
                  <a:lnTo>
                    <a:pt x="953033" y="1555203"/>
                  </a:lnTo>
                  <a:lnTo>
                    <a:pt x="997254" y="1543037"/>
                  </a:lnTo>
                  <a:lnTo>
                    <a:pt x="1042746" y="1534185"/>
                  </a:lnTo>
                  <a:lnTo>
                    <a:pt x="1089393" y="1528775"/>
                  </a:lnTo>
                  <a:lnTo>
                    <a:pt x="1137031" y="1526933"/>
                  </a:lnTo>
                  <a:close/>
                </a:path>
                <a:path w="1137284" h="4135754">
                  <a:moveTo>
                    <a:pt x="1137031" y="527431"/>
                  </a:moveTo>
                  <a:lnTo>
                    <a:pt x="831113" y="527431"/>
                  </a:lnTo>
                  <a:lnTo>
                    <a:pt x="829348" y="526478"/>
                  </a:lnTo>
                  <a:lnTo>
                    <a:pt x="791578" y="502450"/>
                  </a:lnTo>
                  <a:lnTo>
                    <a:pt x="755751" y="475780"/>
                  </a:lnTo>
                  <a:lnTo>
                    <a:pt x="722020" y="446620"/>
                  </a:lnTo>
                  <a:lnTo>
                    <a:pt x="690511" y="415099"/>
                  </a:lnTo>
                  <a:lnTo>
                    <a:pt x="661352" y="381355"/>
                  </a:lnTo>
                  <a:lnTo>
                    <a:pt x="634695" y="345528"/>
                  </a:lnTo>
                  <a:lnTo>
                    <a:pt x="610654" y="307746"/>
                  </a:lnTo>
                  <a:lnTo>
                    <a:pt x="609727" y="305981"/>
                  </a:lnTo>
                  <a:lnTo>
                    <a:pt x="609727" y="831088"/>
                  </a:lnTo>
                  <a:lnTo>
                    <a:pt x="634695" y="791578"/>
                  </a:lnTo>
                  <a:lnTo>
                    <a:pt x="661352" y="755764"/>
                  </a:lnTo>
                  <a:lnTo>
                    <a:pt x="690511" y="722020"/>
                  </a:lnTo>
                  <a:lnTo>
                    <a:pt x="722020" y="690511"/>
                  </a:lnTo>
                  <a:lnTo>
                    <a:pt x="755751" y="661352"/>
                  </a:lnTo>
                  <a:lnTo>
                    <a:pt x="791578" y="634695"/>
                  </a:lnTo>
                  <a:lnTo>
                    <a:pt x="829348" y="610666"/>
                  </a:lnTo>
                  <a:lnTo>
                    <a:pt x="831088" y="609727"/>
                  </a:lnTo>
                  <a:lnTo>
                    <a:pt x="1137031" y="609727"/>
                  </a:lnTo>
                  <a:lnTo>
                    <a:pt x="1089393" y="607898"/>
                  </a:lnTo>
                  <a:lnTo>
                    <a:pt x="1042746" y="602488"/>
                  </a:lnTo>
                  <a:lnTo>
                    <a:pt x="997254" y="593623"/>
                  </a:lnTo>
                  <a:lnTo>
                    <a:pt x="953033" y="581469"/>
                  </a:lnTo>
                  <a:lnTo>
                    <a:pt x="917054" y="568579"/>
                  </a:lnTo>
                  <a:lnTo>
                    <a:pt x="953033" y="555701"/>
                  </a:lnTo>
                  <a:lnTo>
                    <a:pt x="997254" y="543534"/>
                  </a:lnTo>
                  <a:lnTo>
                    <a:pt x="1042746" y="534682"/>
                  </a:lnTo>
                  <a:lnTo>
                    <a:pt x="1089393" y="529272"/>
                  </a:lnTo>
                  <a:lnTo>
                    <a:pt x="1137031" y="527431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004300" y="1663382"/>
            <a:ext cx="6283325" cy="4190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72585" algn="ctr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37502E"/>
                </a:solidFill>
                <a:latin typeface="Arial MT"/>
                <a:cs typeface="Arial MT"/>
              </a:rPr>
              <a:t>Deployment</a:t>
            </a:r>
            <a:r>
              <a:rPr sz="2000" spc="-7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37502E"/>
                </a:solidFill>
                <a:latin typeface="Arial MT"/>
                <a:cs typeface="Arial MT"/>
              </a:rPr>
              <a:t>Strategy</a:t>
            </a:r>
            <a:endParaRPr sz="2000">
              <a:latin typeface="Arial MT"/>
              <a:cs typeface="Arial MT"/>
            </a:endParaRPr>
          </a:p>
          <a:p>
            <a:pPr marR="4123054" algn="ctr">
              <a:lnSpc>
                <a:spcPct val="100000"/>
              </a:lnSpc>
              <a:spcBef>
                <a:spcPts val="1450"/>
              </a:spcBef>
            </a:pPr>
            <a:r>
              <a:rPr sz="1650" spc="-85" dirty="0">
                <a:solidFill>
                  <a:srgbClr val="3A362F"/>
                </a:solidFill>
                <a:latin typeface="Arial MT"/>
                <a:cs typeface="Arial MT"/>
              </a:rPr>
              <a:t>Infrastructure</a:t>
            </a:r>
            <a:r>
              <a:rPr sz="165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3A362F"/>
                </a:solidFill>
                <a:latin typeface="Arial MT"/>
                <a:cs typeface="Arial MT"/>
              </a:rPr>
              <a:t>Setup</a:t>
            </a:r>
            <a:endParaRPr sz="165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1620"/>
              </a:spcBef>
            </a:pPr>
            <a:r>
              <a:rPr sz="1450" spc="-145" dirty="0">
                <a:solidFill>
                  <a:srgbClr val="3A362F"/>
                </a:solidFill>
                <a:latin typeface="Arial MT"/>
                <a:cs typeface="Arial MT"/>
              </a:rPr>
              <a:t>Cloud-</a:t>
            </a:r>
            <a:r>
              <a:rPr sz="1450" spc="-120" dirty="0">
                <a:solidFill>
                  <a:srgbClr val="3A362F"/>
                </a:solidFill>
                <a:latin typeface="Arial MT"/>
                <a:cs typeface="Arial MT"/>
              </a:rPr>
              <a:t>based</a:t>
            </a:r>
            <a:r>
              <a:rPr sz="145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80" dirty="0">
                <a:solidFill>
                  <a:srgbClr val="3A362F"/>
                </a:solidFill>
                <a:latin typeface="Arial MT"/>
                <a:cs typeface="Arial MT"/>
              </a:rPr>
              <a:t>hosting</a:t>
            </a:r>
            <a:r>
              <a:rPr sz="145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4" dirty="0">
                <a:solidFill>
                  <a:srgbClr val="3A362F"/>
                </a:solidFill>
                <a:latin typeface="Arial MT"/>
                <a:cs typeface="Arial MT"/>
              </a:rPr>
              <a:t>on</a:t>
            </a:r>
            <a:r>
              <a:rPr sz="145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220" dirty="0">
                <a:solidFill>
                  <a:srgbClr val="3A362F"/>
                </a:solidFill>
                <a:latin typeface="Arial MT"/>
                <a:cs typeface="Arial MT"/>
              </a:rPr>
              <a:t>AWS</a:t>
            </a:r>
            <a:r>
              <a:rPr sz="14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55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145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95" dirty="0">
                <a:solidFill>
                  <a:srgbClr val="3A362F"/>
                </a:solidFill>
                <a:latin typeface="Arial MT"/>
                <a:cs typeface="Arial MT"/>
              </a:rPr>
              <a:t>load</a:t>
            </a:r>
            <a:r>
              <a:rPr sz="1450" spc="-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00" dirty="0">
                <a:solidFill>
                  <a:srgbClr val="3A362F"/>
                </a:solidFill>
                <a:latin typeface="Arial MT"/>
                <a:cs typeface="Arial MT"/>
              </a:rPr>
              <a:t>balancing</a:t>
            </a:r>
            <a:r>
              <a:rPr sz="145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145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20" dirty="0">
                <a:solidFill>
                  <a:srgbClr val="3A362F"/>
                </a:solidFill>
                <a:latin typeface="Arial MT"/>
                <a:cs typeface="Arial MT"/>
              </a:rPr>
              <a:t>auto-</a:t>
            </a:r>
            <a:r>
              <a:rPr sz="1450" spc="-85" dirty="0">
                <a:solidFill>
                  <a:srgbClr val="3A362F"/>
                </a:solidFill>
                <a:latin typeface="Arial MT"/>
                <a:cs typeface="Arial MT"/>
              </a:rPr>
              <a:t>scaling </a:t>
            </a:r>
            <a:r>
              <a:rPr sz="1450" spc="-10" dirty="0">
                <a:solidFill>
                  <a:srgbClr val="3A362F"/>
                </a:solidFill>
                <a:latin typeface="Arial MT"/>
                <a:cs typeface="Arial MT"/>
              </a:rPr>
              <a:t>capabilities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30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</a:pPr>
            <a:r>
              <a:rPr sz="1650" spc="-130" dirty="0">
                <a:solidFill>
                  <a:srgbClr val="3A362F"/>
                </a:solidFill>
                <a:latin typeface="Arial MT"/>
                <a:cs typeface="Arial MT"/>
              </a:rPr>
              <a:t>Data</a:t>
            </a:r>
            <a:r>
              <a:rPr sz="165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3A362F"/>
                </a:solidFill>
                <a:latin typeface="Arial MT"/>
                <a:cs typeface="Arial MT"/>
              </a:rPr>
              <a:t>Migration</a:t>
            </a:r>
            <a:endParaRPr sz="165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1620"/>
              </a:spcBef>
            </a:pPr>
            <a:r>
              <a:rPr sz="1450" spc="-150" dirty="0">
                <a:solidFill>
                  <a:srgbClr val="3A362F"/>
                </a:solidFill>
                <a:latin typeface="Arial MT"/>
                <a:cs typeface="Arial MT"/>
              </a:rPr>
              <a:t>Secure</a:t>
            </a:r>
            <a:r>
              <a:rPr sz="145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90" dirty="0">
                <a:solidFill>
                  <a:srgbClr val="3A362F"/>
                </a:solidFill>
                <a:latin typeface="Arial MT"/>
                <a:cs typeface="Arial MT"/>
              </a:rPr>
              <a:t>transfer</a:t>
            </a:r>
            <a:r>
              <a:rPr sz="145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30" dirty="0">
                <a:solidFill>
                  <a:srgbClr val="3A362F"/>
                </a:solidFill>
                <a:latin typeface="Arial MT"/>
                <a:cs typeface="Arial MT"/>
              </a:rPr>
              <a:t>of</a:t>
            </a:r>
            <a:r>
              <a:rPr sz="14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35" dirty="0">
                <a:solidFill>
                  <a:srgbClr val="3A362F"/>
                </a:solidFill>
                <a:latin typeface="Arial MT"/>
                <a:cs typeface="Arial MT"/>
              </a:rPr>
              <a:t>50,000</a:t>
            </a:r>
            <a:r>
              <a:rPr sz="145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75" dirty="0">
                <a:solidFill>
                  <a:srgbClr val="3A362F"/>
                </a:solidFill>
                <a:latin typeface="Arial MT"/>
                <a:cs typeface="Arial MT"/>
              </a:rPr>
              <a:t>patient</a:t>
            </a:r>
            <a:r>
              <a:rPr sz="145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0" dirty="0">
                <a:solidFill>
                  <a:srgbClr val="3A362F"/>
                </a:solidFill>
                <a:latin typeface="Arial MT"/>
                <a:cs typeface="Arial MT"/>
              </a:rPr>
              <a:t>records</a:t>
            </a:r>
            <a:r>
              <a:rPr sz="1450" spc="-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85" dirty="0">
                <a:solidFill>
                  <a:srgbClr val="3A362F"/>
                </a:solidFill>
                <a:latin typeface="Arial MT"/>
                <a:cs typeface="Arial MT"/>
              </a:rPr>
              <a:t>from</a:t>
            </a:r>
            <a:r>
              <a:rPr sz="145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0" dirty="0">
                <a:solidFill>
                  <a:srgbClr val="3A362F"/>
                </a:solidFill>
                <a:latin typeface="Arial MT"/>
                <a:cs typeface="Arial MT"/>
              </a:rPr>
              <a:t>legacy</a:t>
            </a:r>
            <a:r>
              <a:rPr sz="145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0" dirty="0">
                <a:solidFill>
                  <a:srgbClr val="3A362F"/>
                </a:solidFill>
                <a:latin typeface="Arial MT"/>
                <a:cs typeface="Arial MT"/>
              </a:rPr>
              <a:t>system</a:t>
            </a:r>
            <a:r>
              <a:rPr sz="145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55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145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85" dirty="0">
                <a:solidFill>
                  <a:srgbClr val="3A362F"/>
                </a:solidFill>
                <a:latin typeface="Arial MT"/>
                <a:cs typeface="Arial MT"/>
              </a:rPr>
              <a:t>validation</a:t>
            </a:r>
            <a:r>
              <a:rPr sz="145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3A362F"/>
                </a:solidFill>
                <a:latin typeface="Arial MT"/>
                <a:cs typeface="Arial MT"/>
              </a:rPr>
              <a:t>checks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30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</a:pPr>
            <a:r>
              <a:rPr sz="1650" spc="-60" dirty="0">
                <a:solidFill>
                  <a:srgbClr val="3A362F"/>
                </a:solidFill>
                <a:latin typeface="Arial MT"/>
                <a:cs typeface="Arial MT"/>
              </a:rPr>
              <a:t>Staff</a:t>
            </a:r>
            <a:r>
              <a:rPr sz="165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3A362F"/>
                </a:solidFill>
                <a:latin typeface="Arial MT"/>
                <a:cs typeface="Arial MT"/>
              </a:rPr>
              <a:t>Training</a:t>
            </a:r>
            <a:endParaRPr sz="165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1620"/>
              </a:spcBef>
            </a:pPr>
            <a:r>
              <a:rPr sz="1450" spc="-130" dirty="0">
                <a:solidFill>
                  <a:srgbClr val="3A362F"/>
                </a:solidFill>
                <a:latin typeface="Arial MT"/>
                <a:cs typeface="Arial MT"/>
              </a:rPr>
              <a:t>Comprehensive</a:t>
            </a:r>
            <a:r>
              <a:rPr sz="1450" spc="-1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80" dirty="0">
                <a:solidFill>
                  <a:srgbClr val="3A362F"/>
                </a:solidFill>
                <a:latin typeface="Arial MT"/>
                <a:cs typeface="Arial MT"/>
              </a:rPr>
              <a:t>training </a:t>
            </a:r>
            <a:r>
              <a:rPr sz="1450" spc="-120" dirty="0">
                <a:solidFill>
                  <a:srgbClr val="3A362F"/>
                </a:solidFill>
                <a:latin typeface="Arial MT"/>
                <a:cs typeface="Arial MT"/>
              </a:rPr>
              <a:t>programme</a:t>
            </a:r>
            <a:r>
              <a:rPr sz="1450" spc="-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65" dirty="0">
                <a:solidFill>
                  <a:srgbClr val="3A362F"/>
                </a:solidFill>
                <a:latin typeface="Arial MT"/>
                <a:cs typeface="Arial MT"/>
              </a:rPr>
              <a:t>for</a:t>
            </a:r>
            <a:r>
              <a:rPr sz="145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25" dirty="0">
                <a:solidFill>
                  <a:srgbClr val="3A362F"/>
                </a:solidFill>
                <a:latin typeface="Arial MT"/>
                <a:cs typeface="Arial MT"/>
              </a:rPr>
              <a:t>200+</a:t>
            </a:r>
            <a:r>
              <a:rPr sz="1450" spc="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55" dirty="0">
                <a:solidFill>
                  <a:srgbClr val="3A362F"/>
                </a:solidFill>
                <a:latin typeface="Arial MT"/>
                <a:cs typeface="Arial MT"/>
              </a:rPr>
              <a:t>staff</a:t>
            </a:r>
            <a:r>
              <a:rPr sz="145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4" dirty="0">
                <a:solidFill>
                  <a:srgbClr val="3A362F"/>
                </a:solidFill>
                <a:latin typeface="Arial MT"/>
                <a:cs typeface="Arial MT"/>
              </a:rPr>
              <a:t>members</a:t>
            </a:r>
            <a:r>
              <a:rPr sz="145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00" dirty="0">
                <a:solidFill>
                  <a:srgbClr val="3A362F"/>
                </a:solidFill>
                <a:latin typeface="Arial MT"/>
                <a:cs typeface="Arial MT"/>
              </a:rPr>
              <a:t>across</a:t>
            </a:r>
            <a:r>
              <a:rPr sz="145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55" dirty="0">
                <a:solidFill>
                  <a:srgbClr val="3A362F"/>
                </a:solidFill>
                <a:latin typeface="Arial MT"/>
                <a:cs typeface="Arial MT"/>
              </a:rPr>
              <a:t>all</a:t>
            </a:r>
            <a:r>
              <a:rPr sz="145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3A362F"/>
                </a:solidFill>
                <a:latin typeface="Arial MT"/>
                <a:cs typeface="Arial MT"/>
              </a:rPr>
              <a:t>departments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30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</a:pPr>
            <a:r>
              <a:rPr sz="1650" spc="-140" dirty="0">
                <a:solidFill>
                  <a:srgbClr val="3A362F"/>
                </a:solidFill>
                <a:latin typeface="Arial MT"/>
                <a:cs typeface="Arial MT"/>
              </a:rPr>
              <a:t>Phased</a:t>
            </a:r>
            <a:r>
              <a:rPr sz="165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3A362F"/>
                </a:solidFill>
                <a:latin typeface="Arial MT"/>
                <a:cs typeface="Arial MT"/>
              </a:rPr>
              <a:t>Rollout</a:t>
            </a:r>
            <a:endParaRPr sz="165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1620"/>
              </a:spcBef>
            </a:pPr>
            <a:r>
              <a:rPr sz="1450" spc="-70" dirty="0">
                <a:solidFill>
                  <a:srgbClr val="3A362F"/>
                </a:solidFill>
                <a:latin typeface="Arial MT"/>
                <a:cs typeface="Arial MT"/>
              </a:rPr>
              <a:t>Pilot</a:t>
            </a:r>
            <a:r>
              <a:rPr sz="1450" spc="-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0" dirty="0">
                <a:solidFill>
                  <a:srgbClr val="3A362F"/>
                </a:solidFill>
                <a:latin typeface="Arial MT"/>
                <a:cs typeface="Arial MT"/>
              </a:rPr>
              <a:t>launch</a:t>
            </a:r>
            <a:r>
              <a:rPr sz="1450" spc="-70" dirty="0">
                <a:solidFill>
                  <a:srgbClr val="3A362F"/>
                </a:solidFill>
                <a:latin typeface="Arial MT"/>
                <a:cs typeface="Arial MT"/>
              </a:rPr>
              <a:t> in</a:t>
            </a:r>
            <a:r>
              <a:rPr sz="145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95" dirty="0">
                <a:solidFill>
                  <a:srgbClr val="3A362F"/>
                </a:solidFill>
                <a:latin typeface="Arial MT"/>
                <a:cs typeface="Arial MT"/>
              </a:rPr>
              <a:t>cardiology</a:t>
            </a:r>
            <a:r>
              <a:rPr sz="145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4" dirty="0">
                <a:solidFill>
                  <a:srgbClr val="3A362F"/>
                </a:solidFill>
                <a:latin typeface="Arial MT"/>
                <a:cs typeface="Arial MT"/>
              </a:rPr>
              <a:t>department,</a:t>
            </a:r>
            <a:r>
              <a:rPr sz="145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75" dirty="0">
                <a:solidFill>
                  <a:srgbClr val="3A362F"/>
                </a:solidFill>
                <a:latin typeface="Arial MT"/>
                <a:cs typeface="Arial MT"/>
              </a:rPr>
              <a:t>followed</a:t>
            </a:r>
            <a:r>
              <a:rPr sz="1450" spc="-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20" dirty="0">
                <a:solidFill>
                  <a:srgbClr val="3A362F"/>
                </a:solidFill>
                <a:latin typeface="Arial MT"/>
                <a:cs typeface="Arial MT"/>
              </a:rPr>
              <a:t>by</a:t>
            </a:r>
            <a:r>
              <a:rPr sz="145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05" dirty="0">
                <a:solidFill>
                  <a:srgbClr val="3A362F"/>
                </a:solidFill>
                <a:latin typeface="Arial MT"/>
                <a:cs typeface="Arial MT"/>
              </a:rPr>
              <a:t>gradual</a:t>
            </a:r>
            <a:r>
              <a:rPr sz="145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14" dirty="0">
                <a:solidFill>
                  <a:srgbClr val="3A362F"/>
                </a:solidFill>
                <a:latin typeface="Arial MT"/>
                <a:cs typeface="Arial MT"/>
              </a:rPr>
              <a:t>expansion</a:t>
            </a:r>
            <a:r>
              <a:rPr sz="145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50" dirty="0">
                <a:solidFill>
                  <a:srgbClr val="3A362F"/>
                </a:solidFill>
                <a:latin typeface="Arial MT"/>
                <a:cs typeface="Arial MT"/>
              </a:rPr>
              <a:t>to</a:t>
            </a:r>
            <a:r>
              <a:rPr sz="145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55" dirty="0">
                <a:solidFill>
                  <a:srgbClr val="3A362F"/>
                </a:solidFill>
                <a:latin typeface="Arial MT"/>
                <a:cs typeface="Arial MT"/>
              </a:rPr>
              <a:t>all</a:t>
            </a:r>
            <a:r>
              <a:rPr sz="145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50" dirty="0">
                <a:solidFill>
                  <a:srgbClr val="3A362F"/>
                </a:solidFill>
                <a:latin typeface="Arial MT"/>
                <a:cs typeface="Arial MT"/>
              </a:rPr>
              <a:t>specialties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98968" y="10922959"/>
            <a:ext cx="29209" cy="50165"/>
          </a:xfrm>
          <a:custGeom>
            <a:avLst/>
            <a:gdLst/>
            <a:ahLst/>
            <a:cxnLst/>
            <a:rect l="l" t="t" r="r" b="b"/>
            <a:pathLst>
              <a:path w="29210" h="50165">
                <a:moveTo>
                  <a:pt x="14605" y="5293"/>
                </a:moveTo>
                <a:lnTo>
                  <a:pt x="9639" y="1946"/>
                </a:lnTo>
                <a:lnTo>
                  <a:pt x="0" y="0"/>
                </a:lnTo>
                <a:lnTo>
                  <a:pt x="29210" y="0"/>
                </a:lnTo>
                <a:lnTo>
                  <a:pt x="19570" y="1946"/>
                </a:lnTo>
                <a:lnTo>
                  <a:pt x="14605" y="5293"/>
                </a:lnTo>
                <a:close/>
              </a:path>
              <a:path w="29210" h="50165">
                <a:moveTo>
                  <a:pt x="24765" y="49840"/>
                </a:moveTo>
                <a:lnTo>
                  <a:pt x="4445" y="49840"/>
                </a:lnTo>
                <a:lnTo>
                  <a:pt x="4445" y="24765"/>
                </a:lnTo>
                <a:lnTo>
                  <a:pt x="6391" y="15125"/>
                </a:lnTo>
                <a:lnTo>
                  <a:pt x="11698" y="7253"/>
                </a:lnTo>
                <a:lnTo>
                  <a:pt x="14605" y="5293"/>
                </a:lnTo>
                <a:lnTo>
                  <a:pt x="17511" y="7253"/>
                </a:lnTo>
                <a:lnTo>
                  <a:pt x="22818" y="15125"/>
                </a:lnTo>
                <a:lnTo>
                  <a:pt x="24765" y="24765"/>
                </a:lnTo>
                <a:lnTo>
                  <a:pt x="24765" y="49840"/>
                </a:lnTo>
                <a:close/>
              </a:path>
            </a:pathLst>
          </a:custGeom>
          <a:solidFill>
            <a:srgbClr val="D9C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87900" y="10100468"/>
            <a:ext cx="628015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180" dirty="0">
                <a:solidFill>
                  <a:srgbClr val="3A362F"/>
                </a:solidFill>
                <a:latin typeface="Arial MT"/>
                <a:cs typeface="Arial MT"/>
              </a:rPr>
              <a:t>Week</a:t>
            </a:r>
            <a:r>
              <a:rPr sz="165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3A362F"/>
                </a:solidFill>
                <a:latin typeface="Arial MT"/>
                <a:cs typeface="Arial MT"/>
              </a:rPr>
              <a:t>1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4500" y="10497025"/>
            <a:ext cx="1704339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70" dirty="0">
                <a:solidFill>
                  <a:srgbClr val="3A362F"/>
                </a:solidFill>
                <a:latin typeface="Arial MT"/>
                <a:cs typeface="Arial MT"/>
              </a:rPr>
              <a:t>Pilot</a:t>
            </a:r>
            <a:r>
              <a:rPr sz="1450" spc="-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05" dirty="0">
                <a:solidFill>
                  <a:srgbClr val="3A362F"/>
                </a:solidFill>
                <a:latin typeface="Arial MT"/>
                <a:cs typeface="Arial MT"/>
              </a:rPr>
              <a:t>department</a:t>
            </a:r>
            <a:r>
              <a:rPr sz="1450" spc="-85" dirty="0">
                <a:solidFill>
                  <a:srgbClr val="3A362F"/>
                </a:solidFill>
                <a:latin typeface="Arial MT"/>
                <a:cs typeface="Arial MT"/>
              </a:rPr>
              <a:t> launch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379159" y="10922959"/>
            <a:ext cx="29209" cy="50165"/>
          </a:xfrm>
          <a:custGeom>
            <a:avLst/>
            <a:gdLst/>
            <a:ahLst/>
            <a:cxnLst/>
            <a:rect l="l" t="t" r="r" b="b"/>
            <a:pathLst>
              <a:path w="29209" h="50165">
                <a:moveTo>
                  <a:pt x="14604" y="5293"/>
                </a:moveTo>
                <a:lnTo>
                  <a:pt x="9639" y="1946"/>
                </a:lnTo>
                <a:lnTo>
                  <a:pt x="0" y="0"/>
                </a:lnTo>
                <a:lnTo>
                  <a:pt x="29208" y="0"/>
                </a:lnTo>
                <a:lnTo>
                  <a:pt x="19569" y="1946"/>
                </a:lnTo>
                <a:lnTo>
                  <a:pt x="14604" y="5293"/>
                </a:lnTo>
                <a:close/>
              </a:path>
              <a:path w="29209" h="50165">
                <a:moveTo>
                  <a:pt x="24764" y="49840"/>
                </a:moveTo>
                <a:lnTo>
                  <a:pt x="4444" y="49840"/>
                </a:lnTo>
                <a:lnTo>
                  <a:pt x="4444" y="24765"/>
                </a:lnTo>
                <a:lnTo>
                  <a:pt x="6390" y="15125"/>
                </a:lnTo>
                <a:lnTo>
                  <a:pt x="11698" y="7253"/>
                </a:lnTo>
                <a:lnTo>
                  <a:pt x="14604" y="5293"/>
                </a:lnTo>
                <a:lnTo>
                  <a:pt x="17510" y="7253"/>
                </a:lnTo>
                <a:lnTo>
                  <a:pt x="22818" y="15125"/>
                </a:lnTo>
                <a:lnTo>
                  <a:pt x="24764" y="24765"/>
                </a:lnTo>
                <a:lnTo>
                  <a:pt x="24764" y="49840"/>
                </a:lnTo>
                <a:close/>
              </a:path>
            </a:pathLst>
          </a:custGeom>
          <a:solidFill>
            <a:srgbClr val="D9C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071600" y="10100468"/>
            <a:ext cx="628015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180" dirty="0">
                <a:solidFill>
                  <a:srgbClr val="3A362F"/>
                </a:solidFill>
                <a:latin typeface="Arial MT"/>
                <a:cs typeface="Arial MT"/>
              </a:rPr>
              <a:t>Week</a:t>
            </a:r>
            <a:r>
              <a:rPr sz="165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3A362F"/>
                </a:solidFill>
                <a:latin typeface="Arial MT"/>
                <a:cs typeface="Arial MT"/>
              </a:rPr>
              <a:t>4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49300" y="10497025"/>
            <a:ext cx="185801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95" dirty="0">
                <a:solidFill>
                  <a:srgbClr val="3A362F"/>
                </a:solidFill>
                <a:latin typeface="Arial MT"/>
                <a:cs typeface="Arial MT"/>
              </a:rPr>
              <a:t>Hospital-</a:t>
            </a:r>
            <a:r>
              <a:rPr sz="1450" spc="-110" dirty="0">
                <a:solidFill>
                  <a:srgbClr val="3A362F"/>
                </a:solidFill>
                <a:latin typeface="Arial MT"/>
                <a:cs typeface="Arial MT"/>
              </a:rPr>
              <a:t>wide</a:t>
            </a:r>
            <a:r>
              <a:rPr sz="1450" spc="-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450" spc="-100" dirty="0">
                <a:solidFill>
                  <a:srgbClr val="3A362F"/>
                </a:solidFill>
                <a:latin typeface="Arial MT"/>
                <a:cs typeface="Arial MT"/>
              </a:rPr>
              <a:t>deployment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315200" cy="109728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145427" y="1000775"/>
            <a:ext cx="1236345" cy="445770"/>
            <a:chOff x="8145427" y="1000775"/>
            <a:chExt cx="1236345" cy="445770"/>
          </a:xfrm>
        </p:grpSpPr>
        <p:sp>
          <p:nvSpPr>
            <p:cNvPr id="4" name="object 4"/>
            <p:cNvSpPr/>
            <p:nvPr/>
          </p:nvSpPr>
          <p:spPr>
            <a:xfrm>
              <a:off x="8145427" y="1000775"/>
              <a:ext cx="1236345" cy="445770"/>
            </a:xfrm>
            <a:custGeom>
              <a:avLst/>
              <a:gdLst/>
              <a:ahLst/>
              <a:cxnLst/>
              <a:rect l="l" t="t" r="r" b="b"/>
              <a:pathLst>
                <a:path w="1236345" h="445769">
                  <a:moveTo>
                    <a:pt x="1207643" y="445769"/>
                  </a:moveTo>
                  <a:lnTo>
                    <a:pt x="28447" y="445769"/>
                  </a:lnTo>
                  <a:lnTo>
                    <a:pt x="17374" y="443534"/>
                  </a:lnTo>
                  <a:lnTo>
                    <a:pt x="8332" y="437437"/>
                  </a:lnTo>
                  <a:lnTo>
                    <a:pt x="2235" y="428395"/>
                  </a:lnTo>
                  <a:lnTo>
                    <a:pt x="0" y="417322"/>
                  </a:lnTo>
                  <a:lnTo>
                    <a:pt x="0" y="28447"/>
                  </a:lnTo>
                  <a:lnTo>
                    <a:pt x="2235" y="17374"/>
                  </a:lnTo>
                  <a:lnTo>
                    <a:pt x="8332" y="8332"/>
                  </a:lnTo>
                  <a:lnTo>
                    <a:pt x="17374" y="2235"/>
                  </a:lnTo>
                  <a:lnTo>
                    <a:pt x="28447" y="0"/>
                  </a:lnTo>
                  <a:lnTo>
                    <a:pt x="1207643" y="0"/>
                  </a:lnTo>
                  <a:lnTo>
                    <a:pt x="1218716" y="2235"/>
                  </a:lnTo>
                  <a:lnTo>
                    <a:pt x="1227759" y="8332"/>
                  </a:lnTo>
                  <a:lnTo>
                    <a:pt x="1233855" y="17374"/>
                  </a:lnTo>
                  <a:lnTo>
                    <a:pt x="1236091" y="28447"/>
                  </a:lnTo>
                  <a:lnTo>
                    <a:pt x="1236091" y="417322"/>
                  </a:lnTo>
                  <a:lnTo>
                    <a:pt x="1233855" y="428395"/>
                  </a:lnTo>
                  <a:lnTo>
                    <a:pt x="1227759" y="437437"/>
                  </a:lnTo>
                  <a:lnTo>
                    <a:pt x="1218716" y="443534"/>
                  </a:lnTo>
                  <a:lnTo>
                    <a:pt x="1207643" y="445769"/>
                  </a:lnTo>
                  <a:close/>
                </a:path>
              </a:pathLst>
            </a:custGeom>
            <a:solidFill>
              <a:srgbClr val="E2EC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3100" y="1130299"/>
              <a:ext cx="190500" cy="1905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547100" y="1070768"/>
            <a:ext cx="755015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225" dirty="0">
                <a:solidFill>
                  <a:srgbClr val="3A362F"/>
                </a:solidFill>
                <a:latin typeface="Arial MT"/>
                <a:cs typeface="Arial MT"/>
              </a:rPr>
              <a:t>PHASE</a:t>
            </a:r>
            <a:r>
              <a:rPr sz="165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3A362F"/>
                </a:solidFill>
                <a:latin typeface="Arial MT"/>
                <a:cs typeface="Arial MT"/>
              </a:rPr>
              <a:t>6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>
              <a:lnSpc>
                <a:spcPts val="5500"/>
              </a:lnSpc>
              <a:spcBef>
                <a:spcPts val="440"/>
              </a:spcBef>
            </a:pPr>
            <a:r>
              <a:rPr spc="-245" dirty="0"/>
              <a:t>Maintenance</a:t>
            </a:r>
            <a:r>
              <a:rPr spc="-275" dirty="0"/>
              <a:t> </a:t>
            </a:r>
            <a:r>
              <a:rPr spc="-360" dirty="0"/>
              <a:t>Phase:</a:t>
            </a:r>
            <a:r>
              <a:rPr spc="-235" dirty="0"/>
              <a:t> </a:t>
            </a:r>
            <a:r>
              <a:rPr spc="-305" dirty="0"/>
              <a:t>Ongoing</a:t>
            </a:r>
            <a:r>
              <a:rPr spc="-204" dirty="0"/>
              <a:t> </a:t>
            </a:r>
            <a:r>
              <a:rPr spc="-305" dirty="0"/>
              <a:t>Support, </a:t>
            </a:r>
            <a:r>
              <a:rPr spc="-310" dirty="0"/>
              <a:t>Updates,</a:t>
            </a:r>
            <a:r>
              <a:rPr spc="-360" dirty="0"/>
              <a:t> </a:t>
            </a:r>
            <a:r>
              <a:rPr spc="-280" dirty="0"/>
              <a:t>and</a:t>
            </a:r>
            <a:r>
              <a:rPr spc="-335" dirty="0"/>
              <a:t> </a:t>
            </a:r>
            <a:r>
              <a:rPr spc="-254" dirty="0"/>
              <a:t>Performance</a:t>
            </a:r>
            <a:r>
              <a:rPr spc="-290" dirty="0"/>
              <a:t> </a:t>
            </a:r>
            <a:r>
              <a:rPr spc="-100" dirty="0"/>
              <a:t>Monitoring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0700" y="3289300"/>
            <a:ext cx="596900" cy="5969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0700" y="5156200"/>
            <a:ext cx="596900" cy="5969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0700" y="7023100"/>
            <a:ext cx="596900" cy="5969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705"/>
              </a:spcBef>
            </a:pPr>
            <a:r>
              <a:rPr spc="-30" dirty="0"/>
              <a:t>24/7</a:t>
            </a:r>
            <a:r>
              <a:rPr spc="-114" dirty="0"/>
              <a:t> </a:t>
            </a:r>
            <a:r>
              <a:rPr spc="-105" dirty="0"/>
              <a:t>Support</a:t>
            </a:r>
            <a:r>
              <a:rPr spc="-120" dirty="0"/>
              <a:t> </a:t>
            </a:r>
            <a:r>
              <a:rPr spc="-20" dirty="0"/>
              <a:t>Desk</a:t>
            </a:r>
          </a:p>
          <a:p>
            <a:pPr marL="546100" marR="690880">
              <a:lnSpc>
                <a:spcPct val="115100"/>
              </a:lnSpc>
              <a:spcBef>
                <a:spcPts val="1060"/>
              </a:spcBef>
            </a:pPr>
            <a:r>
              <a:rPr sz="2100" spc="-150" dirty="0"/>
              <a:t>Dedicated</a:t>
            </a:r>
            <a:r>
              <a:rPr sz="2100" spc="-100" dirty="0"/>
              <a:t> </a:t>
            </a:r>
            <a:r>
              <a:rPr sz="2100" spc="-150" dirty="0"/>
              <a:t>helpdesk</a:t>
            </a:r>
            <a:r>
              <a:rPr sz="2100" spc="-90" dirty="0"/>
              <a:t> </a:t>
            </a:r>
            <a:r>
              <a:rPr sz="2100" spc="-120" dirty="0"/>
              <a:t>team</a:t>
            </a:r>
            <a:r>
              <a:rPr sz="2100" spc="-204" dirty="0"/>
              <a:t> </a:t>
            </a:r>
            <a:r>
              <a:rPr sz="2100" spc="-114" dirty="0"/>
              <a:t>providing</a:t>
            </a:r>
            <a:r>
              <a:rPr sz="2100" spc="-95" dirty="0"/>
              <a:t> </a:t>
            </a:r>
            <a:r>
              <a:rPr sz="2100" spc="-180" dirty="0"/>
              <a:t>round-</a:t>
            </a:r>
            <a:r>
              <a:rPr sz="2100" spc="-145" dirty="0"/>
              <a:t>the-</a:t>
            </a:r>
            <a:r>
              <a:rPr sz="2100" spc="-100" dirty="0"/>
              <a:t>clock</a:t>
            </a:r>
            <a:r>
              <a:rPr sz="2100" spc="-90" dirty="0"/>
              <a:t> </a:t>
            </a:r>
            <a:r>
              <a:rPr sz="2100" spc="-105" dirty="0"/>
              <a:t>technical</a:t>
            </a:r>
            <a:r>
              <a:rPr sz="2100" spc="-95" dirty="0"/>
              <a:t> </a:t>
            </a:r>
            <a:r>
              <a:rPr sz="2100" spc="-120" dirty="0"/>
              <a:t>assistance</a:t>
            </a:r>
            <a:r>
              <a:rPr sz="2100" spc="-25" dirty="0"/>
              <a:t> </a:t>
            </a:r>
            <a:r>
              <a:rPr sz="2100" spc="-90" dirty="0"/>
              <a:t>with</a:t>
            </a:r>
            <a:r>
              <a:rPr sz="2100" spc="-185" dirty="0"/>
              <a:t> </a:t>
            </a:r>
            <a:r>
              <a:rPr sz="2100" spc="-30" dirty="0"/>
              <a:t>average </a:t>
            </a:r>
            <a:r>
              <a:rPr sz="2100" spc="-155" dirty="0"/>
              <a:t>response</a:t>
            </a:r>
            <a:r>
              <a:rPr sz="2100" spc="-60" dirty="0"/>
              <a:t> </a:t>
            </a:r>
            <a:r>
              <a:rPr sz="2100" spc="-110" dirty="0"/>
              <a:t>time</a:t>
            </a:r>
            <a:r>
              <a:rPr sz="2100" spc="-165" dirty="0"/>
              <a:t> </a:t>
            </a:r>
            <a:r>
              <a:rPr sz="2100" spc="-145" dirty="0"/>
              <a:t>under</a:t>
            </a:r>
            <a:r>
              <a:rPr sz="2100" spc="-200" dirty="0"/>
              <a:t> </a:t>
            </a:r>
            <a:r>
              <a:rPr sz="2100" spc="-160" dirty="0"/>
              <a:t>15</a:t>
            </a:r>
            <a:r>
              <a:rPr sz="2100" spc="-120" dirty="0"/>
              <a:t> </a:t>
            </a:r>
            <a:r>
              <a:rPr sz="2100" spc="-114" dirty="0"/>
              <a:t>minutes</a:t>
            </a:r>
            <a:r>
              <a:rPr sz="2100" spc="-135" dirty="0"/>
              <a:t> </a:t>
            </a:r>
            <a:r>
              <a:rPr sz="2100" spc="-80" dirty="0"/>
              <a:t>for</a:t>
            </a:r>
            <a:r>
              <a:rPr sz="2100" spc="-90" dirty="0"/>
              <a:t> </a:t>
            </a:r>
            <a:r>
              <a:rPr sz="2100" spc="-75" dirty="0"/>
              <a:t>critical</a:t>
            </a:r>
            <a:r>
              <a:rPr sz="2100" spc="-120" dirty="0"/>
              <a:t> </a:t>
            </a:r>
            <a:r>
              <a:rPr sz="2100" spc="-10" dirty="0"/>
              <a:t>issues.</a:t>
            </a:r>
            <a:endParaRPr sz="2100"/>
          </a:p>
          <a:p>
            <a:pPr>
              <a:lnSpc>
                <a:spcPct val="100000"/>
              </a:lnSpc>
            </a:pPr>
            <a:endParaRPr sz="1900"/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900"/>
          </a:p>
          <a:p>
            <a:pPr marL="546100">
              <a:lnSpc>
                <a:spcPct val="100000"/>
              </a:lnSpc>
              <a:spcBef>
                <a:spcPts val="5"/>
              </a:spcBef>
            </a:pPr>
            <a:r>
              <a:rPr spc="-145" dirty="0"/>
              <a:t>Regular</a:t>
            </a:r>
            <a:r>
              <a:rPr spc="-114" dirty="0"/>
              <a:t> </a:t>
            </a:r>
            <a:r>
              <a:rPr spc="-10" dirty="0"/>
              <a:t>Updates</a:t>
            </a:r>
          </a:p>
          <a:p>
            <a:pPr marL="546100" marR="325755">
              <a:lnSpc>
                <a:spcPct val="115100"/>
              </a:lnSpc>
              <a:spcBef>
                <a:spcPts val="955"/>
              </a:spcBef>
            </a:pPr>
            <a:r>
              <a:rPr sz="2100" spc="-125" dirty="0"/>
              <a:t>Monthly</a:t>
            </a:r>
            <a:r>
              <a:rPr sz="2100" spc="-140" dirty="0"/>
              <a:t> maintenance</a:t>
            </a:r>
            <a:r>
              <a:rPr sz="2100" spc="-150" dirty="0"/>
              <a:t> </a:t>
            </a:r>
            <a:r>
              <a:rPr sz="2100" spc="-130" dirty="0"/>
              <a:t>windows</a:t>
            </a:r>
            <a:r>
              <a:rPr sz="2100" spc="-114" dirty="0"/>
              <a:t> </a:t>
            </a:r>
            <a:r>
              <a:rPr sz="2100" spc="-80" dirty="0"/>
              <a:t>for</a:t>
            </a:r>
            <a:r>
              <a:rPr sz="2100" spc="-75" dirty="0"/>
              <a:t> </a:t>
            </a:r>
            <a:r>
              <a:rPr sz="2100" spc="-120" dirty="0"/>
              <a:t>security</a:t>
            </a:r>
            <a:r>
              <a:rPr sz="2100" spc="-140" dirty="0"/>
              <a:t> </a:t>
            </a:r>
            <a:r>
              <a:rPr sz="2100" spc="-135" dirty="0"/>
              <a:t>patches,</a:t>
            </a:r>
            <a:r>
              <a:rPr sz="2100" spc="-220" dirty="0"/>
              <a:t> </a:t>
            </a:r>
            <a:r>
              <a:rPr sz="2100" spc="-135" dirty="0"/>
              <a:t>bug</a:t>
            </a:r>
            <a:r>
              <a:rPr sz="2100" spc="-105" dirty="0"/>
              <a:t> </a:t>
            </a:r>
            <a:r>
              <a:rPr sz="2100" spc="-120" dirty="0"/>
              <a:t>fixes,</a:t>
            </a:r>
            <a:r>
              <a:rPr sz="2100" spc="-220" dirty="0"/>
              <a:t> </a:t>
            </a:r>
            <a:r>
              <a:rPr sz="2100" spc="-125" dirty="0"/>
              <a:t>and</a:t>
            </a:r>
            <a:r>
              <a:rPr sz="2100" spc="-105" dirty="0"/>
              <a:t> </a:t>
            </a:r>
            <a:r>
              <a:rPr sz="2100" spc="-120" dirty="0"/>
              <a:t>feature</a:t>
            </a:r>
            <a:r>
              <a:rPr sz="2100" spc="-150" dirty="0"/>
              <a:t> </a:t>
            </a:r>
            <a:r>
              <a:rPr sz="2100" spc="-85" dirty="0"/>
              <a:t>enhancements </a:t>
            </a:r>
            <a:r>
              <a:rPr sz="2100" spc="-150" dirty="0"/>
              <a:t>based</a:t>
            </a:r>
            <a:r>
              <a:rPr sz="2100" spc="-130" dirty="0"/>
              <a:t> </a:t>
            </a:r>
            <a:r>
              <a:rPr sz="2100" spc="-155" dirty="0"/>
              <a:t>on</a:t>
            </a:r>
            <a:r>
              <a:rPr sz="2100" spc="-105" dirty="0"/>
              <a:t> </a:t>
            </a:r>
            <a:r>
              <a:rPr sz="2100" spc="-155" dirty="0"/>
              <a:t>user</a:t>
            </a:r>
            <a:r>
              <a:rPr sz="2100" spc="-204" dirty="0"/>
              <a:t> </a:t>
            </a:r>
            <a:r>
              <a:rPr sz="2100" spc="-10" dirty="0"/>
              <a:t>feedback.</a:t>
            </a:r>
            <a:endParaRPr sz="2100"/>
          </a:p>
          <a:p>
            <a:pPr>
              <a:lnSpc>
                <a:spcPct val="100000"/>
              </a:lnSpc>
            </a:pPr>
            <a:endParaRPr sz="1900"/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900"/>
          </a:p>
          <a:p>
            <a:pPr marL="546100">
              <a:lnSpc>
                <a:spcPct val="100000"/>
              </a:lnSpc>
              <a:spcBef>
                <a:spcPts val="5"/>
              </a:spcBef>
            </a:pPr>
            <a:r>
              <a:rPr spc="-110" dirty="0"/>
              <a:t>Performance</a:t>
            </a:r>
            <a:r>
              <a:rPr spc="-55" dirty="0"/>
              <a:t> </a:t>
            </a:r>
            <a:r>
              <a:rPr spc="-10" dirty="0"/>
              <a:t>Monitoring</a:t>
            </a:r>
          </a:p>
          <a:p>
            <a:pPr marL="546100" marR="152400">
              <a:lnSpc>
                <a:spcPct val="115100"/>
              </a:lnSpc>
              <a:spcBef>
                <a:spcPts val="955"/>
              </a:spcBef>
            </a:pPr>
            <a:r>
              <a:rPr sz="2100" spc="-220" dirty="0"/>
              <a:t>Real-</a:t>
            </a:r>
            <a:r>
              <a:rPr sz="2100" spc="-85" dirty="0"/>
              <a:t>time</a:t>
            </a:r>
            <a:r>
              <a:rPr sz="2100" spc="-150" dirty="0"/>
              <a:t> </a:t>
            </a:r>
            <a:r>
              <a:rPr sz="2100" spc="-130" dirty="0"/>
              <a:t>system</a:t>
            </a:r>
            <a:r>
              <a:rPr sz="2100" spc="-210" dirty="0"/>
              <a:t> </a:t>
            </a:r>
            <a:r>
              <a:rPr sz="2100" spc="-110" dirty="0"/>
              <a:t>health</a:t>
            </a:r>
            <a:r>
              <a:rPr sz="2100" spc="-185" dirty="0"/>
              <a:t> </a:t>
            </a:r>
            <a:r>
              <a:rPr sz="2100" spc="-135" dirty="0"/>
              <a:t>dashboards</a:t>
            </a:r>
            <a:r>
              <a:rPr sz="2100" spc="-114" dirty="0"/>
              <a:t> tracking</a:t>
            </a:r>
            <a:r>
              <a:rPr sz="2100" spc="-100" dirty="0"/>
              <a:t> </a:t>
            </a:r>
            <a:r>
              <a:rPr sz="2100" spc="-135" dirty="0"/>
              <a:t>uptime,</a:t>
            </a:r>
            <a:r>
              <a:rPr sz="2100" spc="-110" dirty="0"/>
              <a:t> </a:t>
            </a:r>
            <a:r>
              <a:rPr sz="2100" spc="-160" dirty="0"/>
              <a:t>response</a:t>
            </a:r>
            <a:r>
              <a:rPr sz="2100" spc="-145" dirty="0"/>
              <a:t> </a:t>
            </a:r>
            <a:r>
              <a:rPr sz="2100" spc="-120" dirty="0"/>
              <a:t>times,</a:t>
            </a:r>
            <a:r>
              <a:rPr sz="2100" spc="-110" dirty="0"/>
              <a:t> </a:t>
            </a:r>
            <a:r>
              <a:rPr sz="2100" spc="-160" dirty="0"/>
              <a:t>and</a:t>
            </a:r>
            <a:r>
              <a:rPr sz="2100" spc="-105" dirty="0"/>
              <a:t> </a:t>
            </a:r>
            <a:r>
              <a:rPr sz="2100" spc="-155" dirty="0"/>
              <a:t>user</a:t>
            </a:r>
            <a:r>
              <a:rPr sz="2100" spc="-185" dirty="0"/>
              <a:t> </a:t>
            </a:r>
            <a:r>
              <a:rPr sz="2100" spc="-80" dirty="0"/>
              <a:t>activity</a:t>
            </a:r>
            <a:r>
              <a:rPr sz="2100" spc="-135" dirty="0"/>
              <a:t> </a:t>
            </a:r>
            <a:r>
              <a:rPr sz="2100" spc="-20" dirty="0"/>
              <a:t>with </a:t>
            </a:r>
            <a:r>
              <a:rPr sz="2100" spc="-120" dirty="0"/>
              <a:t>proactive</a:t>
            </a:r>
            <a:r>
              <a:rPr sz="2100" spc="-114" dirty="0"/>
              <a:t> </a:t>
            </a:r>
            <a:r>
              <a:rPr sz="2100" spc="-10" dirty="0"/>
              <a:t>alerts.</a:t>
            </a:r>
            <a:endParaRPr sz="2100"/>
          </a:p>
          <a:p>
            <a:pPr>
              <a:lnSpc>
                <a:spcPct val="100000"/>
              </a:lnSpc>
            </a:pPr>
            <a:endParaRPr sz="190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/>
          </a:p>
          <a:p>
            <a:pPr marL="12700" marR="5080">
              <a:lnSpc>
                <a:spcPct val="115100"/>
              </a:lnSpc>
            </a:pPr>
            <a:r>
              <a:rPr sz="2100" spc="-180" dirty="0"/>
              <a:t>"The</a:t>
            </a:r>
            <a:r>
              <a:rPr sz="2100" spc="-160" dirty="0"/>
              <a:t> </a:t>
            </a:r>
            <a:r>
              <a:rPr sz="2100" spc="-125" dirty="0"/>
              <a:t>continuous</a:t>
            </a:r>
            <a:r>
              <a:rPr sz="2100" spc="-120" dirty="0"/>
              <a:t> </a:t>
            </a:r>
            <a:r>
              <a:rPr sz="2100" spc="-135" dirty="0"/>
              <a:t>improvement</a:t>
            </a:r>
            <a:r>
              <a:rPr sz="2100" spc="-60" dirty="0"/>
              <a:t> </a:t>
            </a:r>
            <a:r>
              <a:rPr sz="2100" spc="-145" dirty="0"/>
              <a:t>approach</a:t>
            </a:r>
            <a:r>
              <a:rPr sz="2100" spc="-195" dirty="0"/>
              <a:t> </a:t>
            </a:r>
            <a:r>
              <a:rPr sz="2100" spc="-114" dirty="0"/>
              <a:t>has</a:t>
            </a:r>
            <a:r>
              <a:rPr sz="2100" spc="-229" dirty="0"/>
              <a:t> </a:t>
            </a:r>
            <a:r>
              <a:rPr sz="2100" spc="-105" dirty="0"/>
              <a:t>kept</a:t>
            </a:r>
            <a:r>
              <a:rPr sz="2100" spc="-170" dirty="0"/>
              <a:t> </a:t>
            </a:r>
            <a:r>
              <a:rPr sz="2100" spc="-120" dirty="0"/>
              <a:t>the</a:t>
            </a:r>
            <a:r>
              <a:rPr sz="2100" spc="-45" dirty="0"/>
              <a:t> </a:t>
            </a:r>
            <a:r>
              <a:rPr sz="2100" spc="-130" dirty="0"/>
              <a:t>system</a:t>
            </a:r>
            <a:r>
              <a:rPr sz="2100" spc="-220" dirty="0"/>
              <a:t> </a:t>
            </a:r>
            <a:r>
              <a:rPr sz="2100" spc="-130" dirty="0"/>
              <a:t>running</a:t>
            </a:r>
            <a:r>
              <a:rPr sz="2100" spc="-110" dirty="0"/>
              <a:t> </a:t>
            </a:r>
            <a:r>
              <a:rPr sz="2100" spc="-120" dirty="0"/>
              <a:t>smoothly</a:t>
            </a:r>
            <a:r>
              <a:rPr sz="2100" spc="-145" dirty="0"/>
              <a:t> </a:t>
            </a:r>
            <a:r>
              <a:rPr sz="2100" spc="-90" dirty="0"/>
              <a:t>with</a:t>
            </a:r>
            <a:r>
              <a:rPr sz="2100" spc="-195" dirty="0"/>
              <a:t> 99.8%</a:t>
            </a:r>
            <a:r>
              <a:rPr sz="2100" spc="-135" dirty="0"/>
              <a:t> </a:t>
            </a:r>
            <a:r>
              <a:rPr sz="2100" spc="-10" dirty="0"/>
              <a:t>uptime </a:t>
            </a:r>
            <a:r>
              <a:rPr sz="2100" spc="-105" dirty="0"/>
              <a:t>in</a:t>
            </a:r>
            <a:r>
              <a:rPr sz="2100" spc="-114" dirty="0"/>
              <a:t> </a:t>
            </a:r>
            <a:r>
              <a:rPr sz="2100" spc="-120" dirty="0"/>
              <a:t>the</a:t>
            </a:r>
            <a:r>
              <a:rPr sz="2100" spc="-170" dirty="0"/>
              <a:t> </a:t>
            </a:r>
            <a:r>
              <a:rPr sz="2100" spc="-45" dirty="0"/>
              <a:t>first</a:t>
            </a:r>
            <a:r>
              <a:rPr sz="2100" spc="-80" dirty="0"/>
              <a:t> </a:t>
            </a:r>
            <a:r>
              <a:rPr sz="2100" spc="-90" dirty="0"/>
              <a:t>six</a:t>
            </a:r>
            <a:r>
              <a:rPr sz="2100" spc="-210" dirty="0"/>
              <a:t> </a:t>
            </a:r>
            <a:r>
              <a:rPr sz="2100" spc="-10" dirty="0"/>
              <a:t>months."</a:t>
            </a:r>
            <a:endParaRPr sz="2100"/>
          </a:p>
        </p:txBody>
      </p:sp>
      <p:sp>
        <p:nvSpPr>
          <p:cNvPr id="12" name="object 12"/>
          <p:cNvSpPr/>
          <p:nvPr/>
        </p:nvSpPr>
        <p:spPr>
          <a:xfrm>
            <a:off x="8145427" y="8679946"/>
            <a:ext cx="30480" cy="1292225"/>
          </a:xfrm>
          <a:custGeom>
            <a:avLst/>
            <a:gdLst/>
            <a:ahLst/>
            <a:cxnLst/>
            <a:rect l="l" t="t" r="r" b="b"/>
            <a:pathLst>
              <a:path w="30479" h="1292225">
                <a:moveTo>
                  <a:pt x="30480" y="1292225"/>
                </a:moveTo>
                <a:lnTo>
                  <a:pt x="0" y="1292225"/>
                </a:lnTo>
                <a:lnTo>
                  <a:pt x="0" y="0"/>
                </a:lnTo>
                <a:lnTo>
                  <a:pt x="30480" y="0"/>
                </a:lnTo>
                <a:lnTo>
                  <a:pt x="30480" y="129222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670718"/>
            <a:ext cx="14775180" cy="182181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6800"/>
              </a:lnSpc>
              <a:spcBef>
                <a:spcPts val="740"/>
              </a:spcBef>
            </a:pPr>
            <a:r>
              <a:rPr sz="6100" spc="-600" dirty="0"/>
              <a:t>Key</a:t>
            </a:r>
            <a:r>
              <a:rPr sz="6100" spc="-375" dirty="0"/>
              <a:t> </a:t>
            </a:r>
            <a:r>
              <a:rPr sz="6100" spc="-430" dirty="0"/>
              <a:t>Challenges:</a:t>
            </a:r>
            <a:r>
              <a:rPr sz="6100" spc="-405" dirty="0"/>
              <a:t> </a:t>
            </a:r>
            <a:r>
              <a:rPr sz="6100" spc="-340" dirty="0"/>
              <a:t>Technical</a:t>
            </a:r>
            <a:r>
              <a:rPr sz="6100" spc="-409" dirty="0"/>
              <a:t> </a:t>
            </a:r>
            <a:r>
              <a:rPr sz="6100" spc="-365" dirty="0"/>
              <a:t>Hurdles</a:t>
            </a:r>
            <a:r>
              <a:rPr sz="6100" spc="-515" dirty="0"/>
              <a:t> </a:t>
            </a:r>
            <a:r>
              <a:rPr sz="6100" spc="-409" dirty="0"/>
              <a:t>and</a:t>
            </a:r>
            <a:r>
              <a:rPr sz="6100" spc="-375" dirty="0"/>
              <a:t> </a:t>
            </a:r>
            <a:r>
              <a:rPr sz="6100" spc="-320" dirty="0"/>
              <a:t>Solutions </a:t>
            </a:r>
            <a:r>
              <a:rPr sz="6100" spc="-370" dirty="0"/>
              <a:t>Throughout</a:t>
            </a:r>
            <a:r>
              <a:rPr sz="6100" spc="-385" dirty="0"/>
              <a:t> </a:t>
            </a:r>
            <a:r>
              <a:rPr sz="6100" spc="-445" dirty="0"/>
              <a:t>Development</a:t>
            </a:r>
            <a:endParaRPr sz="6100"/>
          </a:p>
        </p:txBody>
      </p:sp>
      <p:grpSp>
        <p:nvGrpSpPr>
          <p:cNvPr id="3" name="object 3"/>
          <p:cNvGrpSpPr/>
          <p:nvPr/>
        </p:nvGrpSpPr>
        <p:grpSpPr>
          <a:xfrm>
            <a:off x="996647" y="3130915"/>
            <a:ext cx="8629650" cy="3402965"/>
            <a:chOff x="996647" y="3130915"/>
            <a:chExt cx="8629650" cy="3402965"/>
          </a:xfrm>
        </p:grpSpPr>
        <p:sp>
          <p:nvSpPr>
            <p:cNvPr id="4" name="object 4"/>
            <p:cNvSpPr/>
            <p:nvPr/>
          </p:nvSpPr>
          <p:spPr>
            <a:xfrm>
              <a:off x="1037287" y="3151235"/>
              <a:ext cx="8568690" cy="3362325"/>
            </a:xfrm>
            <a:custGeom>
              <a:avLst/>
              <a:gdLst/>
              <a:ahLst/>
              <a:cxnLst/>
              <a:rect l="l" t="t" r="r" b="b"/>
              <a:pathLst>
                <a:path w="8568690" h="3362325">
                  <a:moveTo>
                    <a:pt x="8373109" y="3362324"/>
                  </a:moveTo>
                  <a:lnTo>
                    <a:pt x="195072" y="3362324"/>
                  </a:lnTo>
                  <a:lnTo>
                    <a:pt x="150343" y="3357176"/>
                  </a:lnTo>
                  <a:lnTo>
                    <a:pt x="109284" y="3342510"/>
                  </a:lnTo>
                  <a:lnTo>
                    <a:pt x="73064" y="3319497"/>
                  </a:lnTo>
                  <a:lnTo>
                    <a:pt x="42855" y="3289307"/>
                  </a:lnTo>
                  <a:lnTo>
                    <a:pt x="19827" y="3253111"/>
                  </a:lnTo>
                  <a:lnTo>
                    <a:pt x="5151" y="3212079"/>
                  </a:lnTo>
                  <a:lnTo>
                    <a:pt x="0" y="3167380"/>
                  </a:lnTo>
                  <a:lnTo>
                    <a:pt x="0" y="195071"/>
                  </a:lnTo>
                  <a:lnTo>
                    <a:pt x="5151" y="150343"/>
                  </a:lnTo>
                  <a:lnTo>
                    <a:pt x="19827" y="109284"/>
                  </a:lnTo>
                  <a:lnTo>
                    <a:pt x="42855" y="73064"/>
                  </a:lnTo>
                  <a:lnTo>
                    <a:pt x="73064" y="42855"/>
                  </a:lnTo>
                  <a:lnTo>
                    <a:pt x="109284" y="19827"/>
                  </a:lnTo>
                  <a:lnTo>
                    <a:pt x="150343" y="5151"/>
                  </a:lnTo>
                  <a:lnTo>
                    <a:pt x="195072" y="0"/>
                  </a:lnTo>
                  <a:lnTo>
                    <a:pt x="8373109" y="0"/>
                  </a:lnTo>
                  <a:lnTo>
                    <a:pt x="8417838" y="5151"/>
                  </a:lnTo>
                  <a:lnTo>
                    <a:pt x="8458897" y="19827"/>
                  </a:lnTo>
                  <a:lnTo>
                    <a:pt x="8495117" y="42855"/>
                  </a:lnTo>
                  <a:lnTo>
                    <a:pt x="8525326" y="73064"/>
                  </a:lnTo>
                  <a:lnTo>
                    <a:pt x="8548354" y="109284"/>
                  </a:lnTo>
                  <a:lnTo>
                    <a:pt x="8563029" y="150343"/>
                  </a:lnTo>
                  <a:lnTo>
                    <a:pt x="8568181" y="195071"/>
                  </a:lnTo>
                  <a:lnTo>
                    <a:pt x="8568181" y="3167380"/>
                  </a:lnTo>
                  <a:lnTo>
                    <a:pt x="8563029" y="3212079"/>
                  </a:lnTo>
                  <a:lnTo>
                    <a:pt x="8548354" y="3253111"/>
                  </a:lnTo>
                  <a:lnTo>
                    <a:pt x="8525326" y="3289307"/>
                  </a:lnTo>
                  <a:lnTo>
                    <a:pt x="8495117" y="3319497"/>
                  </a:lnTo>
                  <a:lnTo>
                    <a:pt x="8458897" y="3342510"/>
                  </a:lnTo>
                  <a:lnTo>
                    <a:pt x="8417838" y="3357176"/>
                  </a:lnTo>
                  <a:lnTo>
                    <a:pt x="8373109" y="3362324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7287" y="3151235"/>
              <a:ext cx="8568690" cy="3362325"/>
            </a:xfrm>
            <a:custGeom>
              <a:avLst/>
              <a:gdLst/>
              <a:ahLst/>
              <a:cxnLst/>
              <a:rect l="l" t="t" r="r" b="b"/>
              <a:pathLst>
                <a:path w="8568690" h="3362325">
                  <a:moveTo>
                    <a:pt x="0" y="3167380"/>
                  </a:moveTo>
                  <a:lnTo>
                    <a:pt x="5151" y="3212079"/>
                  </a:lnTo>
                  <a:lnTo>
                    <a:pt x="19827" y="3253111"/>
                  </a:lnTo>
                  <a:lnTo>
                    <a:pt x="42855" y="3289307"/>
                  </a:lnTo>
                  <a:lnTo>
                    <a:pt x="73064" y="3319497"/>
                  </a:lnTo>
                  <a:lnTo>
                    <a:pt x="109284" y="3342510"/>
                  </a:lnTo>
                  <a:lnTo>
                    <a:pt x="150343" y="3357176"/>
                  </a:lnTo>
                  <a:lnTo>
                    <a:pt x="195072" y="3362324"/>
                  </a:lnTo>
                  <a:lnTo>
                    <a:pt x="8373109" y="3362324"/>
                  </a:lnTo>
                  <a:lnTo>
                    <a:pt x="8417838" y="3357176"/>
                  </a:lnTo>
                  <a:lnTo>
                    <a:pt x="8458897" y="3342510"/>
                  </a:lnTo>
                  <a:lnTo>
                    <a:pt x="8495117" y="3319497"/>
                  </a:lnTo>
                  <a:lnTo>
                    <a:pt x="8525326" y="3289307"/>
                  </a:lnTo>
                  <a:lnTo>
                    <a:pt x="8548354" y="3253111"/>
                  </a:lnTo>
                  <a:lnTo>
                    <a:pt x="8563029" y="3212079"/>
                  </a:lnTo>
                  <a:lnTo>
                    <a:pt x="8568181" y="3167380"/>
                  </a:lnTo>
                  <a:lnTo>
                    <a:pt x="8568181" y="195071"/>
                  </a:lnTo>
                  <a:lnTo>
                    <a:pt x="8563029" y="150343"/>
                  </a:lnTo>
                  <a:lnTo>
                    <a:pt x="8548354" y="109284"/>
                  </a:lnTo>
                  <a:lnTo>
                    <a:pt x="8525326" y="73064"/>
                  </a:lnTo>
                  <a:lnTo>
                    <a:pt x="8495117" y="42855"/>
                  </a:lnTo>
                  <a:lnTo>
                    <a:pt x="8458897" y="19827"/>
                  </a:lnTo>
                  <a:lnTo>
                    <a:pt x="8417838" y="5151"/>
                  </a:lnTo>
                  <a:lnTo>
                    <a:pt x="8373109" y="0"/>
                  </a:lnTo>
                  <a:lnTo>
                    <a:pt x="195072" y="0"/>
                  </a:lnTo>
                  <a:lnTo>
                    <a:pt x="150343" y="5151"/>
                  </a:lnTo>
                  <a:lnTo>
                    <a:pt x="109284" y="19827"/>
                  </a:lnTo>
                  <a:lnTo>
                    <a:pt x="73064" y="42855"/>
                  </a:lnTo>
                  <a:lnTo>
                    <a:pt x="42855" y="73064"/>
                  </a:lnTo>
                  <a:lnTo>
                    <a:pt x="19827" y="109284"/>
                  </a:lnTo>
                  <a:lnTo>
                    <a:pt x="5151" y="150343"/>
                  </a:lnTo>
                  <a:lnTo>
                    <a:pt x="0" y="195071"/>
                  </a:lnTo>
                  <a:lnTo>
                    <a:pt x="0" y="3167380"/>
                  </a:lnTo>
                  <a:close/>
                </a:path>
              </a:pathLst>
            </a:custGeom>
            <a:ln w="40640">
              <a:solidFill>
                <a:srgbClr val="375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6647" y="3151235"/>
              <a:ext cx="162560" cy="3362325"/>
            </a:xfrm>
            <a:custGeom>
              <a:avLst/>
              <a:gdLst/>
              <a:ahLst/>
              <a:cxnLst/>
              <a:rect l="l" t="t" r="r" b="b"/>
              <a:pathLst>
                <a:path w="162559" h="3362325">
                  <a:moveTo>
                    <a:pt x="118110" y="3362324"/>
                  </a:moveTo>
                  <a:lnTo>
                    <a:pt x="44450" y="3362324"/>
                  </a:lnTo>
                  <a:lnTo>
                    <a:pt x="27148" y="3358831"/>
                  </a:lnTo>
                  <a:lnTo>
                    <a:pt x="13019" y="3349305"/>
                  </a:lnTo>
                  <a:lnTo>
                    <a:pt x="3493" y="3335176"/>
                  </a:lnTo>
                  <a:lnTo>
                    <a:pt x="0" y="3317875"/>
                  </a:lnTo>
                  <a:lnTo>
                    <a:pt x="0" y="44450"/>
                  </a:lnTo>
                  <a:lnTo>
                    <a:pt x="3493" y="27148"/>
                  </a:lnTo>
                  <a:lnTo>
                    <a:pt x="13019" y="13019"/>
                  </a:lnTo>
                  <a:lnTo>
                    <a:pt x="27148" y="3493"/>
                  </a:lnTo>
                  <a:lnTo>
                    <a:pt x="44450" y="0"/>
                  </a:lnTo>
                  <a:lnTo>
                    <a:pt x="118110" y="0"/>
                  </a:lnTo>
                  <a:lnTo>
                    <a:pt x="135411" y="3493"/>
                  </a:lnTo>
                  <a:lnTo>
                    <a:pt x="149540" y="13019"/>
                  </a:lnTo>
                  <a:lnTo>
                    <a:pt x="159066" y="27148"/>
                  </a:lnTo>
                  <a:lnTo>
                    <a:pt x="162560" y="44450"/>
                  </a:lnTo>
                  <a:lnTo>
                    <a:pt x="162560" y="3317875"/>
                  </a:lnTo>
                  <a:lnTo>
                    <a:pt x="159066" y="3335176"/>
                  </a:lnTo>
                  <a:lnTo>
                    <a:pt x="149540" y="3349305"/>
                  </a:lnTo>
                  <a:lnTo>
                    <a:pt x="135411" y="3358831"/>
                  </a:lnTo>
                  <a:lnTo>
                    <a:pt x="118110" y="3362324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861223" y="3130915"/>
            <a:ext cx="8629650" cy="3402965"/>
            <a:chOff x="9861223" y="3130915"/>
            <a:chExt cx="8629650" cy="3402965"/>
          </a:xfrm>
        </p:grpSpPr>
        <p:sp>
          <p:nvSpPr>
            <p:cNvPr id="8" name="object 8"/>
            <p:cNvSpPr/>
            <p:nvPr/>
          </p:nvSpPr>
          <p:spPr>
            <a:xfrm>
              <a:off x="9901863" y="3151235"/>
              <a:ext cx="8568690" cy="3362325"/>
            </a:xfrm>
            <a:custGeom>
              <a:avLst/>
              <a:gdLst/>
              <a:ahLst/>
              <a:cxnLst/>
              <a:rect l="l" t="t" r="r" b="b"/>
              <a:pathLst>
                <a:path w="8568690" h="3362325">
                  <a:moveTo>
                    <a:pt x="8373237" y="3362324"/>
                  </a:moveTo>
                  <a:lnTo>
                    <a:pt x="195071" y="3362324"/>
                  </a:lnTo>
                  <a:lnTo>
                    <a:pt x="150343" y="3357176"/>
                  </a:lnTo>
                  <a:lnTo>
                    <a:pt x="109284" y="3342510"/>
                  </a:lnTo>
                  <a:lnTo>
                    <a:pt x="73064" y="3319497"/>
                  </a:lnTo>
                  <a:lnTo>
                    <a:pt x="42855" y="3289307"/>
                  </a:lnTo>
                  <a:lnTo>
                    <a:pt x="19827" y="3253111"/>
                  </a:lnTo>
                  <a:lnTo>
                    <a:pt x="5151" y="3212079"/>
                  </a:lnTo>
                  <a:lnTo>
                    <a:pt x="0" y="3167380"/>
                  </a:lnTo>
                  <a:lnTo>
                    <a:pt x="0" y="195071"/>
                  </a:lnTo>
                  <a:lnTo>
                    <a:pt x="5151" y="150343"/>
                  </a:lnTo>
                  <a:lnTo>
                    <a:pt x="19827" y="109284"/>
                  </a:lnTo>
                  <a:lnTo>
                    <a:pt x="42855" y="73064"/>
                  </a:lnTo>
                  <a:lnTo>
                    <a:pt x="73064" y="42855"/>
                  </a:lnTo>
                  <a:lnTo>
                    <a:pt x="109284" y="19827"/>
                  </a:lnTo>
                  <a:lnTo>
                    <a:pt x="150343" y="5151"/>
                  </a:lnTo>
                  <a:lnTo>
                    <a:pt x="195071" y="0"/>
                  </a:lnTo>
                  <a:lnTo>
                    <a:pt x="8373237" y="0"/>
                  </a:lnTo>
                  <a:lnTo>
                    <a:pt x="8417965" y="5151"/>
                  </a:lnTo>
                  <a:lnTo>
                    <a:pt x="8459024" y="19827"/>
                  </a:lnTo>
                  <a:lnTo>
                    <a:pt x="8495244" y="42855"/>
                  </a:lnTo>
                  <a:lnTo>
                    <a:pt x="8525453" y="73064"/>
                  </a:lnTo>
                  <a:lnTo>
                    <a:pt x="8548480" y="109284"/>
                  </a:lnTo>
                  <a:lnTo>
                    <a:pt x="8563156" y="150343"/>
                  </a:lnTo>
                  <a:lnTo>
                    <a:pt x="8568307" y="195071"/>
                  </a:lnTo>
                  <a:lnTo>
                    <a:pt x="8568307" y="3167380"/>
                  </a:lnTo>
                  <a:lnTo>
                    <a:pt x="8563156" y="3212079"/>
                  </a:lnTo>
                  <a:lnTo>
                    <a:pt x="8548480" y="3253111"/>
                  </a:lnTo>
                  <a:lnTo>
                    <a:pt x="8525453" y="3289307"/>
                  </a:lnTo>
                  <a:lnTo>
                    <a:pt x="8495244" y="3319497"/>
                  </a:lnTo>
                  <a:lnTo>
                    <a:pt x="8459024" y="3342510"/>
                  </a:lnTo>
                  <a:lnTo>
                    <a:pt x="8417965" y="3357176"/>
                  </a:lnTo>
                  <a:lnTo>
                    <a:pt x="8373237" y="3362324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01863" y="3151235"/>
              <a:ext cx="8568690" cy="3362325"/>
            </a:xfrm>
            <a:custGeom>
              <a:avLst/>
              <a:gdLst/>
              <a:ahLst/>
              <a:cxnLst/>
              <a:rect l="l" t="t" r="r" b="b"/>
              <a:pathLst>
                <a:path w="8568690" h="3362325">
                  <a:moveTo>
                    <a:pt x="0" y="3167380"/>
                  </a:moveTo>
                  <a:lnTo>
                    <a:pt x="5151" y="3212079"/>
                  </a:lnTo>
                  <a:lnTo>
                    <a:pt x="19827" y="3253111"/>
                  </a:lnTo>
                  <a:lnTo>
                    <a:pt x="42855" y="3289307"/>
                  </a:lnTo>
                  <a:lnTo>
                    <a:pt x="73064" y="3319497"/>
                  </a:lnTo>
                  <a:lnTo>
                    <a:pt x="109284" y="3342510"/>
                  </a:lnTo>
                  <a:lnTo>
                    <a:pt x="150343" y="3357176"/>
                  </a:lnTo>
                  <a:lnTo>
                    <a:pt x="195071" y="3362324"/>
                  </a:lnTo>
                  <a:lnTo>
                    <a:pt x="8373237" y="3362324"/>
                  </a:lnTo>
                  <a:lnTo>
                    <a:pt x="8417965" y="3357176"/>
                  </a:lnTo>
                  <a:lnTo>
                    <a:pt x="8459024" y="3342510"/>
                  </a:lnTo>
                  <a:lnTo>
                    <a:pt x="8495244" y="3319497"/>
                  </a:lnTo>
                  <a:lnTo>
                    <a:pt x="8525453" y="3289307"/>
                  </a:lnTo>
                  <a:lnTo>
                    <a:pt x="8548480" y="3253111"/>
                  </a:lnTo>
                  <a:lnTo>
                    <a:pt x="8563156" y="3212079"/>
                  </a:lnTo>
                  <a:lnTo>
                    <a:pt x="8568307" y="3167380"/>
                  </a:lnTo>
                  <a:lnTo>
                    <a:pt x="8568307" y="195071"/>
                  </a:lnTo>
                  <a:lnTo>
                    <a:pt x="8563156" y="150343"/>
                  </a:lnTo>
                  <a:lnTo>
                    <a:pt x="8548480" y="109284"/>
                  </a:lnTo>
                  <a:lnTo>
                    <a:pt x="8525453" y="73064"/>
                  </a:lnTo>
                  <a:lnTo>
                    <a:pt x="8495244" y="42855"/>
                  </a:lnTo>
                  <a:lnTo>
                    <a:pt x="8459024" y="19827"/>
                  </a:lnTo>
                  <a:lnTo>
                    <a:pt x="8417965" y="5151"/>
                  </a:lnTo>
                  <a:lnTo>
                    <a:pt x="8373237" y="0"/>
                  </a:lnTo>
                  <a:lnTo>
                    <a:pt x="195071" y="0"/>
                  </a:lnTo>
                  <a:lnTo>
                    <a:pt x="150343" y="5151"/>
                  </a:lnTo>
                  <a:lnTo>
                    <a:pt x="109284" y="19827"/>
                  </a:lnTo>
                  <a:lnTo>
                    <a:pt x="73064" y="42855"/>
                  </a:lnTo>
                  <a:lnTo>
                    <a:pt x="42855" y="73064"/>
                  </a:lnTo>
                  <a:lnTo>
                    <a:pt x="19827" y="109284"/>
                  </a:lnTo>
                  <a:lnTo>
                    <a:pt x="5151" y="150343"/>
                  </a:lnTo>
                  <a:lnTo>
                    <a:pt x="0" y="195071"/>
                  </a:lnTo>
                  <a:lnTo>
                    <a:pt x="0" y="3167380"/>
                  </a:lnTo>
                  <a:close/>
                </a:path>
              </a:pathLst>
            </a:custGeom>
            <a:ln w="40640">
              <a:solidFill>
                <a:srgbClr val="375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61223" y="3151235"/>
              <a:ext cx="162560" cy="3362325"/>
            </a:xfrm>
            <a:custGeom>
              <a:avLst/>
              <a:gdLst/>
              <a:ahLst/>
              <a:cxnLst/>
              <a:rect l="l" t="t" r="r" b="b"/>
              <a:pathLst>
                <a:path w="162559" h="3362325">
                  <a:moveTo>
                    <a:pt x="118109" y="3362324"/>
                  </a:moveTo>
                  <a:lnTo>
                    <a:pt x="44450" y="3362324"/>
                  </a:lnTo>
                  <a:lnTo>
                    <a:pt x="27148" y="3358831"/>
                  </a:lnTo>
                  <a:lnTo>
                    <a:pt x="13019" y="3349305"/>
                  </a:lnTo>
                  <a:lnTo>
                    <a:pt x="3493" y="3335176"/>
                  </a:lnTo>
                  <a:lnTo>
                    <a:pt x="0" y="3317875"/>
                  </a:lnTo>
                  <a:lnTo>
                    <a:pt x="0" y="44450"/>
                  </a:lnTo>
                  <a:lnTo>
                    <a:pt x="3493" y="27148"/>
                  </a:lnTo>
                  <a:lnTo>
                    <a:pt x="13019" y="13019"/>
                  </a:lnTo>
                  <a:lnTo>
                    <a:pt x="27148" y="3493"/>
                  </a:lnTo>
                  <a:lnTo>
                    <a:pt x="44450" y="0"/>
                  </a:lnTo>
                  <a:lnTo>
                    <a:pt x="118109" y="0"/>
                  </a:lnTo>
                  <a:lnTo>
                    <a:pt x="135411" y="3493"/>
                  </a:lnTo>
                  <a:lnTo>
                    <a:pt x="149540" y="13019"/>
                  </a:lnTo>
                  <a:lnTo>
                    <a:pt x="159066" y="27148"/>
                  </a:lnTo>
                  <a:lnTo>
                    <a:pt x="162559" y="44450"/>
                  </a:lnTo>
                  <a:lnTo>
                    <a:pt x="162559" y="3317875"/>
                  </a:lnTo>
                  <a:lnTo>
                    <a:pt x="159066" y="3335176"/>
                  </a:lnTo>
                  <a:lnTo>
                    <a:pt x="149540" y="3349305"/>
                  </a:lnTo>
                  <a:lnTo>
                    <a:pt x="135411" y="3358831"/>
                  </a:lnTo>
                  <a:lnTo>
                    <a:pt x="118109" y="3362324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96647" y="6789682"/>
            <a:ext cx="8629650" cy="3402965"/>
            <a:chOff x="996647" y="6789682"/>
            <a:chExt cx="8629650" cy="3402965"/>
          </a:xfrm>
        </p:grpSpPr>
        <p:sp>
          <p:nvSpPr>
            <p:cNvPr id="12" name="object 12"/>
            <p:cNvSpPr/>
            <p:nvPr/>
          </p:nvSpPr>
          <p:spPr>
            <a:xfrm>
              <a:off x="1037287" y="6810002"/>
              <a:ext cx="8568690" cy="3362325"/>
            </a:xfrm>
            <a:custGeom>
              <a:avLst/>
              <a:gdLst/>
              <a:ahLst/>
              <a:cxnLst/>
              <a:rect l="l" t="t" r="r" b="b"/>
              <a:pathLst>
                <a:path w="8568690" h="3362325">
                  <a:moveTo>
                    <a:pt x="8373109" y="3362325"/>
                  </a:moveTo>
                  <a:lnTo>
                    <a:pt x="195072" y="3362325"/>
                  </a:lnTo>
                  <a:lnTo>
                    <a:pt x="150343" y="3357176"/>
                  </a:lnTo>
                  <a:lnTo>
                    <a:pt x="109284" y="3342510"/>
                  </a:lnTo>
                  <a:lnTo>
                    <a:pt x="73064" y="3319497"/>
                  </a:lnTo>
                  <a:lnTo>
                    <a:pt x="42855" y="3289308"/>
                  </a:lnTo>
                  <a:lnTo>
                    <a:pt x="19827" y="3253111"/>
                  </a:lnTo>
                  <a:lnTo>
                    <a:pt x="5151" y="3212078"/>
                  </a:lnTo>
                  <a:lnTo>
                    <a:pt x="0" y="3167379"/>
                  </a:lnTo>
                  <a:lnTo>
                    <a:pt x="0" y="195071"/>
                  </a:lnTo>
                  <a:lnTo>
                    <a:pt x="5151" y="150343"/>
                  </a:lnTo>
                  <a:lnTo>
                    <a:pt x="19827" y="109284"/>
                  </a:lnTo>
                  <a:lnTo>
                    <a:pt x="42855" y="73064"/>
                  </a:lnTo>
                  <a:lnTo>
                    <a:pt x="73064" y="42855"/>
                  </a:lnTo>
                  <a:lnTo>
                    <a:pt x="109284" y="19827"/>
                  </a:lnTo>
                  <a:lnTo>
                    <a:pt x="150343" y="5151"/>
                  </a:lnTo>
                  <a:lnTo>
                    <a:pt x="195072" y="0"/>
                  </a:lnTo>
                  <a:lnTo>
                    <a:pt x="8373109" y="0"/>
                  </a:lnTo>
                  <a:lnTo>
                    <a:pt x="8417838" y="5151"/>
                  </a:lnTo>
                  <a:lnTo>
                    <a:pt x="8458897" y="19827"/>
                  </a:lnTo>
                  <a:lnTo>
                    <a:pt x="8495117" y="42855"/>
                  </a:lnTo>
                  <a:lnTo>
                    <a:pt x="8525326" y="73064"/>
                  </a:lnTo>
                  <a:lnTo>
                    <a:pt x="8548354" y="109284"/>
                  </a:lnTo>
                  <a:lnTo>
                    <a:pt x="8563029" y="150343"/>
                  </a:lnTo>
                  <a:lnTo>
                    <a:pt x="8568181" y="195071"/>
                  </a:lnTo>
                  <a:lnTo>
                    <a:pt x="8568181" y="3167379"/>
                  </a:lnTo>
                  <a:lnTo>
                    <a:pt x="8563029" y="3212078"/>
                  </a:lnTo>
                  <a:lnTo>
                    <a:pt x="8548354" y="3253111"/>
                  </a:lnTo>
                  <a:lnTo>
                    <a:pt x="8525326" y="3289308"/>
                  </a:lnTo>
                  <a:lnTo>
                    <a:pt x="8495117" y="3319497"/>
                  </a:lnTo>
                  <a:lnTo>
                    <a:pt x="8458897" y="3342510"/>
                  </a:lnTo>
                  <a:lnTo>
                    <a:pt x="8417838" y="3357176"/>
                  </a:lnTo>
                  <a:lnTo>
                    <a:pt x="8373109" y="336232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7287" y="6810002"/>
              <a:ext cx="8568690" cy="3362325"/>
            </a:xfrm>
            <a:custGeom>
              <a:avLst/>
              <a:gdLst/>
              <a:ahLst/>
              <a:cxnLst/>
              <a:rect l="l" t="t" r="r" b="b"/>
              <a:pathLst>
                <a:path w="8568690" h="3362325">
                  <a:moveTo>
                    <a:pt x="0" y="3167379"/>
                  </a:moveTo>
                  <a:lnTo>
                    <a:pt x="5151" y="3212078"/>
                  </a:lnTo>
                  <a:lnTo>
                    <a:pt x="19827" y="3253111"/>
                  </a:lnTo>
                  <a:lnTo>
                    <a:pt x="42855" y="3289308"/>
                  </a:lnTo>
                  <a:lnTo>
                    <a:pt x="73064" y="3319497"/>
                  </a:lnTo>
                  <a:lnTo>
                    <a:pt x="109284" y="3342510"/>
                  </a:lnTo>
                  <a:lnTo>
                    <a:pt x="150343" y="3357176"/>
                  </a:lnTo>
                  <a:lnTo>
                    <a:pt x="195072" y="3362325"/>
                  </a:lnTo>
                  <a:lnTo>
                    <a:pt x="8373109" y="3362325"/>
                  </a:lnTo>
                  <a:lnTo>
                    <a:pt x="8417838" y="3357176"/>
                  </a:lnTo>
                  <a:lnTo>
                    <a:pt x="8458897" y="3342510"/>
                  </a:lnTo>
                  <a:lnTo>
                    <a:pt x="8495117" y="3319497"/>
                  </a:lnTo>
                  <a:lnTo>
                    <a:pt x="8525326" y="3289308"/>
                  </a:lnTo>
                  <a:lnTo>
                    <a:pt x="8548354" y="3253111"/>
                  </a:lnTo>
                  <a:lnTo>
                    <a:pt x="8563029" y="3212078"/>
                  </a:lnTo>
                  <a:lnTo>
                    <a:pt x="8568181" y="3167379"/>
                  </a:lnTo>
                  <a:lnTo>
                    <a:pt x="8568181" y="195071"/>
                  </a:lnTo>
                  <a:lnTo>
                    <a:pt x="8563029" y="150343"/>
                  </a:lnTo>
                  <a:lnTo>
                    <a:pt x="8548354" y="109284"/>
                  </a:lnTo>
                  <a:lnTo>
                    <a:pt x="8525326" y="73064"/>
                  </a:lnTo>
                  <a:lnTo>
                    <a:pt x="8495117" y="42855"/>
                  </a:lnTo>
                  <a:lnTo>
                    <a:pt x="8458897" y="19827"/>
                  </a:lnTo>
                  <a:lnTo>
                    <a:pt x="8417838" y="5151"/>
                  </a:lnTo>
                  <a:lnTo>
                    <a:pt x="8373109" y="0"/>
                  </a:lnTo>
                  <a:lnTo>
                    <a:pt x="195072" y="0"/>
                  </a:lnTo>
                  <a:lnTo>
                    <a:pt x="150343" y="5151"/>
                  </a:lnTo>
                  <a:lnTo>
                    <a:pt x="109284" y="19827"/>
                  </a:lnTo>
                  <a:lnTo>
                    <a:pt x="73064" y="42855"/>
                  </a:lnTo>
                  <a:lnTo>
                    <a:pt x="42855" y="73064"/>
                  </a:lnTo>
                  <a:lnTo>
                    <a:pt x="19827" y="109284"/>
                  </a:lnTo>
                  <a:lnTo>
                    <a:pt x="5151" y="150343"/>
                  </a:lnTo>
                  <a:lnTo>
                    <a:pt x="0" y="195071"/>
                  </a:lnTo>
                  <a:lnTo>
                    <a:pt x="0" y="3167379"/>
                  </a:lnTo>
                  <a:close/>
                </a:path>
              </a:pathLst>
            </a:custGeom>
            <a:ln w="40640">
              <a:solidFill>
                <a:srgbClr val="375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96647" y="6810002"/>
              <a:ext cx="162560" cy="3362325"/>
            </a:xfrm>
            <a:custGeom>
              <a:avLst/>
              <a:gdLst/>
              <a:ahLst/>
              <a:cxnLst/>
              <a:rect l="l" t="t" r="r" b="b"/>
              <a:pathLst>
                <a:path w="162559" h="3362325">
                  <a:moveTo>
                    <a:pt x="118110" y="3362325"/>
                  </a:moveTo>
                  <a:lnTo>
                    <a:pt x="44450" y="3362325"/>
                  </a:lnTo>
                  <a:lnTo>
                    <a:pt x="27148" y="3358831"/>
                  </a:lnTo>
                  <a:lnTo>
                    <a:pt x="13019" y="3349305"/>
                  </a:lnTo>
                  <a:lnTo>
                    <a:pt x="3493" y="3335176"/>
                  </a:lnTo>
                  <a:lnTo>
                    <a:pt x="0" y="3317875"/>
                  </a:lnTo>
                  <a:lnTo>
                    <a:pt x="0" y="44450"/>
                  </a:lnTo>
                  <a:lnTo>
                    <a:pt x="3493" y="27148"/>
                  </a:lnTo>
                  <a:lnTo>
                    <a:pt x="13019" y="13019"/>
                  </a:lnTo>
                  <a:lnTo>
                    <a:pt x="27148" y="3493"/>
                  </a:lnTo>
                  <a:lnTo>
                    <a:pt x="44450" y="0"/>
                  </a:lnTo>
                  <a:lnTo>
                    <a:pt x="118110" y="0"/>
                  </a:lnTo>
                  <a:lnTo>
                    <a:pt x="135411" y="3493"/>
                  </a:lnTo>
                  <a:lnTo>
                    <a:pt x="149540" y="13019"/>
                  </a:lnTo>
                  <a:lnTo>
                    <a:pt x="159066" y="27148"/>
                  </a:lnTo>
                  <a:lnTo>
                    <a:pt x="162560" y="44450"/>
                  </a:lnTo>
                  <a:lnTo>
                    <a:pt x="162560" y="3317875"/>
                  </a:lnTo>
                  <a:lnTo>
                    <a:pt x="159066" y="3335176"/>
                  </a:lnTo>
                  <a:lnTo>
                    <a:pt x="149540" y="3349305"/>
                  </a:lnTo>
                  <a:lnTo>
                    <a:pt x="135411" y="3358831"/>
                  </a:lnTo>
                  <a:lnTo>
                    <a:pt x="118110" y="3362325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Legacy</a:t>
            </a:r>
            <a:r>
              <a:rPr spc="-175" dirty="0"/>
              <a:t> </a:t>
            </a:r>
            <a:r>
              <a:rPr spc="-204" dirty="0"/>
              <a:t>System</a:t>
            </a:r>
            <a:r>
              <a:rPr spc="-160" dirty="0"/>
              <a:t> </a:t>
            </a:r>
            <a:r>
              <a:rPr spc="-30" dirty="0"/>
              <a:t>Integration</a:t>
            </a:r>
          </a:p>
          <a:p>
            <a:pPr marL="12700" marR="142875">
              <a:lnSpc>
                <a:spcPct val="124200"/>
              </a:lnSpc>
              <a:spcBef>
                <a:spcPts val="1110"/>
              </a:spcBef>
            </a:pPr>
            <a:r>
              <a:rPr sz="2550" b="1" spc="-220" dirty="0">
                <a:latin typeface="Roboto"/>
                <a:cs typeface="Roboto"/>
              </a:rPr>
              <a:t>Challenge:</a:t>
            </a:r>
            <a:r>
              <a:rPr sz="2550" b="1" spc="-40" dirty="0">
                <a:latin typeface="Roboto"/>
                <a:cs typeface="Roboto"/>
              </a:rPr>
              <a:t> </a:t>
            </a:r>
            <a:r>
              <a:rPr sz="2550" spc="-105" dirty="0"/>
              <a:t>Incompatible</a:t>
            </a:r>
            <a:r>
              <a:rPr sz="2550" spc="-85" dirty="0"/>
              <a:t> </a:t>
            </a:r>
            <a:r>
              <a:rPr sz="2550" spc="-110" dirty="0"/>
              <a:t>data</a:t>
            </a:r>
            <a:r>
              <a:rPr sz="2550" spc="-120" dirty="0"/>
              <a:t> </a:t>
            </a:r>
            <a:r>
              <a:rPr sz="2550" spc="-70" dirty="0"/>
              <a:t>formats</a:t>
            </a:r>
            <a:r>
              <a:rPr sz="2550" spc="-160" dirty="0"/>
              <a:t> </a:t>
            </a:r>
            <a:r>
              <a:rPr sz="2550" spc="-80" dirty="0"/>
              <a:t>from</a:t>
            </a:r>
            <a:r>
              <a:rPr sz="2550" spc="-85" dirty="0"/>
              <a:t> </a:t>
            </a:r>
            <a:r>
              <a:rPr sz="2550" spc="-175" dirty="0"/>
              <a:t>15-</a:t>
            </a:r>
            <a:r>
              <a:rPr sz="2550" spc="-190" dirty="0"/>
              <a:t>year-</a:t>
            </a:r>
            <a:r>
              <a:rPr sz="2550" spc="-25" dirty="0"/>
              <a:t>old </a:t>
            </a:r>
            <a:r>
              <a:rPr sz="2550" spc="-90" dirty="0"/>
              <a:t>hospital</a:t>
            </a:r>
            <a:r>
              <a:rPr sz="2550" spc="-114" dirty="0"/>
              <a:t> </a:t>
            </a:r>
            <a:r>
              <a:rPr sz="2550" spc="-145" dirty="0"/>
              <a:t>management</a:t>
            </a:r>
            <a:r>
              <a:rPr sz="2550" spc="-105" dirty="0"/>
              <a:t> </a:t>
            </a:r>
            <a:r>
              <a:rPr sz="2550" spc="-10" dirty="0"/>
              <a:t>system</a:t>
            </a:r>
            <a:endParaRPr sz="2550">
              <a:latin typeface="Roboto"/>
              <a:cs typeface="Roboto"/>
            </a:endParaRPr>
          </a:p>
          <a:p>
            <a:pPr marL="12700" marR="187325">
              <a:lnSpc>
                <a:spcPct val="124200"/>
              </a:lnSpc>
              <a:spcBef>
                <a:spcPts val="1300"/>
              </a:spcBef>
            </a:pPr>
            <a:r>
              <a:rPr sz="2550" b="1" spc="-225" dirty="0">
                <a:latin typeface="Roboto"/>
                <a:cs typeface="Roboto"/>
              </a:rPr>
              <a:t>Solution:</a:t>
            </a:r>
            <a:r>
              <a:rPr sz="2550" b="1" spc="-60" dirty="0">
                <a:latin typeface="Roboto"/>
                <a:cs typeface="Roboto"/>
              </a:rPr>
              <a:t> </a:t>
            </a:r>
            <a:r>
              <a:rPr sz="2550" spc="-180" dirty="0"/>
              <a:t>Developed</a:t>
            </a:r>
            <a:r>
              <a:rPr sz="2550" spc="-80" dirty="0"/>
              <a:t> </a:t>
            </a:r>
            <a:r>
              <a:rPr sz="2550" spc="-95" dirty="0"/>
              <a:t>custom</a:t>
            </a:r>
            <a:r>
              <a:rPr sz="2550" spc="-210" dirty="0"/>
              <a:t> </a:t>
            </a:r>
            <a:r>
              <a:rPr sz="2550" spc="-175" dirty="0"/>
              <a:t>API</a:t>
            </a:r>
            <a:r>
              <a:rPr sz="2550" spc="-215" dirty="0"/>
              <a:t> </a:t>
            </a:r>
            <a:r>
              <a:rPr sz="2550" spc="-120" dirty="0"/>
              <a:t>middleware</a:t>
            </a:r>
            <a:r>
              <a:rPr sz="2550" spc="-105" dirty="0"/>
              <a:t> </a:t>
            </a:r>
            <a:r>
              <a:rPr sz="2550" spc="-70" dirty="0"/>
              <a:t>with</a:t>
            </a:r>
            <a:r>
              <a:rPr sz="2550" spc="-50" dirty="0"/>
              <a:t> </a:t>
            </a:r>
            <a:r>
              <a:rPr sz="2550" spc="-30" dirty="0"/>
              <a:t>data </a:t>
            </a:r>
            <a:r>
              <a:rPr sz="2550" spc="-95" dirty="0"/>
              <a:t>transformation</a:t>
            </a:r>
            <a:r>
              <a:rPr sz="2550" spc="-110" dirty="0"/>
              <a:t> </a:t>
            </a:r>
            <a:r>
              <a:rPr sz="2550" spc="-140" dirty="0"/>
              <a:t>layer</a:t>
            </a:r>
            <a:r>
              <a:rPr sz="2550" spc="-114" dirty="0"/>
              <a:t> </a:t>
            </a:r>
            <a:r>
              <a:rPr sz="2550" spc="-135" dirty="0"/>
              <a:t>ensuring</a:t>
            </a:r>
            <a:r>
              <a:rPr sz="2550" spc="-20" dirty="0"/>
              <a:t> </a:t>
            </a:r>
            <a:r>
              <a:rPr sz="2550" spc="-135" dirty="0"/>
              <a:t>seamless</a:t>
            </a:r>
            <a:r>
              <a:rPr sz="2550" spc="-130" dirty="0"/>
              <a:t> </a:t>
            </a:r>
            <a:r>
              <a:rPr sz="2550" spc="-10" dirty="0"/>
              <a:t>integration</a:t>
            </a:r>
            <a:endParaRPr sz="25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300"/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300"/>
          </a:p>
          <a:p>
            <a:pPr marL="12700">
              <a:lnSpc>
                <a:spcPct val="100000"/>
              </a:lnSpc>
            </a:pPr>
            <a:r>
              <a:rPr spc="-250" dirty="0"/>
              <a:t>User</a:t>
            </a:r>
            <a:r>
              <a:rPr spc="-105" dirty="0"/>
              <a:t> </a:t>
            </a:r>
            <a:r>
              <a:rPr spc="-135" dirty="0"/>
              <a:t>Adoption</a:t>
            </a:r>
            <a:r>
              <a:rPr spc="-180" dirty="0"/>
              <a:t> </a:t>
            </a:r>
            <a:r>
              <a:rPr spc="-75" dirty="0"/>
              <a:t>Resistance</a:t>
            </a:r>
          </a:p>
          <a:p>
            <a:pPr marL="12700" marR="462915">
              <a:lnSpc>
                <a:spcPct val="124200"/>
              </a:lnSpc>
              <a:spcBef>
                <a:spcPts val="1210"/>
              </a:spcBef>
            </a:pPr>
            <a:r>
              <a:rPr sz="2550" b="1" spc="-220" dirty="0">
                <a:latin typeface="Roboto"/>
                <a:cs typeface="Roboto"/>
              </a:rPr>
              <a:t>Challenge:</a:t>
            </a:r>
            <a:r>
              <a:rPr sz="2550" b="1" spc="-55" dirty="0">
                <a:latin typeface="Roboto"/>
                <a:cs typeface="Roboto"/>
              </a:rPr>
              <a:t> </a:t>
            </a:r>
            <a:r>
              <a:rPr sz="2550" spc="-75" dirty="0"/>
              <a:t>Staff</a:t>
            </a:r>
            <a:r>
              <a:rPr sz="2550" spc="-80" dirty="0"/>
              <a:t> </a:t>
            </a:r>
            <a:r>
              <a:rPr sz="2550" spc="-120" dirty="0"/>
              <a:t>hesitancy</a:t>
            </a:r>
            <a:r>
              <a:rPr sz="2550" spc="-170" dirty="0"/>
              <a:t> </a:t>
            </a:r>
            <a:r>
              <a:rPr sz="2550" spc="-70" dirty="0"/>
              <a:t>to</a:t>
            </a:r>
            <a:r>
              <a:rPr sz="2550" spc="-95" dirty="0"/>
              <a:t> </a:t>
            </a:r>
            <a:r>
              <a:rPr sz="2550" spc="-80" dirty="0"/>
              <a:t>transition</a:t>
            </a:r>
            <a:r>
              <a:rPr sz="2550" spc="-150" dirty="0"/>
              <a:t> </a:t>
            </a:r>
            <a:r>
              <a:rPr sz="2550" spc="-80" dirty="0"/>
              <a:t>from</a:t>
            </a:r>
            <a:r>
              <a:rPr sz="2550" spc="-95" dirty="0"/>
              <a:t> </a:t>
            </a:r>
            <a:r>
              <a:rPr sz="2550" spc="-35" dirty="0"/>
              <a:t>familiar </a:t>
            </a:r>
            <a:r>
              <a:rPr sz="2550" spc="-170" dirty="0"/>
              <a:t>paper-</a:t>
            </a:r>
            <a:r>
              <a:rPr sz="2550" spc="-140" dirty="0"/>
              <a:t>based</a:t>
            </a:r>
            <a:r>
              <a:rPr sz="2550" spc="-50" dirty="0"/>
              <a:t> </a:t>
            </a:r>
            <a:r>
              <a:rPr sz="2550" spc="-10" dirty="0"/>
              <a:t>system</a:t>
            </a:r>
            <a:endParaRPr sz="2550">
              <a:latin typeface="Roboto"/>
              <a:cs typeface="Roboto"/>
            </a:endParaRPr>
          </a:p>
          <a:p>
            <a:pPr marL="12700" marR="5080">
              <a:lnSpc>
                <a:spcPct val="124200"/>
              </a:lnSpc>
              <a:spcBef>
                <a:spcPts val="1200"/>
              </a:spcBef>
            </a:pPr>
            <a:r>
              <a:rPr sz="2550" b="1" spc="-225" dirty="0">
                <a:latin typeface="Roboto"/>
                <a:cs typeface="Roboto"/>
              </a:rPr>
              <a:t>Solution:</a:t>
            </a:r>
            <a:r>
              <a:rPr sz="2550" b="1" spc="-55" dirty="0">
                <a:latin typeface="Roboto"/>
                <a:cs typeface="Roboto"/>
              </a:rPr>
              <a:t> </a:t>
            </a:r>
            <a:r>
              <a:rPr sz="2550" spc="-180" dirty="0"/>
              <a:t>Extended</a:t>
            </a:r>
            <a:r>
              <a:rPr sz="2550" spc="-80" dirty="0"/>
              <a:t> </a:t>
            </a:r>
            <a:r>
              <a:rPr sz="2550" spc="-95" dirty="0"/>
              <a:t>training</a:t>
            </a:r>
            <a:r>
              <a:rPr sz="2550" spc="-65" dirty="0"/>
              <a:t> </a:t>
            </a:r>
            <a:r>
              <a:rPr sz="2550" spc="-135" dirty="0"/>
              <a:t>programme</a:t>
            </a:r>
            <a:r>
              <a:rPr sz="2550" spc="-210" dirty="0"/>
              <a:t> </a:t>
            </a:r>
            <a:r>
              <a:rPr sz="2550" spc="-55" dirty="0"/>
              <a:t>with</a:t>
            </a:r>
            <a:r>
              <a:rPr sz="2550" spc="-150" dirty="0"/>
              <a:t> </a:t>
            </a:r>
            <a:r>
              <a:rPr sz="2550" spc="-80" dirty="0"/>
              <a:t>champions </a:t>
            </a:r>
            <a:r>
              <a:rPr sz="2550" spc="-125" dirty="0"/>
              <a:t>network</a:t>
            </a:r>
            <a:r>
              <a:rPr sz="2550" spc="-135" dirty="0"/>
              <a:t> </a:t>
            </a:r>
            <a:r>
              <a:rPr sz="2550" spc="-170" dirty="0"/>
              <a:t>and</a:t>
            </a:r>
            <a:r>
              <a:rPr sz="2550" spc="-60" dirty="0"/>
              <a:t> </a:t>
            </a:r>
            <a:r>
              <a:rPr sz="2550" spc="-125" dirty="0"/>
              <a:t>ongoing</a:t>
            </a:r>
            <a:r>
              <a:rPr sz="2550" spc="-50" dirty="0"/>
              <a:t> </a:t>
            </a:r>
            <a:r>
              <a:rPr sz="2550" spc="-105" dirty="0"/>
              <a:t>support</a:t>
            </a:r>
            <a:r>
              <a:rPr sz="2550" spc="-125" dirty="0"/>
              <a:t> </a:t>
            </a:r>
            <a:r>
              <a:rPr sz="2550" spc="-10" dirty="0"/>
              <a:t>sessions</a:t>
            </a:r>
            <a:endParaRPr sz="25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861223" y="6789682"/>
            <a:ext cx="8629650" cy="3402965"/>
            <a:chOff x="9861223" y="6789682"/>
            <a:chExt cx="8629650" cy="3402965"/>
          </a:xfrm>
        </p:grpSpPr>
        <p:sp>
          <p:nvSpPr>
            <p:cNvPr id="17" name="object 17"/>
            <p:cNvSpPr/>
            <p:nvPr/>
          </p:nvSpPr>
          <p:spPr>
            <a:xfrm>
              <a:off x="9901863" y="6810002"/>
              <a:ext cx="8568690" cy="3362325"/>
            </a:xfrm>
            <a:custGeom>
              <a:avLst/>
              <a:gdLst/>
              <a:ahLst/>
              <a:cxnLst/>
              <a:rect l="l" t="t" r="r" b="b"/>
              <a:pathLst>
                <a:path w="8568690" h="3362325">
                  <a:moveTo>
                    <a:pt x="8373237" y="3362325"/>
                  </a:moveTo>
                  <a:lnTo>
                    <a:pt x="195071" y="3362325"/>
                  </a:lnTo>
                  <a:lnTo>
                    <a:pt x="150343" y="3357176"/>
                  </a:lnTo>
                  <a:lnTo>
                    <a:pt x="109284" y="3342510"/>
                  </a:lnTo>
                  <a:lnTo>
                    <a:pt x="73064" y="3319497"/>
                  </a:lnTo>
                  <a:lnTo>
                    <a:pt x="42855" y="3289308"/>
                  </a:lnTo>
                  <a:lnTo>
                    <a:pt x="19827" y="3253111"/>
                  </a:lnTo>
                  <a:lnTo>
                    <a:pt x="5151" y="3212078"/>
                  </a:lnTo>
                  <a:lnTo>
                    <a:pt x="0" y="3167379"/>
                  </a:lnTo>
                  <a:lnTo>
                    <a:pt x="0" y="195071"/>
                  </a:lnTo>
                  <a:lnTo>
                    <a:pt x="5151" y="150343"/>
                  </a:lnTo>
                  <a:lnTo>
                    <a:pt x="19827" y="109284"/>
                  </a:lnTo>
                  <a:lnTo>
                    <a:pt x="42855" y="73064"/>
                  </a:lnTo>
                  <a:lnTo>
                    <a:pt x="73064" y="42855"/>
                  </a:lnTo>
                  <a:lnTo>
                    <a:pt x="109284" y="19827"/>
                  </a:lnTo>
                  <a:lnTo>
                    <a:pt x="150343" y="5151"/>
                  </a:lnTo>
                  <a:lnTo>
                    <a:pt x="195071" y="0"/>
                  </a:lnTo>
                  <a:lnTo>
                    <a:pt x="8373237" y="0"/>
                  </a:lnTo>
                  <a:lnTo>
                    <a:pt x="8417965" y="5151"/>
                  </a:lnTo>
                  <a:lnTo>
                    <a:pt x="8459024" y="19827"/>
                  </a:lnTo>
                  <a:lnTo>
                    <a:pt x="8495244" y="42855"/>
                  </a:lnTo>
                  <a:lnTo>
                    <a:pt x="8525453" y="73064"/>
                  </a:lnTo>
                  <a:lnTo>
                    <a:pt x="8548480" y="109284"/>
                  </a:lnTo>
                  <a:lnTo>
                    <a:pt x="8563156" y="150343"/>
                  </a:lnTo>
                  <a:lnTo>
                    <a:pt x="8568307" y="195071"/>
                  </a:lnTo>
                  <a:lnTo>
                    <a:pt x="8568307" y="3167379"/>
                  </a:lnTo>
                  <a:lnTo>
                    <a:pt x="8563156" y="3212078"/>
                  </a:lnTo>
                  <a:lnTo>
                    <a:pt x="8548480" y="3253111"/>
                  </a:lnTo>
                  <a:lnTo>
                    <a:pt x="8525453" y="3289308"/>
                  </a:lnTo>
                  <a:lnTo>
                    <a:pt x="8495244" y="3319497"/>
                  </a:lnTo>
                  <a:lnTo>
                    <a:pt x="8459024" y="3342510"/>
                  </a:lnTo>
                  <a:lnTo>
                    <a:pt x="8417965" y="3357176"/>
                  </a:lnTo>
                  <a:lnTo>
                    <a:pt x="8373237" y="336232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01863" y="6810002"/>
              <a:ext cx="8568690" cy="3362325"/>
            </a:xfrm>
            <a:custGeom>
              <a:avLst/>
              <a:gdLst/>
              <a:ahLst/>
              <a:cxnLst/>
              <a:rect l="l" t="t" r="r" b="b"/>
              <a:pathLst>
                <a:path w="8568690" h="3362325">
                  <a:moveTo>
                    <a:pt x="0" y="3167379"/>
                  </a:moveTo>
                  <a:lnTo>
                    <a:pt x="5151" y="3212078"/>
                  </a:lnTo>
                  <a:lnTo>
                    <a:pt x="19827" y="3253111"/>
                  </a:lnTo>
                  <a:lnTo>
                    <a:pt x="42855" y="3289308"/>
                  </a:lnTo>
                  <a:lnTo>
                    <a:pt x="73064" y="3319497"/>
                  </a:lnTo>
                  <a:lnTo>
                    <a:pt x="109284" y="3342510"/>
                  </a:lnTo>
                  <a:lnTo>
                    <a:pt x="150343" y="3357176"/>
                  </a:lnTo>
                  <a:lnTo>
                    <a:pt x="195071" y="3362325"/>
                  </a:lnTo>
                  <a:lnTo>
                    <a:pt x="8373237" y="3362325"/>
                  </a:lnTo>
                  <a:lnTo>
                    <a:pt x="8417965" y="3357176"/>
                  </a:lnTo>
                  <a:lnTo>
                    <a:pt x="8459024" y="3342510"/>
                  </a:lnTo>
                  <a:lnTo>
                    <a:pt x="8495244" y="3319497"/>
                  </a:lnTo>
                  <a:lnTo>
                    <a:pt x="8525453" y="3289308"/>
                  </a:lnTo>
                  <a:lnTo>
                    <a:pt x="8548480" y="3253111"/>
                  </a:lnTo>
                  <a:lnTo>
                    <a:pt x="8563156" y="3212078"/>
                  </a:lnTo>
                  <a:lnTo>
                    <a:pt x="8568307" y="3167379"/>
                  </a:lnTo>
                  <a:lnTo>
                    <a:pt x="8568307" y="195071"/>
                  </a:lnTo>
                  <a:lnTo>
                    <a:pt x="8563156" y="150343"/>
                  </a:lnTo>
                  <a:lnTo>
                    <a:pt x="8548480" y="109284"/>
                  </a:lnTo>
                  <a:lnTo>
                    <a:pt x="8525453" y="73064"/>
                  </a:lnTo>
                  <a:lnTo>
                    <a:pt x="8495244" y="42855"/>
                  </a:lnTo>
                  <a:lnTo>
                    <a:pt x="8459024" y="19827"/>
                  </a:lnTo>
                  <a:lnTo>
                    <a:pt x="8417965" y="5151"/>
                  </a:lnTo>
                  <a:lnTo>
                    <a:pt x="8373237" y="0"/>
                  </a:lnTo>
                  <a:lnTo>
                    <a:pt x="195071" y="0"/>
                  </a:lnTo>
                  <a:lnTo>
                    <a:pt x="150343" y="5151"/>
                  </a:lnTo>
                  <a:lnTo>
                    <a:pt x="109284" y="19827"/>
                  </a:lnTo>
                  <a:lnTo>
                    <a:pt x="73064" y="42855"/>
                  </a:lnTo>
                  <a:lnTo>
                    <a:pt x="42855" y="73064"/>
                  </a:lnTo>
                  <a:lnTo>
                    <a:pt x="19827" y="109284"/>
                  </a:lnTo>
                  <a:lnTo>
                    <a:pt x="5151" y="150343"/>
                  </a:lnTo>
                  <a:lnTo>
                    <a:pt x="0" y="195071"/>
                  </a:lnTo>
                  <a:lnTo>
                    <a:pt x="0" y="3167379"/>
                  </a:lnTo>
                  <a:close/>
                </a:path>
              </a:pathLst>
            </a:custGeom>
            <a:ln w="40640">
              <a:solidFill>
                <a:srgbClr val="3750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861223" y="6810002"/>
              <a:ext cx="162560" cy="3362325"/>
            </a:xfrm>
            <a:custGeom>
              <a:avLst/>
              <a:gdLst/>
              <a:ahLst/>
              <a:cxnLst/>
              <a:rect l="l" t="t" r="r" b="b"/>
              <a:pathLst>
                <a:path w="162559" h="3362325">
                  <a:moveTo>
                    <a:pt x="118109" y="3362325"/>
                  </a:moveTo>
                  <a:lnTo>
                    <a:pt x="44450" y="3362325"/>
                  </a:lnTo>
                  <a:lnTo>
                    <a:pt x="27148" y="3358831"/>
                  </a:lnTo>
                  <a:lnTo>
                    <a:pt x="13019" y="3349305"/>
                  </a:lnTo>
                  <a:lnTo>
                    <a:pt x="3493" y="3335176"/>
                  </a:lnTo>
                  <a:lnTo>
                    <a:pt x="0" y="3317875"/>
                  </a:lnTo>
                  <a:lnTo>
                    <a:pt x="0" y="44450"/>
                  </a:lnTo>
                  <a:lnTo>
                    <a:pt x="3493" y="27148"/>
                  </a:lnTo>
                  <a:lnTo>
                    <a:pt x="13019" y="13019"/>
                  </a:lnTo>
                  <a:lnTo>
                    <a:pt x="27148" y="3493"/>
                  </a:lnTo>
                  <a:lnTo>
                    <a:pt x="44450" y="0"/>
                  </a:lnTo>
                  <a:lnTo>
                    <a:pt x="118109" y="0"/>
                  </a:lnTo>
                  <a:lnTo>
                    <a:pt x="135411" y="3493"/>
                  </a:lnTo>
                  <a:lnTo>
                    <a:pt x="149540" y="13019"/>
                  </a:lnTo>
                  <a:lnTo>
                    <a:pt x="159066" y="27148"/>
                  </a:lnTo>
                  <a:lnTo>
                    <a:pt x="162559" y="44450"/>
                  </a:lnTo>
                  <a:lnTo>
                    <a:pt x="162559" y="3317875"/>
                  </a:lnTo>
                  <a:lnTo>
                    <a:pt x="159066" y="3335176"/>
                  </a:lnTo>
                  <a:lnTo>
                    <a:pt x="149540" y="3349305"/>
                  </a:lnTo>
                  <a:lnTo>
                    <a:pt x="135411" y="3358831"/>
                  </a:lnTo>
                  <a:lnTo>
                    <a:pt x="118109" y="3362325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Concurrent</a:t>
            </a:r>
            <a:r>
              <a:rPr spc="-165" dirty="0"/>
              <a:t> </a:t>
            </a:r>
            <a:r>
              <a:rPr spc="-160" dirty="0"/>
              <a:t>Booking</a:t>
            </a:r>
            <a:r>
              <a:rPr spc="-90" dirty="0"/>
              <a:t> </a:t>
            </a:r>
            <a:r>
              <a:rPr spc="-10" dirty="0"/>
              <a:t>Conflicts</a:t>
            </a:r>
          </a:p>
          <a:p>
            <a:pPr marL="12700" marR="1042669">
              <a:lnSpc>
                <a:spcPct val="124200"/>
              </a:lnSpc>
              <a:spcBef>
                <a:spcPts val="1110"/>
              </a:spcBef>
            </a:pPr>
            <a:r>
              <a:rPr sz="2550" b="1" spc="-220" dirty="0">
                <a:latin typeface="Roboto"/>
                <a:cs typeface="Roboto"/>
              </a:rPr>
              <a:t>Challenge:</a:t>
            </a:r>
            <a:r>
              <a:rPr sz="2550" b="1" spc="-45" dirty="0">
                <a:latin typeface="Roboto"/>
                <a:cs typeface="Roboto"/>
              </a:rPr>
              <a:t> </a:t>
            </a:r>
            <a:r>
              <a:rPr sz="2550" spc="-85" dirty="0"/>
              <a:t>Multiple</a:t>
            </a:r>
            <a:r>
              <a:rPr sz="2550" spc="-195" dirty="0"/>
              <a:t> </a:t>
            </a:r>
            <a:r>
              <a:rPr sz="2550" spc="-140" dirty="0"/>
              <a:t>users</a:t>
            </a:r>
            <a:r>
              <a:rPr sz="2550" spc="-50" dirty="0"/>
              <a:t> </a:t>
            </a:r>
            <a:r>
              <a:rPr sz="2550" spc="-95" dirty="0"/>
              <a:t>attempting</a:t>
            </a:r>
            <a:r>
              <a:rPr sz="2550" spc="-50" dirty="0"/>
              <a:t> </a:t>
            </a:r>
            <a:r>
              <a:rPr sz="2550" spc="-70" dirty="0"/>
              <a:t>to</a:t>
            </a:r>
            <a:r>
              <a:rPr sz="2550" spc="-85" dirty="0"/>
              <a:t> </a:t>
            </a:r>
            <a:r>
              <a:rPr sz="2550" spc="-130" dirty="0"/>
              <a:t>book </a:t>
            </a:r>
            <a:r>
              <a:rPr sz="2550" spc="-75" dirty="0"/>
              <a:t>same </a:t>
            </a:r>
            <a:r>
              <a:rPr sz="2550" spc="-110" dirty="0"/>
              <a:t>appointment</a:t>
            </a:r>
            <a:r>
              <a:rPr sz="2550" spc="-120" dirty="0"/>
              <a:t> </a:t>
            </a:r>
            <a:r>
              <a:rPr sz="2550" spc="-40" dirty="0"/>
              <a:t>slot</a:t>
            </a:r>
            <a:r>
              <a:rPr sz="2550" spc="-120" dirty="0"/>
              <a:t> </a:t>
            </a:r>
            <a:r>
              <a:rPr sz="2550" spc="-40" dirty="0"/>
              <a:t>simultaneously</a:t>
            </a:r>
            <a:endParaRPr sz="2550">
              <a:latin typeface="Roboto"/>
              <a:cs typeface="Roboto"/>
            </a:endParaRPr>
          </a:p>
          <a:p>
            <a:pPr marL="12700" marR="109220">
              <a:lnSpc>
                <a:spcPct val="124200"/>
              </a:lnSpc>
              <a:spcBef>
                <a:spcPts val="1300"/>
              </a:spcBef>
            </a:pPr>
            <a:r>
              <a:rPr sz="2550" b="1" spc="-225" dirty="0">
                <a:latin typeface="Roboto"/>
                <a:cs typeface="Roboto"/>
              </a:rPr>
              <a:t>Solution:</a:t>
            </a:r>
            <a:r>
              <a:rPr sz="2550" b="1" spc="-50" dirty="0">
                <a:latin typeface="Roboto"/>
                <a:cs typeface="Roboto"/>
              </a:rPr>
              <a:t> </a:t>
            </a:r>
            <a:r>
              <a:rPr sz="2550" spc="-135" dirty="0"/>
              <a:t>Implemented</a:t>
            </a:r>
            <a:r>
              <a:rPr sz="2550" spc="-70" dirty="0"/>
              <a:t> </a:t>
            </a:r>
            <a:r>
              <a:rPr sz="2550" spc="-60" dirty="0"/>
              <a:t>optimistic</a:t>
            </a:r>
            <a:r>
              <a:rPr sz="2550" spc="-75" dirty="0"/>
              <a:t> </a:t>
            </a:r>
            <a:r>
              <a:rPr sz="2550" spc="-90" dirty="0"/>
              <a:t>locking</a:t>
            </a:r>
            <a:r>
              <a:rPr sz="2550" spc="-170" dirty="0"/>
              <a:t> </a:t>
            </a:r>
            <a:r>
              <a:rPr sz="2550" spc="-120" dirty="0"/>
              <a:t>mechanism</a:t>
            </a:r>
            <a:r>
              <a:rPr sz="2550" spc="-90" dirty="0"/>
              <a:t> </a:t>
            </a:r>
            <a:r>
              <a:rPr sz="2550" spc="-20" dirty="0"/>
              <a:t>with </a:t>
            </a:r>
            <a:r>
              <a:rPr sz="2550" spc="-95" dirty="0"/>
              <a:t>transaction</a:t>
            </a:r>
            <a:r>
              <a:rPr sz="2550" spc="-130" dirty="0"/>
              <a:t> </a:t>
            </a:r>
            <a:r>
              <a:rPr sz="2550" spc="-100" dirty="0"/>
              <a:t>rollback</a:t>
            </a:r>
            <a:r>
              <a:rPr sz="2550" spc="-10" dirty="0"/>
              <a:t> capabilities</a:t>
            </a:r>
            <a:endParaRPr sz="25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300"/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300"/>
          </a:p>
          <a:p>
            <a:pPr marL="12700">
              <a:lnSpc>
                <a:spcPct val="100000"/>
              </a:lnSpc>
            </a:pPr>
            <a:r>
              <a:rPr spc="-170" dirty="0"/>
              <a:t>Performance</a:t>
            </a:r>
            <a:r>
              <a:rPr spc="-135" dirty="0"/>
              <a:t> </a:t>
            </a:r>
            <a:r>
              <a:rPr spc="-229" dirty="0"/>
              <a:t>Under</a:t>
            </a:r>
            <a:r>
              <a:rPr spc="-215" dirty="0"/>
              <a:t> </a:t>
            </a:r>
            <a:r>
              <a:rPr spc="-20" dirty="0"/>
              <a:t>Load</a:t>
            </a:r>
          </a:p>
          <a:p>
            <a:pPr marL="12700" marR="5080">
              <a:lnSpc>
                <a:spcPct val="124200"/>
              </a:lnSpc>
              <a:spcBef>
                <a:spcPts val="1210"/>
              </a:spcBef>
            </a:pPr>
            <a:r>
              <a:rPr sz="2550" b="1" spc="-220" dirty="0">
                <a:latin typeface="Roboto"/>
                <a:cs typeface="Roboto"/>
              </a:rPr>
              <a:t>Challenge:</a:t>
            </a:r>
            <a:r>
              <a:rPr sz="2550" b="1" spc="-50" dirty="0">
                <a:latin typeface="Roboto"/>
                <a:cs typeface="Roboto"/>
              </a:rPr>
              <a:t> </a:t>
            </a:r>
            <a:r>
              <a:rPr sz="2550" spc="-175" dirty="0"/>
              <a:t>System</a:t>
            </a:r>
            <a:r>
              <a:rPr sz="2550" spc="-90" dirty="0"/>
              <a:t> </a:t>
            </a:r>
            <a:r>
              <a:rPr sz="2550" spc="-120" dirty="0"/>
              <a:t>slowdown</a:t>
            </a:r>
            <a:r>
              <a:rPr sz="2550" spc="-145" dirty="0"/>
              <a:t> </a:t>
            </a:r>
            <a:r>
              <a:rPr sz="2550" spc="-130" dirty="0"/>
              <a:t>during</a:t>
            </a:r>
            <a:r>
              <a:rPr sz="2550" spc="-55" dirty="0"/>
              <a:t> </a:t>
            </a:r>
            <a:r>
              <a:rPr sz="2550" spc="-150" dirty="0"/>
              <a:t>peak</a:t>
            </a:r>
            <a:r>
              <a:rPr sz="2550" spc="-140" dirty="0"/>
              <a:t> </a:t>
            </a:r>
            <a:r>
              <a:rPr sz="2550" spc="-114" dirty="0"/>
              <a:t>morning</a:t>
            </a:r>
            <a:r>
              <a:rPr sz="2550" spc="-170" dirty="0"/>
              <a:t> </a:t>
            </a:r>
            <a:r>
              <a:rPr sz="2550" spc="-65" dirty="0"/>
              <a:t>booking </a:t>
            </a:r>
            <a:r>
              <a:rPr sz="2550" spc="-130" dirty="0"/>
              <a:t>hours</a:t>
            </a:r>
            <a:r>
              <a:rPr sz="2550" spc="-145" dirty="0"/>
              <a:t> </a:t>
            </a:r>
            <a:r>
              <a:rPr sz="2550" spc="-150" dirty="0"/>
              <a:t>(8-</a:t>
            </a:r>
            <a:r>
              <a:rPr sz="2550" spc="-10" dirty="0"/>
              <a:t>10am)</a:t>
            </a:r>
            <a:endParaRPr sz="2550">
              <a:latin typeface="Roboto"/>
              <a:cs typeface="Roboto"/>
            </a:endParaRPr>
          </a:p>
          <a:p>
            <a:pPr marL="12700" marR="20320">
              <a:lnSpc>
                <a:spcPct val="124200"/>
              </a:lnSpc>
              <a:spcBef>
                <a:spcPts val="1200"/>
              </a:spcBef>
            </a:pPr>
            <a:r>
              <a:rPr sz="2550" b="1" spc="-225" dirty="0">
                <a:latin typeface="Roboto"/>
                <a:cs typeface="Roboto"/>
              </a:rPr>
              <a:t>Solution:</a:t>
            </a:r>
            <a:r>
              <a:rPr sz="2550" b="1" spc="-30" dirty="0">
                <a:latin typeface="Roboto"/>
                <a:cs typeface="Roboto"/>
              </a:rPr>
              <a:t> </a:t>
            </a:r>
            <a:r>
              <a:rPr sz="2550" spc="-165" dirty="0"/>
              <a:t>Database</a:t>
            </a:r>
            <a:r>
              <a:rPr sz="2550" spc="-180" dirty="0"/>
              <a:t> </a:t>
            </a:r>
            <a:r>
              <a:rPr sz="2550" spc="-150" dirty="0"/>
              <a:t>query </a:t>
            </a:r>
            <a:r>
              <a:rPr sz="2550" spc="-85" dirty="0"/>
              <a:t>optimisation</a:t>
            </a:r>
            <a:r>
              <a:rPr sz="2550" spc="-125" dirty="0"/>
              <a:t> </a:t>
            </a:r>
            <a:r>
              <a:rPr sz="2550" spc="-135" dirty="0"/>
              <a:t>and</a:t>
            </a:r>
            <a:r>
              <a:rPr sz="2550" spc="-155" dirty="0"/>
              <a:t> </a:t>
            </a:r>
            <a:r>
              <a:rPr sz="2550" spc="-70" dirty="0"/>
              <a:t>implementation </a:t>
            </a:r>
            <a:r>
              <a:rPr sz="2550" dirty="0"/>
              <a:t>of</a:t>
            </a:r>
            <a:r>
              <a:rPr sz="2550" spc="-90" dirty="0"/>
              <a:t> </a:t>
            </a:r>
            <a:r>
              <a:rPr sz="2550" spc="-200" dirty="0"/>
              <a:t>Redis</a:t>
            </a:r>
            <a:r>
              <a:rPr sz="2550" spc="-75" dirty="0"/>
              <a:t> </a:t>
            </a:r>
            <a:r>
              <a:rPr sz="2550" spc="-130" dirty="0"/>
              <a:t>caching</a:t>
            </a:r>
            <a:r>
              <a:rPr sz="2550" spc="-80" dirty="0"/>
              <a:t> </a:t>
            </a:r>
            <a:r>
              <a:rPr sz="2550" spc="-20" dirty="0"/>
              <a:t>layer</a:t>
            </a:r>
            <a:endParaRPr sz="25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9507200" cy="3086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3656806"/>
            <a:ext cx="15975965" cy="14998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>
              <a:lnSpc>
                <a:spcPts val="5600"/>
              </a:lnSpc>
              <a:spcBef>
                <a:spcPts val="605"/>
              </a:spcBef>
            </a:pPr>
            <a:r>
              <a:rPr sz="5000" spc="-229" dirty="0"/>
              <a:t>Benefits</a:t>
            </a:r>
            <a:r>
              <a:rPr sz="5000" spc="-385" dirty="0"/>
              <a:t> </a:t>
            </a:r>
            <a:r>
              <a:rPr sz="5000" spc="-335" dirty="0"/>
              <a:t>Realised:</a:t>
            </a:r>
            <a:r>
              <a:rPr sz="5000" spc="-340" dirty="0"/>
              <a:t> </a:t>
            </a:r>
            <a:r>
              <a:rPr sz="5000" spc="-280" dirty="0"/>
              <a:t>Improved</a:t>
            </a:r>
            <a:r>
              <a:rPr sz="5000" spc="-295" dirty="0"/>
              <a:t> </a:t>
            </a:r>
            <a:r>
              <a:rPr sz="5000" spc="-235" dirty="0"/>
              <a:t>Patient</a:t>
            </a:r>
            <a:r>
              <a:rPr sz="5000" spc="-225" dirty="0"/>
              <a:t> </a:t>
            </a:r>
            <a:r>
              <a:rPr sz="5000" spc="-355" dirty="0"/>
              <a:t>Experience</a:t>
            </a:r>
            <a:r>
              <a:rPr sz="5000" spc="-345" dirty="0"/>
              <a:t> </a:t>
            </a:r>
            <a:r>
              <a:rPr sz="5000" spc="-310" dirty="0"/>
              <a:t>and</a:t>
            </a:r>
            <a:r>
              <a:rPr sz="5000" spc="-290" dirty="0"/>
              <a:t> </a:t>
            </a:r>
            <a:r>
              <a:rPr sz="5000" spc="-285" dirty="0"/>
              <a:t>Operational </a:t>
            </a:r>
            <a:r>
              <a:rPr sz="5000" spc="-110" dirty="0"/>
              <a:t>Efficiency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1485900" y="5394959"/>
            <a:ext cx="2945130" cy="1769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7100" spc="-810" dirty="0">
                <a:solidFill>
                  <a:srgbClr val="3A362F"/>
                </a:solidFill>
                <a:latin typeface="Arial MT"/>
                <a:cs typeface="Arial MT"/>
              </a:rPr>
              <a:t>73%</a:t>
            </a:r>
            <a:endParaRPr sz="7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130"/>
              </a:spcBef>
            </a:pPr>
            <a:r>
              <a:rPr sz="2550" spc="-185" dirty="0">
                <a:solidFill>
                  <a:srgbClr val="3A362F"/>
                </a:solidFill>
                <a:latin typeface="Arial MT"/>
                <a:cs typeface="Arial MT"/>
              </a:rPr>
              <a:t>Reduction</a:t>
            </a:r>
            <a:r>
              <a:rPr sz="255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70" dirty="0">
                <a:solidFill>
                  <a:srgbClr val="3A362F"/>
                </a:solidFill>
                <a:latin typeface="Arial MT"/>
                <a:cs typeface="Arial MT"/>
              </a:rPr>
              <a:t>in</a:t>
            </a:r>
            <a:r>
              <a:rPr sz="2550" spc="-2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215" dirty="0">
                <a:solidFill>
                  <a:srgbClr val="3A362F"/>
                </a:solidFill>
                <a:latin typeface="Arial MT"/>
                <a:cs typeface="Arial MT"/>
              </a:rPr>
              <a:t>No-</a:t>
            </a:r>
            <a:r>
              <a:rPr sz="2550" spc="-140" dirty="0">
                <a:solidFill>
                  <a:srgbClr val="3A362F"/>
                </a:solidFill>
                <a:latin typeface="Arial MT"/>
                <a:cs typeface="Arial MT"/>
              </a:rPr>
              <a:t>Shows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900" y="7267288"/>
            <a:ext cx="3708400" cy="812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0" marR="5080" indent="-88900">
              <a:lnSpc>
                <a:spcPct val="123000"/>
              </a:lnSpc>
              <a:spcBef>
                <a:spcPts val="95"/>
              </a:spcBef>
            </a:pP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Automated</a:t>
            </a:r>
            <a:r>
              <a:rPr sz="2100" spc="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reminders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40" dirty="0">
                <a:solidFill>
                  <a:srgbClr val="3A362F"/>
                </a:solidFill>
                <a:latin typeface="Arial MT"/>
                <a:cs typeface="Arial MT"/>
              </a:rPr>
              <a:t>significantly 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decreased</a:t>
            </a:r>
            <a:r>
              <a:rPr sz="2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missed</a:t>
            </a:r>
            <a:r>
              <a:rPr sz="2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appointments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1700" y="5394959"/>
            <a:ext cx="3008630" cy="1769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7100" spc="-810" dirty="0">
                <a:solidFill>
                  <a:srgbClr val="3A362F"/>
                </a:solidFill>
                <a:latin typeface="Arial MT"/>
                <a:cs typeface="Arial MT"/>
              </a:rPr>
              <a:t>45%</a:t>
            </a:r>
            <a:endParaRPr sz="7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130"/>
              </a:spcBef>
            </a:pPr>
            <a:r>
              <a:rPr sz="2550" spc="-170" dirty="0">
                <a:solidFill>
                  <a:srgbClr val="3A362F"/>
                </a:solidFill>
                <a:latin typeface="Arial MT"/>
                <a:cs typeface="Arial MT"/>
              </a:rPr>
              <a:t>Faster</a:t>
            </a:r>
            <a:r>
              <a:rPr sz="2550" spc="-1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75" dirty="0">
                <a:solidFill>
                  <a:srgbClr val="3A362F"/>
                </a:solidFill>
                <a:latin typeface="Arial MT"/>
                <a:cs typeface="Arial MT"/>
              </a:rPr>
              <a:t>Booking</a:t>
            </a:r>
            <a:r>
              <a:rPr sz="2550" spc="-1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30" dirty="0">
                <a:solidFill>
                  <a:srgbClr val="3A362F"/>
                </a:solidFill>
                <a:latin typeface="Arial MT"/>
                <a:cs typeface="Arial MT"/>
              </a:rPr>
              <a:t>Process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00700" y="7267288"/>
            <a:ext cx="3785870" cy="812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marR="5080" indent="-266700">
              <a:lnSpc>
                <a:spcPct val="123000"/>
              </a:lnSpc>
              <a:spcBef>
                <a:spcPts val="95"/>
              </a:spcBef>
            </a:pP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Average</a:t>
            </a:r>
            <a:r>
              <a:rPr sz="21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appointment</a:t>
            </a:r>
            <a:r>
              <a:rPr sz="210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booking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3A362F"/>
                </a:solidFill>
                <a:latin typeface="Arial MT"/>
                <a:cs typeface="Arial MT"/>
              </a:rPr>
              <a:t>time 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reduced</a:t>
            </a:r>
            <a:r>
              <a:rPr sz="21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65" dirty="0">
                <a:solidFill>
                  <a:srgbClr val="3A362F"/>
                </a:solidFill>
                <a:latin typeface="Arial MT"/>
                <a:cs typeface="Arial MT"/>
              </a:rPr>
              <a:t>from </a:t>
            </a: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8</a:t>
            </a:r>
            <a:r>
              <a:rPr sz="210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A362F"/>
                </a:solidFill>
                <a:latin typeface="Arial MT"/>
                <a:cs typeface="Arial MT"/>
              </a:rPr>
              <a:t>to</a:t>
            </a:r>
            <a:r>
              <a:rPr sz="210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4.4</a:t>
            </a:r>
            <a:r>
              <a:rPr sz="210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minutes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56900" y="5394959"/>
            <a:ext cx="2498725" cy="1769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0"/>
              </a:spcBef>
            </a:pPr>
            <a:r>
              <a:rPr sz="7100" spc="-810" dirty="0">
                <a:solidFill>
                  <a:srgbClr val="3A362F"/>
                </a:solidFill>
                <a:latin typeface="Arial MT"/>
                <a:cs typeface="Arial MT"/>
              </a:rPr>
              <a:t>92%</a:t>
            </a:r>
            <a:endParaRPr sz="7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130"/>
              </a:spcBef>
            </a:pPr>
            <a:r>
              <a:rPr sz="2550" spc="-140" dirty="0">
                <a:solidFill>
                  <a:srgbClr val="3A362F"/>
                </a:solidFill>
                <a:latin typeface="Arial MT"/>
                <a:cs typeface="Arial MT"/>
              </a:rPr>
              <a:t>Patient</a:t>
            </a:r>
            <a:r>
              <a:rPr sz="255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00" dirty="0">
                <a:solidFill>
                  <a:srgbClr val="3A362F"/>
                </a:solidFill>
                <a:latin typeface="Arial MT"/>
                <a:cs typeface="Arial MT"/>
              </a:rPr>
              <a:t>Satisfaction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44100" y="7267288"/>
            <a:ext cx="4137025" cy="812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47800" marR="5080" indent="-1435100">
              <a:lnSpc>
                <a:spcPct val="123000"/>
              </a:lnSpc>
              <a:spcBef>
                <a:spcPts val="95"/>
              </a:spcBef>
            </a:pP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Positive</a:t>
            </a:r>
            <a:r>
              <a:rPr sz="210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0" dirty="0">
                <a:solidFill>
                  <a:srgbClr val="3A362F"/>
                </a:solidFill>
                <a:latin typeface="Arial MT"/>
                <a:cs typeface="Arial MT"/>
              </a:rPr>
              <a:t>feedback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on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convenience</a:t>
            </a:r>
            <a:r>
              <a:rPr sz="210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3A362F"/>
                </a:solidFill>
                <a:latin typeface="Arial MT"/>
                <a:cs typeface="Arial MT"/>
              </a:rPr>
              <a:t>and 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ease</a:t>
            </a:r>
            <a:r>
              <a:rPr sz="2100" spc="-1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A362F"/>
                </a:solidFill>
                <a:latin typeface="Arial MT"/>
                <a:cs typeface="Arial MT"/>
              </a:rPr>
              <a:t>of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3A362F"/>
                </a:solidFill>
                <a:latin typeface="Arial MT"/>
                <a:cs typeface="Arial MT"/>
              </a:rPr>
              <a:t>use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14600" y="5394959"/>
            <a:ext cx="2614930" cy="1769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20"/>
              </a:spcBef>
            </a:pPr>
            <a:r>
              <a:rPr sz="7100" spc="-430" dirty="0">
                <a:solidFill>
                  <a:srgbClr val="3A362F"/>
                </a:solidFill>
                <a:latin typeface="Arial MT"/>
                <a:cs typeface="Arial MT"/>
              </a:rPr>
              <a:t>£180K</a:t>
            </a:r>
            <a:endParaRPr sz="7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</a:pPr>
            <a:r>
              <a:rPr sz="2550" spc="-195" dirty="0">
                <a:solidFill>
                  <a:srgbClr val="3A362F"/>
                </a:solidFill>
                <a:latin typeface="Arial MT"/>
                <a:cs typeface="Arial MT"/>
              </a:rPr>
              <a:t>Annual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60" dirty="0">
                <a:solidFill>
                  <a:srgbClr val="3A362F"/>
                </a:solidFill>
                <a:latin typeface="Arial MT"/>
                <a:cs typeface="Arial MT"/>
              </a:rPr>
              <a:t>Cost</a:t>
            </a:r>
            <a:r>
              <a:rPr sz="255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550" spc="-165" dirty="0">
                <a:solidFill>
                  <a:srgbClr val="3A362F"/>
                </a:solidFill>
                <a:latin typeface="Arial MT"/>
                <a:cs typeface="Arial MT"/>
              </a:rPr>
              <a:t>Savings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03400" y="7267288"/>
            <a:ext cx="4060825" cy="812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080" indent="-469900">
              <a:lnSpc>
                <a:spcPct val="123000"/>
              </a:lnSpc>
              <a:spcBef>
                <a:spcPts val="95"/>
              </a:spcBef>
            </a:pPr>
            <a:r>
              <a:rPr sz="2100" spc="-165" dirty="0">
                <a:solidFill>
                  <a:srgbClr val="3A362F"/>
                </a:solidFill>
                <a:latin typeface="Arial MT"/>
                <a:cs typeface="Arial MT"/>
              </a:rPr>
              <a:t>Reduced</a:t>
            </a:r>
            <a:r>
              <a:rPr sz="210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75" dirty="0">
                <a:solidFill>
                  <a:srgbClr val="3A362F"/>
                </a:solidFill>
                <a:latin typeface="Arial MT"/>
                <a:cs typeface="Arial MT"/>
              </a:rPr>
              <a:t>administrative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overhead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3A362F"/>
                </a:solidFill>
                <a:latin typeface="Arial MT"/>
                <a:cs typeface="Arial MT"/>
              </a:rPr>
              <a:t>and </a:t>
            </a: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improved</a:t>
            </a:r>
            <a:r>
              <a:rPr sz="2100" spc="-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resource</a:t>
            </a:r>
            <a:r>
              <a:rPr sz="21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utilisation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200" y="8584724"/>
            <a:ext cx="29317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65" dirty="0">
                <a:solidFill>
                  <a:srgbClr val="37502E"/>
                </a:solidFill>
                <a:latin typeface="Arial MT"/>
                <a:cs typeface="Arial MT"/>
              </a:rPr>
              <a:t>Operational</a:t>
            </a:r>
            <a:r>
              <a:rPr sz="3000" spc="-125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3000" spc="-80" dirty="0">
                <a:solidFill>
                  <a:srgbClr val="37502E"/>
                </a:solidFill>
                <a:latin typeface="Arial MT"/>
                <a:cs typeface="Arial MT"/>
              </a:rPr>
              <a:t>Impact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8200" y="9294653"/>
            <a:ext cx="7605395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0"/>
              </a:spcBef>
              <a:buSzPct val="85714"/>
              <a:buChar char="•"/>
              <a:tabLst>
                <a:tab pos="469265" algn="l"/>
              </a:tabLst>
            </a:pP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Administrative</a:t>
            </a:r>
            <a:r>
              <a:rPr sz="210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staff</a:t>
            </a: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time</a:t>
            </a:r>
            <a:r>
              <a:rPr sz="210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0" dirty="0">
                <a:solidFill>
                  <a:srgbClr val="3A362F"/>
                </a:solidFill>
                <a:latin typeface="Arial MT"/>
                <a:cs typeface="Arial MT"/>
              </a:rPr>
              <a:t>freed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up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 by</a:t>
            </a:r>
            <a:r>
              <a:rPr sz="2100" spc="-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4" dirty="0">
                <a:solidFill>
                  <a:srgbClr val="3A362F"/>
                </a:solidFill>
                <a:latin typeface="Arial MT"/>
                <a:cs typeface="Arial MT"/>
              </a:rPr>
              <a:t>30%</a:t>
            </a:r>
            <a:r>
              <a:rPr sz="2100" spc="-45" dirty="0">
                <a:solidFill>
                  <a:srgbClr val="3A362F"/>
                </a:solidFill>
                <a:latin typeface="Arial MT"/>
                <a:cs typeface="Arial MT"/>
              </a:rPr>
              <a:t> for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65" dirty="0">
                <a:solidFill>
                  <a:srgbClr val="3A362F"/>
                </a:solidFill>
                <a:latin typeface="Arial MT"/>
                <a:cs typeface="Arial MT"/>
              </a:rPr>
              <a:t>patient</a:t>
            </a:r>
            <a:r>
              <a:rPr sz="2100" spc="-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care</a:t>
            </a:r>
            <a:r>
              <a:rPr sz="210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activities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8200" y="9777253"/>
            <a:ext cx="7605395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0"/>
              </a:spcBef>
              <a:buSzPct val="85714"/>
              <a:buChar char="•"/>
              <a:tabLst>
                <a:tab pos="469265" algn="l"/>
              </a:tabLst>
            </a:pPr>
            <a:r>
              <a:rPr sz="2100" spc="-180" dirty="0">
                <a:solidFill>
                  <a:srgbClr val="3A362F"/>
                </a:solidFill>
                <a:latin typeface="Arial MT"/>
                <a:cs typeface="Arial MT"/>
              </a:rPr>
              <a:t>Real-</a:t>
            </a: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time</a:t>
            </a:r>
            <a:r>
              <a:rPr sz="2100" spc="-8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55" dirty="0">
                <a:solidFill>
                  <a:srgbClr val="3A362F"/>
                </a:solidFill>
                <a:latin typeface="Arial MT"/>
                <a:cs typeface="Arial MT"/>
              </a:rPr>
              <a:t>visibility</a:t>
            </a:r>
            <a:r>
              <a:rPr sz="210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A362F"/>
                </a:solidFill>
                <a:latin typeface="Arial MT"/>
                <a:cs typeface="Arial MT"/>
              </a:rPr>
              <a:t>of</a:t>
            </a:r>
            <a:r>
              <a:rPr sz="21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appointment </a:t>
            </a: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capacity</a:t>
            </a:r>
            <a:r>
              <a:rPr sz="210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0" dirty="0">
                <a:solidFill>
                  <a:srgbClr val="3A362F"/>
                </a:solidFill>
                <a:latin typeface="Arial MT"/>
                <a:cs typeface="Arial MT"/>
              </a:rPr>
              <a:t>across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3A362F"/>
                </a:solidFill>
                <a:latin typeface="Arial MT"/>
                <a:cs typeface="Arial MT"/>
              </a:rPr>
              <a:t>all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30" dirty="0">
                <a:solidFill>
                  <a:srgbClr val="3A362F"/>
                </a:solidFill>
                <a:latin typeface="Arial MT"/>
                <a:cs typeface="Arial MT"/>
              </a:rPr>
              <a:t>departments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45700" y="8584724"/>
            <a:ext cx="24377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40" dirty="0">
                <a:solidFill>
                  <a:srgbClr val="37502E"/>
                </a:solidFill>
                <a:latin typeface="Arial MT"/>
                <a:cs typeface="Arial MT"/>
              </a:rPr>
              <a:t>Patient</a:t>
            </a:r>
            <a:r>
              <a:rPr sz="3000" spc="-155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3000" spc="-110" dirty="0">
                <a:solidFill>
                  <a:srgbClr val="37502E"/>
                </a:solidFill>
                <a:latin typeface="Arial MT"/>
                <a:cs typeface="Arial MT"/>
              </a:rPr>
              <a:t>Benefits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45700" y="9294653"/>
            <a:ext cx="4497070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0"/>
              </a:spcBef>
              <a:buSzPct val="85714"/>
              <a:buChar char="•"/>
              <a:tabLst>
                <a:tab pos="469265" algn="l"/>
              </a:tabLst>
            </a:pPr>
            <a:r>
              <a:rPr sz="2100" spc="-35" dirty="0">
                <a:solidFill>
                  <a:srgbClr val="3A362F"/>
                </a:solidFill>
                <a:latin typeface="Arial MT"/>
                <a:cs typeface="Arial MT"/>
              </a:rPr>
              <a:t>24/7 </a:t>
            </a:r>
            <a:r>
              <a:rPr sz="2100" spc="-100" dirty="0">
                <a:solidFill>
                  <a:srgbClr val="3A362F"/>
                </a:solidFill>
                <a:latin typeface="Arial MT"/>
                <a:cs typeface="Arial MT"/>
              </a:rPr>
              <a:t>booking</a:t>
            </a:r>
            <a:r>
              <a:rPr sz="2100" spc="-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access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50" dirty="0">
                <a:solidFill>
                  <a:srgbClr val="3A362F"/>
                </a:solidFill>
                <a:latin typeface="Arial MT"/>
                <a:cs typeface="Arial MT"/>
              </a:rPr>
              <a:t>from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any</a:t>
            </a:r>
            <a:r>
              <a:rPr sz="2100" spc="-1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35" dirty="0">
                <a:solidFill>
                  <a:srgbClr val="3A362F"/>
                </a:solidFill>
                <a:latin typeface="Arial MT"/>
                <a:cs typeface="Arial MT"/>
              </a:rPr>
              <a:t>device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45700" y="9777253"/>
            <a:ext cx="5838190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0"/>
              </a:spcBef>
              <a:buSzPct val="85714"/>
              <a:buChar char="•"/>
              <a:tabLst>
                <a:tab pos="469265" algn="l"/>
              </a:tabLst>
            </a:pPr>
            <a:r>
              <a:rPr sz="2100" spc="-165" dirty="0">
                <a:solidFill>
                  <a:srgbClr val="3A362F"/>
                </a:solidFill>
                <a:latin typeface="Arial MT"/>
                <a:cs typeface="Arial MT"/>
              </a:rPr>
              <a:t>Reduced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35" dirty="0">
                <a:solidFill>
                  <a:srgbClr val="3A362F"/>
                </a:solidFill>
                <a:latin typeface="Arial MT"/>
                <a:cs typeface="Arial MT"/>
              </a:rPr>
              <a:t>wait</a:t>
            </a:r>
            <a:r>
              <a:rPr sz="2100" spc="-80" dirty="0">
                <a:solidFill>
                  <a:srgbClr val="3A362F"/>
                </a:solidFill>
                <a:latin typeface="Arial MT"/>
                <a:cs typeface="Arial MT"/>
              </a:rPr>
              <a:t> times</a:t>
            </a:r>
            <a:r>
              <a:rPr sz="2100" spc="-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through</a:t>
            </a:r>
            <a:r>
              <a:rPr sz="2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optimised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35" dirty="0">
                <a:solidFill>
                  <a:srgbClr val="3A362F"/>
                </a:solidFill>
                <a:latin typeface="Arial MT"/>
                <a:cs typeface="Arial MT"/>
              </a:rPr>
              <a:t>scheduling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735316"/>
            <a:ext cx="307975" cy="589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610"/>
              </a:lnSpc>
            </a:pPr>
            <a:r>
              <a:rPr sz="5000" spc="-415" dirty="0">
                <a:solidFill>
                  <a:srgbClr val="37502E"/>
                </a:solidFill>
                <a:latin typeface="Arial MT"/>
                <a:cs typeface="Arial MT"/>
              </a:rPr>
              <a:t>L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735316"/>
            <a:ext cx="988060" cy="130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00330" algn="r">
              <a:lnSpc>
                <a:spcPts val="4410"/>
              </a:lnSpc>
            </a:pPr>
            <a:r>
              <a:rPr sz="5000" spc="-380" dirty="0">
                <a:solidFill>
                  <a:srgbClr val="37502E"/>
                </a:solidFill>
                <a:latin typeface="Arial MT"/>
                <a:cs typeface="Arial MT"/>
              </a:rPr>
              <a:t>es</a:t>
            </a:r>
            <a:endParaRPr sz="5000">
              <a:latin typeface="Arial MT"/>
              <a:cs typeface="Arial MT"/>
            </a:endParaRPr>
          </a:p>
          <a:p>
            <a:pPr algn="r">
              <a:lnSpc>
                <a:spcPts val="5800"/>
              </a:lnSpc>
            </a:pPr>
            <a:r>
              <a:rPr sz="5000" spc="-310" dirty="0">
                <a:solidFill>
                  <a:srgbClr val="37502E"/>
                </a:solidFill>
                <a:latin typeface="Arial MT"/>
                <a:cs typeface="Arial MT"/>
              </a:rPr>
              <a:t>Proj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4500" y="735316"/>
            <a:ext cx="15162530" cy="130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10"/>
              </a:lnSpc>
            </a:pPr>
            <a:r>
              <a:rPr sz="5000" spc="-305" dirty="0">
                <a:solidFill>
                  <a:srgbClr val="37502E"/>
                </a:solidFill>
                <a:latin typeface="Arial MT"/>
                <a:cs typeface="Arial MT"/>
              </a:rPr>
              <a:t>sons</a:t>
            </a:r>
            <a:r>
              <a:rPr sz="5000" spc="-39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5000" spc="-310" dirty="0">
                <a:solidFill>
                  <a:srgbClr val="37502E"/>
                </a:solidFill>
                <a:latin typeface="Arial MT"/>
                <a:cs typeface="Arial MT"/>
              </a:rPr>
              <a:t>Learnt:</a:t>
            </a:r>
            <a:r>
              <a:rPr sz="5000" spc="-355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5000" spc="-330" dirty="0">
                <a:solidFill>
                  <a:srgbClr val="37502E"/>
                </a:solidFill>
                <a:latin typeface="Arial MT"/>
                <a:cs typeface="Arial MT"/>
              </a:rPr>
              <a:t>Best</a:t>
            </a:r>
            <a:r>
              <a:rPr sz="5000" spc="-34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5000" spc="-254" dirty="0">
                <a:solidFill>
                  <a:srgbClr val="37502E"/>
                </a:solidFill>
                <a:latin typeface="Arial MT"/>
                <a:cs typeface="Arial MT"/>
              </a:rPr>
              <a:t>Practices</a:t>
            </a:r>
            <a:r>
              <a:rPr sz="5000" spc="-39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5000" spc="-345" dirty="0">
                <a:solidFill>
                  <a:srgbClr val="37502E"/>
                </a:solidFill>
                <a:latin typeface="Arial MT"/>
                <a:cs typeface="Arial MT"/>
              </a:rPr>
              <a:t>and</a:t>
            </a:r>
            <a:r>
              <a:rPr sz="5000" spc="-30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5000" spc="-340" dirty="0">
                <a:solidFill>
                  <a:srgbClr val="37502E"/>
                </a:solidFill>
                <a:latin typeface="Arial MT"/>
                <a:cs typeface="Arial MT"/>
              </a:rPr>
              <a:t>Recommendations</a:t>
            </a:r>
            <a:r>
              <a:rPr sz="5000" spc="-39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5000" spc="-120" dirty="0">
                <a:solidFill>
                  <a:srgbClr val="37502E"/>
                </a:solidFill>
                <a:latin typeface="Arial MT"/>
                <a:cs typeface="Arial MT"/>
              </a:rPr>
              <a:t>for</a:t>
            </a:r>
            <a:r>
              <a:rPr sz="5000" spc="-390" dirty="0">
                <a:solidFill>
                  <a:srgbClr val="37502E"/>
                </a:solidFill>
                <a:latin typeface="Arial MT"/>
                <a:cs typeface="Arial MT"/>
              </a:rPr>
              <a:t> </a:t>
            </a:r>
            <a:r>
              <a:rPr sz="5000" spc="-355" dirty="0">
                <a:solidFill>
                  <a:srgbClr val="37502E"/>
                </a:solidFill>
                <a:latin typeface="Arial MT"/>
                <a:cs typeface="Arial MT"/>
              </a:rPr>
              <a:t>Future</a:t>
            </a:r>
            <a:endParaRPr sz="5000">
              <a:latin typeface="Arial MT"/>
              <a:cs typeface="Arial MT"/>
            </a:endParaRPr>
          </a:p>
          <a:p>
            <a:pPr marL="101600">
              <a:lnSpc>
                <a:spcPts val="5800"/>
              </a:lnSpc>
            </a:pPr>
            <a:r>
              <a:rPr sz="5000" spc="-20" dirty="0">
                <a:solidFill>
                  <a:srgbClr val="37502E"/>
                </a:solidFill>
                <a:latin typeface="Arial MT"/>
                <a:cs typeface="Arial MT"/>
              </a:rPr>
              <a:t>ects</a:t>
            </a:r>
            <a:endParaRPr sz="5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9507200" cy="10972800"/>
            <a:chOff x="0" y="0"/>
            <a:chExt cx="19507200" cy="10972800"/>
          </a:xfrm>
        </p:grpSpPr>
        <p:sp>
          <p:nvSpPr>
            <p:cNvPr id="6" name="object 6"/>
            <p:cNvSpPr/>
            <p:nvPr/>
          </p:nvSpPr>
          <p:spPr>
            <a:xfrm>
              <a:off x="846626" y="2573535"/>
              <a:ext cx="5777230" cy="3113405"/>
            </a:xfrm>
            <a:custGeom>
              <a:avLst/>
              <a:gdLst/>
              <a:ahLst/>
              <a:cxnLst/>
              <a:rect l="l" t="t" r="r" b="b"/>
              <a:pathLst>
                <a:path w="5777230" h="3113404">
                  <a:moveTo>
                    <a:pt x="5740526" y="3113023"/>
                  </a:moveTo>
                  <a:lnTo>
                    <a:pt x="36321" y="3113023"/>
                  </a:lnTo>
                  <a:lnTo>
                    <a:pt x="22183" y="3110169"/>
                  </a:lnTo>
                  <a:lnTo>
                    <a:pt x="10638" y="3102385"/>
                  </a:lnTo>
                  <a:lnTo>
                    <a:pt x="2854" y="3090840"/>
                  </a:lnTo>
                  <a:lnTo>
                    <a:pt x="0" y="3076702"/>
                  </a:lnTo>
                  <a:lnTo>
                    <a:pt x="0" y="36321"/>
                  </a:lnTo>
                  <a:lnTo>
                    <a:pt x="2854" y="22183"/>
                  </a:lnTo>
                  <a:lnTo>
                    <a:pt x="10638" y="10638"/>
                  </a:lnTo>
                  <a:lnTo>
                    <a:pt x="22183" y="2854"/>
                  </a:lnTo>
                  <a:lnTo>
                    <a:pt x="36321" y="0"/>
                  </a:lnTo>
                  <a:lnTo>
                    <a:pt x="5740526" y="0"/>
                  </a:lnTo>
                  <a:lnTo>
                    <a:pt x="5754664" y="2854"/>
                  </a:lnTo>
                  <a:lnTo>
                    <a:pt x="5766210" y="10638"/>
                  </a:lnTo>
                  <a:lnTo>
                    <a:pt x="5773994" y="22183"/>
                  </a:lnTo>
                  <a:lnTo>
                    <a:pt x="5776848" y="36321"/>
                  </a:lnTo>
                  <a:lnTo>
                    <a:pt x="5776848" y="3076702"/>
                  </a:lnTo>
                  <a:lnTo>
                    <a:pt x="5773994" y="3090840"/>
                  </a:lnTo>
                  <a:lnTo>
                    <a:pt x="5766210" y="3102385"/>
                  </a:lnTo>
                  <a:lnTo>
                    <a:pt x="5754664" y="3110169"/>
                  </a:lnTo>
                  <a:lnTo>
                    <a:pt x="5740526" y="3113023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19507200" y="0"/>
                  </a:moveTo>
                  <a:lnTo>
                    <a:pt x="1814080" y="0"/>
                  </a:lnTo>
                  <a:lnTo>
                    <a:pt x="1088402" y="0"/>
                  </a:lnTo>
                  <a:lnTo>
                    <a:pt x="0" y="0"/>
                  </a:lnTo>
                  <a:lnTo>
                    <a:pt x="0" y="10972800"/>
                  </a:lnTo>
                  <a:lnTo>
                    <a:pt x="1088402" y="10972800"/>
                  </a:lnTo>
                  <a:lnTo>
                    <a:pt x="1814080" y="10972800"/>
                  </a:lnTo>
                  <a:lnTo>
                    <a:pt x="19507200" y="10972800"/>
                  </a:lnTo>
                  <a:lnTo>
                    <a:pt x="19507200" y="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2700" y="3009900"/>
              <a:ext cx="330200" cy="3302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79500" y="3814452"/>
            <a:ext cx="4949825" cy="157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55"/>
              </a:lnSpc>
            </a:pPr>
            <a:r>
              <a:rPr sz="2450" spc="-185" dirty="0">
                <a:solidFill>
                  <a:srgbClr val="3A362F"/>
                </a:solidFill>
                <a:latin typeface="Arial MT"/>
                <a:cs typeface="Arial MT"/>
              </a:rPr>
              <a:t>Early</a:t>
            </a:r>
            <a:r>
              <a:rPr sz="2450" spc="-20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450" spc="-160" dirty="0">
                <a:solidFill>
                  <a:srgbClr val="3A362F"/>
                </a:solidFill>
                <a:latin typeface="Arial MT"/>
                <a:cs typeface="Arial MT"/>
              </a:rPr>
              <a:t>Stakeholder</a:t>
            </a:r>
            <a:r>
              <a:rPr sz="245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450" spc="-80" dirty="0">
                <a:solidFill>
                  <a:srgbClr val="3A362F"/>
                </a:solidFill>
                <a:latin typeface="Arial MT"/>
                <a:cs typeface="Arial MT"/>
              </a:rPr>
              <a:t>Engagement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19000"/>
              </a:lnSpc>
              <a:spcBef>
                <a:spcPts val="1130"/>
              </a:spcBef>
            </a:pPr>
            <a:r>
              <a:rPr sz="2100" spc="-140" dirty="0">
                <a:solidFill>
                  <a:srgbClr val="3A362F"/>
                </a:solidFill>
                <a:latin typeface="Arial MT"/>
                <a:cs typeface="Arial MT"/>
              </a:rPr>
              <a:t>Involve</a:t>
            </a:r>
            <a:r>
              <a:rPr sz="2100" spc="-1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95" dirty="0">
                <a:solidFill>
                  <a:srgbClr val="3A362F"/>
                </a:solidFill>
                <a:latin typeface="Arial MT"/>
                <a:cs typeface="Arial MT"/>
              </a:rPr>
              <a:t>end-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users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75" dirty="0">
                <a:solidFill>
                  <a:srgbClr val="3A362F"/>
                </a:solidFill>
                <a:latin typeface="Arial MT"/>
                <a:cs typeface="Arial MT"/>
              </a:rPr>
              <a:t>from</a:t>
            </a:r>
            <a:r>
              <a:rPr sz="2100" spc="-2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day </a:t>
            </a:r>
            <a:r>
              <a:rPr sz="2100" spc="-185" dirty="0">
                <a:solidFill>
                  <a:srgbClr val="3A362F"/>
                </a:solidFill>
                <a:latin typeface="Arial MT"/>
                <a:cs typeface="Arial MT"/>
              </a:rPr>
              <a:t>one</a:t>
            </a:r>
            <a:r>
              <a:rPr sz="210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45" dirty="0">
                <a:solidFill>
                  <a:srgbClr val="3A362F"/>
                </a:solidFill>
                <a:latin typeface="Arial MT"/>
                <a:cs typeface="Arial MT"/>
              </a:rPr>
              <a:t>to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ensure </a:t>
            </a:r>
            <a:r>
              <a:rPr sz="2100" spc="-140" dirty="0">
                <a:solidFill>
                  <a:srgbClr val="3A362F"/>
                </a:solidFill>
                <a:latin typeface="Arial MT"/>
                <a:cs typeface="Arial MT"/>
              </a:rPr>
              <a:t>requirements</a:t>
            </a: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truly</a:t>
            </a: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5" dirty="0">
                <a:solidFill>
                  <a:srgbClr val="3A362F"/>
                </a:solidFill>
                <a:latin typeface="Arial MT"/>
                <a:cs typeface="Arial MT"/>
              </a:rPr>
              <a:t>reflect</a:t>
            </a:r>
            <a:r>
              <a:rPr sz="21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operational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60" dirty="0">
                <a:solidFill>
                  <a:srgbClr val="3A362F"/>
                </a:solidFill>
                <a:latin typeface="Arial MT"/>
                <a:cs typeface="Arial MT"/>
              </a:rPr>
              <a:t>needs</a:t>
            </a:r>
            <a:r>
              <a:rPr sz="2100" spc="-229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3A362F"/>
                </a:solidFill>
                <a:latin typeface="Arial MT"/>
                <a:cs typeface="Arial MT"/>
              </a:rPr>
              <a:t>and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workflows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19507200" cy="10972800"/>
            <a:chOff x="0" y="0"/>
            <a:chExt cx="19507200" cy="10972800"/>
          </a:xfrm>
        </p:grpSpPr>
        <p:sp>
          <p:nvSpPr>
            <p:cNvPr id="11" name="object 11"/>
            <p:cNvSpPr/>
            <p:nvPr/>
          </p:nvSpPr>
          <p:spPr>
            <a:xfrm>
              <a:off x="6865248" y="2573535"/>
              <a:ext cx="5777230" cy="3113405"/>
            </a:xfrm>
            <a:custGeom>
              <a:avLst/>
              <a:gdLst/>
              <a:ahLst/>
              <a:cxnLst/>
              <a:rect l="l" t="t" r="r" b="b"/>
              <a:pathLst>
                <a:path w="5777230" h="3113404">
                  <a:moveTo>
                    <a:pt x="5740527" y="3113023"/>
                  </a:moveTo>
                  <a:lnTo>
                    <a:pt x="36321" y="3113023"/>
                  </a:lnTo>
                  <a:lnTo>
                    <a:pt x="22183" y="3110169"/>
                  </a:lnTo>
                  <a:lnTo>
                    <a:pt x="10638" y="3102385"/>
                  </a:lnTo>
                  <a:lnTo>
                    <a:pt x="2854" y="3090840"/>
                  </a:lnTo>
                  <a:lnTo>
                    <a:pt x="0" y="3076702"/>
                  </a:lnTo>
                  <a:lnTo>
                    <a:pt x="0" y="36321"/>
                  </a:lnTo>
                  <a:lnTo>
                    <a:pt x="2854" y="22183"/>
                  </a:lnTo>
                  <a:lnTo>
                    <a:pt x="10638" y="10638"/>
                  </a:lnTo>
                  <a:lnTo>
                    <a:pt x="22183" y="2854"/>
                  </a:lnTo>
                  <a:lnTo>
                    <a:pt x="36321" y="0"/>
                  </a:lnTo>
                  <a:lnTo>
                    <a:pt x="5740527" y="0"/>
                  </a:lnTo>
                  <a:lnTo>
                    <a:pt x="5754665" y="2854"/>
                  </a:lnTo>
                  <a:lnTo>
                    <a:pt x="5766210" y="10638"/>
                  </a:lnTo>
                  <a:lnTo>
                    <a:pt x="5773994" y="22183"/>
                  </a:lnTo>
                  <a:lnTo>
                    <a:pt x="5776848" y="36321"/>
                  </a:lnTo>
                  <a:lnTo>
                    <a:pt x="5776848" y="3076702"/>
                  </a:lnTo>
                  <a:lnTo>
                    <a:pt x="5773994" y="3090840"/>
                  </a:lnTo>
                  <a:lnTo>
                    <a:pt x="5766210" y="3102385"/>
                  </a:lnTo>
                  <a:lnTo>
                    <a:pt x="5754665" y="3110169"/>
                  </a:lnTo>
                  <a:lnTo>
                    <a:pt x="5740527" y="3113023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19507200" y="0"/>
                  </a:moveTo>
                  <a:lnTo>
                    <a:pt x="7832699" y="0"/>
                  </a:lnTo>
                  <a:lnTo>
                    <a:pt x="7107021" y="0"/>
                  </a:lnTo>
                  <a:lnTo>
                    <a:pt x="0" y="0"/>
                  </a:lnTo>
                  <a:lnTo>
                    <a:pt x="0" y="10972800"/>
                  </a:lnTo>
                  <a:lnTo>
                    <a:pt x="7107021" y="10972800"/>
                  </a:lnTo>
                  <a:lnTo>
                    <a:pt x="7832699" y="10972800"/>
                  </a:lnTo>
                  <a:lnTo>
                    <a:pt x="19507200" y="10972800"/>
                  </a:lnTo>
                  <a:lnTo>
                    <a:pt x="19507200" y="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2500" y="3009899"/>
              <a:ext cx="330200" cy="3302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099300" y="3814452"/>
            <a:ext cx="5216525" cy="1194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55"/>
              </a:lnSpc>
            </a:pPr>
            <a:r>
              <a:rPr sz="2450" spc="-120" dirty="0">
                <a:solidFill>
                  <a:srgbClr val="3A362F"/>
                </a:solidFill>
                <a:latin typeface="Arial MT"/>
                <a:cs typeface="Arial MT"/>
              </a:rPr>
              <a:t>Iterative</a:t>
            </a:r>
            <a:r>
              <a:rPr sz="245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rgbClr val="3A362F"/>
                </a:solidFill>
                <a:latin typeface="Arial MT"/>
                <a:cs typeface="Arial MT"/>
              </a:rPr>
              <a:t>Development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19000"/>
              </a:lnSpc>
              <a:spcBef>
                <a:spcPts val="1130"/>
              </a:spcBef>
            </a:pP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Agile</a:t>
            </a:r>
            <a:r>
              <a:rPr sz="2100" spc="-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40" dirty="0">
                <a:solidFill>
                  <a:srgbClr val="3A362F"/>
                </a:solidFill>
                <a:latin typeface="Arial MT"/>
                <a:cs typeface="Arial MT"/>
              </a:rPr>
              <a:t>methodology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with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frequent</a:t>
            </a:r>
            <a:r>
              <a:rPr sz="2100" spc="-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65" dirty="0">
                <a:solidFill>
                  <a:srgbClr val="3A362F"/>
                </a:solidFill>
                <a:latin typeface="Arial MT"/>
                <a:cs typeface="Arial MT"/>
              </a:rPr>
              <a:t>demos</a:t>
            </a: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prevented </a:t>
            </a:r>
            <a:r>
              <a:rPr sz="2100" spc="-95" dirty="0">
                <a:solidFill>
                  <a:srgbClr val="3A362F"/>
                </a:solidFill>
                <a:latin typeface="Arial MT"/>
                <a:cs typeface="Arial MT"/>
              </a:rPr>
              <a:t>costly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late-</a:t>
            </a: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stage</a:t>
            </a: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40" dirty="0">
                <a:solidFill>
                  <a:srgbClr val="3A362F"/>
                </a:solidFill>
                <a:latin typeface="Arial MT"/>
                <a:cs typeface="Arial MT"/>
              </a:rPr>
              <a:t>requirement</a:t>
            </a:r>
            <a:r>
              <a:rPr sz="2100" spc="-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changes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0"/>
            <a:ext cx="19507200" cy="10972800"/>
            <a:chOff x="0" y="0"/>
            <a:chExt cx="19507200" cy="10972800"/>
          </a:xfrm>
        </p:grpSpPr>
        <p:sp>
          <p:nvSpPr>
            <p:cNvPr id="16" name="object 16"/>
            <p:cNvSpPr/>
            <p:nvPr/>
          </p:nvSpPr>
          <p:spPr>
            <a:xfrm>
              <a:off x="12883870" y="2573535"/>
              <a:ext cx="5777230" cy="3113405"/>
            </a:xfrm>
            <a:custGeom>
              <a:avLst/>
              <a:gdLst/>
              <a:ahLst/>
              <a:cxnLst/>
              <a:rect l="l" t="t" r="r" b="b"/>
              <a:pathLst>
                <a:path w="5777230" h="3113404">
                  <a:moveTo>
                    <a:pt x="5740527" y="3113023"/>
                  </a:moveTo>
                  <a:lnTo>
                    <a:pt x="36321" y="3113023"/>
                  </a:lnTo>
                  <a:lnTo>
                    <a:pt x="22183" y="3110169"/>
                  </a:lnTo>
                  <a:lnTo>
                    <a:pt x="10638" y="3102385"/>
                  </a:lnTo>
                  <a:lnTo>
                    <a:pt x="2854" y="3090840"/>
                  </a:lnTo>
                  <a:lnTo>
                    <a:pt x="0" y="3076702"/>
                  </a:lnTo>
                  <a:lnTo>
                    <a:pt x="0" y="36321"/>
                  </a:lnTo>
                  <a:lnTo>
                    <a:pt x="2854" y="22183"/>
                  </a:lnTo>
                  <a:lnTo>
                    <a:pt x="10638" y="10638"/>
                  </a:lnTo>
                  <a:lnTo>
                    <a:pt x="22183" y="2854"/>
                  </a:lnTo>
                  <a:lnTo>
                    <a:pt x="36321" y="0"/>
                  </a:lnTo>
                  <a:lnTo>
                    <a:pt x="5740527" y="0"/>
                  </a:lnTo>
                  <a:lnTo>
                    <a:pt x="5754665" y="2854"/>
                  </a:lnTo>
                  <a:lnTo>
                    <a:pt x="5766210" y="10638"/>
                  </a:lnTo>
                  <a:lnTo>
                    <a:pt x="5773993" y="22183"/>
                  </a:lnTo>
                  <a:lnTo>
                    <a:pt x="5776848" y="36321"/>
                  </a:lnTo>
                  <a:lnTo>
                    <a:pt x="5776848" y="3076702"/>
                  </a:lnTo>
                  <a:lnTo>
                    <a:pt x="5773993" y="3090840"/>
                  </a:lnTo>
                  <a:lnTo>
                    <a:pt x="5766210" y="3102385"/>
                  </a:lnTo>
                  <a:lnTo>
                    <a:pt x="5754665" y="3110169"/>
                  </a:lnTo>
                  <a:lnTo>
                    <a:pt x="5740527" y="3113023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19507200" y="0"/>
                  </a:moveTo>
                  <a:lnTo>
                    <a:pt x="13851319" y="0"/>
                  </a:lnTo>
                  <a:lnTo>
                    <a:pt x="13125641" y="0"/>
                  </a:lnTo>
                  <a:lnTo>
                    <a:pt x="0" y="0"/>
                  </a:lnTo>
                  <a:lnTo>
                    <a:pt x="0" y="10972800"/>
                  </a:lnTo>
                  <a:lnTo>
                    <a:pt x="13125641" y="10972800"/>
                  </a:lnTo>
                  <a:lnTo>
                    <a:pt x="13851319" y="10972800"/>
                  </a:lnTo>
                  <a:lnTo>
                    <a:pt x="19507200" y="10972800"/>
                  </a:lnTo>
                  <a:lnTo>
                    <a:pt x="19507200" y="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22300" y="3009900"/>
              <a:ext cx="330200" cy="3302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106400" y="3715067"/>
            <a:ext cx="5068570" cy="130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55" dirty="0">
                <a:solidFill>
                  <a:srgbClr val="3A362F"/>
                </a:solidFill>
                <a:latin typeface="Arial MT"/>
                <a:cs typeface="Arial MT"/>
              </a:rPr>
              <a:t>Security</a:t>
            </a:r>
            <a:r>
              <a:rPr sz="2450" spc="-19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450" spc="-145" dirty="0">
                <a:solidFill>
                  <a:srgbClr val="3A362F"/>
                </a:solidFill>
                <a:latin typeface="Arial MT"/>
                <a:cs typeface="Arial MT"/>
              </a:rPr>
              <a:t>by</a:t>
            </a:r>
            <a:r>
              <a:rPr sz="2450" spc="-1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3A362F"/>
                </a:solidFill>
                <a:latin typeface="Arial MT"/>
                <a:cs typeface="Arial MT"/>
              </a:rPr>
              <a:t>Design</a:t>
            </a:r>
            <a:endParaRPr sz="2450">
              <a:latin typeface="Arial MT"/>
              <a:cs typeface="Arial MT"/>
            </a:endParaRPr>
          </a:p>
          <a:p>
            <a:pPr marL="12700" marR="5080">
              <a:lnSpc>
                <a:spcPct val="119000"/>
              </a:lnSpc>
              <a:spcBef>
                <a:spcPts val="1130"/>
              </a:spcBef>
            </a:pP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Building</a:t>
            </a:r>
            <a:r>
              <a:rPr sz="210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security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considerations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into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65" dirty="0">
                <a:solidFill>
                  <a:srgbClr val="3A362F"/>
                </a:solidFill>
                <a:latin typeface="Arial MT"/>
                <a:cs typeface="Arial MT"/>
              </a:rPr>
              <a:t>every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65" dirty="0">
                <a:solidFill>
                  <a:srgbClr val="3A362F"/>
                </a:solidFill>
                <a:latin typeface="Arial MT"/>
                <a:cs typeface="Arial MT"/>
              </a:rPr>
              <a:t>phase </a:t>
            </a: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proved</a:t>
            </a:r>
            <a:r>
              <a:rPr sz="2100" spc="-229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40" dirty="0">
                <a:solidFill>
                  <a:srgbClr val="3A362F"/>
                </a:solidFill>
                <a:latin typeface="Arial MT"/>
                <a:cs typeface="Arial MT"/>
              </a:rPr>
              <a:t>more</a:t>
            </a:r>
            <a:r>
              <a:rPr sz="2100" spc="-1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effective</a:t>
            </a:r>
            <a:r>
              <a:rPr sz="2100" spc="-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than</a:t>
            </a:r>
            <a:r>
              <a:rPr sz="2100" spc="-2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retrofitting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6626" y="6079420"/>
            <a:ext cx="17814290" cy="40640"/>
          </a:xfrm>
          <a:custGeom>
            <a:avLst/>
            <a:gdLst/>
            <a:ahLst/>
            <a:cxnLst/>
            <a:rect l="l" t="t" r="r" b="b"/>
            <a:pathLst>
              <a:path w="17814290" h="40639">
                <a:moveTo>
                  <a:pt x="17814288" y="40385"/>
                </a:moveTo>
                <a:lnTo>
                  <a:pt x="0" y="40385"/>
                </a:lnTo>
                <a:lnTo>
                  <a:pt x="0" y="0"/>
                </a:lnTo>
                <a:lnTo>
                  <a:pt x="17814288" y="0"/>
                </a:lnTo>
                <a:lnTo>
                  <a:pt x="17814288" y="40385"/>
                </a:lnTo>
                <a:close/>
              </a:path>
            </a:pathLst>
          </a:custGeom>
          <a:solidFill>
            <a:srgbClr val="3A362F">
              <a:alpha val="49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5500" y="8054688"/>
            <a:ext cx="459549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95"/>
              </a:spcBef>
            </a:pP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Allocate</a:t>
            </a:r>
            <a:r>
              <a:rPr sz="2100" spc="-1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minimum</a:t>
            </a:r>
            <a:r>
              <a:rPr sz="2100" spc="-21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4" dirty="0">
                <a:solidFill>
                  <a:srgbClr val="3A362F"/>
                </a:solidFill>
                <a:latin typeface="Arial MT"/>
                <a:cs typeface="Arial MT"/>
              </a:rPr>
              <a:t>25%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55" dirty="0">
                <a:solidFill>
                  <a:srgbClr val="3A362F"/>
                </a:solidFill>
                <a:latin typeface="Arial MT"/>
                <a:cs typeface="Arial MT"/>
              </a:rPr>
              <a:t>of</a:t>
            </a:r>
            <a:r>
              <a:rPr sz="2100" spc="-100" dirty="0">
                <a:solidFill>
                  <a:srgbClr val="3A362F"/>
                </a:solidFill>
                <a:latin typeface="Arial MT"/>
                <a:cs typeface="Arial MT"/>
              </a:rPr>
              <a:t> project</a:t>
            </a:r>
            <a:r>
              <a:rPr sz="2100" spc="-1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timeline</a:t>
            </a:r>
            <a:r>
              <a:rPr sz="210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3A362F"/>
                </a:solidFill>
                <a:latin typeface="Arial MT"/>
                <a:cs typeface="Arial MT"/>
              </a:rPr>
              <a:t>to </a:t>
            </a:r>
            <a:r>
              <a:rPr sz="2100" spc="-155" dirty="0">
                <a:solidFill>
                  <a:srgbClr val="3A362F"/>
                </a:solidFill>
                <a:latin typeface="Arial MT"/>
                <a:cs typeface="Arial MT"/>
              </a:rPr>
              <a:t>comprehensive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0" dirty="0">
                <a:solidFill>
                  <a:srgbClr val="3A362F"/>
                </a:solidFill>
                <a:latin typeface="Arial MT"/>
                <a:cs typeface="Arial MT"/>
              </a:rPr>
              <a:t>testing</a:t>
            </a:r>
            <a:r>
              <a:rPr sz="2100" spc="-6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phases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08800" y="8054688"/>
            <a:ext cx="549529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95"/>
              </a:spcBef>
            </a:pP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Invest</a:t>
            </a:r>
            <a:r>
              <a:rPr sz="2100" spc="-1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60" dirty="0">
                <a:solidFill>
                  <a:srgbClr val="3A362F"/>
                </a:solidFill>
                <a:latin typeface="Arial MT"/>
                <a:cs typeface="Arial MT"/>
              </a:rPr>
              <a:t>in</a:t>
            </a:r>
            <a:r>
              <a:rPr sz="2100" spc="-1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change</a:t>
            </a:r>
            <a:r>
              <a:rPr sz="2100" spc="-1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60" dirty="0">
                <a:solidFill>
                  <a:srgbClr val="3A362F"/>
                </a:solidFill>
                <a:latin typeface="Arial MT"/>
                <a:cs typeface="Arial MT"/>
              </a:rPr>
              <a:t>management</a:t>
            </a:r>
            <a:r>
              <a:rPr sz="2100" spc="-6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6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sustained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40" dirty="0">
                <a:solidFill>
                  <a:srgbClr val="3A362F"/>
                </a:solidFill>
                <a:latin typeface="Arial MT"/>
                <a:cs typeface="Arial MT"/>
              </a:rPr>
              <a:t>training 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programmes</a:t>
            </a: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70" dirty="0">
                <a:solidFill>
                  <a:srgbClr val="3A362F"/>
                </a:solidFill>
                <a:latin typeface="Arial MT"/>
                <a:cs typeface="Arial MT"/>
              </a:rPr>
              <a:t>beyond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65" dirty="0">
                <a:solidFill>
                  <a:srgbClr val="3A362F"/>
                </a:solidFill>
                <a:latin typeface="Arial MT"/>
                <a:cs typeface="Arial MT"/>
              </a:rPr>
              <a:t>go-</a:t>
            </a:r>
            <a:r>
              <a:rPr sz="2100" spc="-20" dirty="0">
                <a:solidFill>
                  <a:srgbClr val="3A362F"/>
                </a:solidFill>
                <a:latin typeface="Arial MT"/>
                <a:cs typeface="Arial MT"/>
              </a:rPr>
              <a:t>live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992100" y="8054688"/>
            <a:ext cx="506539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95"/>
              </a:spcBef>
            </a:pPr>
            <a:r>
              <a:rPr sz="2100" spc="-125" dirty="0">
                <a:solidFill>
                  <a:srgbClr val="3A362F"/>
                </a:solidFill>
                <a:latin typeface="Arial MT"/>
                <a:cs typeface="Arial MT"/>
              </a:rPr>
              <a:t>Establish</a:t>
            </a:r>
            <a:r>
              <a:rPr sz="2100" spc="-17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performance </a:t>
            </a:r>
            <a:r>
              <a:rPr sz="2100" spc="-140" dirty="0">
                <a:solidFill>
                  <a:srgbClr val="3A362F"/>
                </a:solidFill>
                <a:latin typeface="Arial MT"/>
                <a:cs typeface="Arial MT"/>
              </a:rPr>
              <a:t>baselines</a:t>
            </a:r>
            <a:r>
              <a:rPr sz="2100" spc="-1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6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65" dirty="0">
                <a:solidFill>
                  <a:srgbClr val="3A362F"/>
                </a:solidFill>
                <a:latin typeface="Arial MT"/>
                <a:cs typeface="Arial MT"/>
              </a:rPr>
              <a:t>continuous 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monitoring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75" dirty="0">
                <a:solidFill>
                  <a:srgbClr val="3A362F"/>
                </a:solidFill>
                <a:latin typeface="Arial MT"/>
                <a:cs typeface="Arial MT"/>
              </a:rPr>
              <a:t>from</a:t>
            </a:r>
            <a:r>
              <a:rPr sz="2100" spc="-2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day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25" dirty="0">
                <a:solidFill>
                  <a:srgbClr val="3A362F"/>
                </a:solidFill>
                <a:latin typeface="Arial MT"/>
                <a:cs typeface="Arial MT"/>
              </a:rPr>
              <a:t>one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93800" y="9650253"/>
            <a:ext cx="14771369" cy="347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165" dirty="0">
                <a:solidFill>
                  <a:srgbClr val="3A362F"/>
                </a:solidFill>
                <a:latin typeface="Arial MT"/>
                <a:cs typeface="Arial MT"/>
              </a:rPr>
              <a:t>"Success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60" dirty="0">
                <a:solidFill>
                  <a:srgbClr val="3A362F"/>
                </a:solidFill>
                <a:latin typeface="Arial MT"/>
                <a:cs typeface="Arial MT"/>
              </a:rPr>
              <a:t>in</a:t>
            </a:r>
            <a:r>
              <a:rPr sz="2100" spc="-20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30" dirty="0">
                <a:solidFill>
                  <a:srgbClr val="3A362F"/>
                </a:solidFill>
                <a:latin typeface="Arial MT"/>
                <a:cs typeface="Arial MT"/>
              </a:rPr>
              <a:t>healthcare</a:t>
            </a:r>
            <a:r>
              <a:rPr sz="2100" spc="-4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75" dirty="0">
                <a:solidFill>
                  <a:srgbClr val="3A362F"/>
                </a:solidFill>
                <a:latin typeface="Arial MT"/>
                <a:cs typeface="Arial MT"/>
              </a:rPr>
              <a:t>IT</a:t>
            </a:r>
            <a:r>
              <a:rPr sz="2100" spc="-7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4" dirty="0">
                <a:solidFill>
                  <a:srgbClr val="3A362F"/>
                </a:solidFill>
                <a:latin typeface="Arial MT"/>
                <a:cs typeface="Arial MT"/>
              </a:rPr>
              <a:t>projects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45" dirty="0">
                <a:solidFill>
                  <a:srgbClr val="3A362F"/>
                </a:solidFill>
                <a:latin typeface="Arial MT"/>
                <a:cs typeface="Arial MT"/>
              </a:rPr>
              <a:t>requires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balancing</a:t>
            </a:r>
            <a:r>
              <a:rPr sz="2100" spc="-2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technical </a:t>
            </a:r>
            <a:r>
              <a:rPr sz="2100" spc="-140" dirty="0">
                <a:solidFill>
                  <a:srgbClr val="3A362F"/>
                </a:solidFill>
                <a:latin typeface="Arial MT"/>
                <a:cs typeface="Arial MT"/>
              </a:rPr>
              <a:t>excellence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with </a:t>
            </a:r>
            <a:r>
              <a:rPr sz="2100" spc="-160" dirty="0">
                <a:solidFill>
                  <a:srgbClr val="3A362F"/>
                </a:solidFill>
                <a:latin typeface="Arial MT"/>
                <a:cs typeface="Arial MT"/>
              </a:rPr>
              <a:t>genuine</a:t>
            </a:r>
            <a:r>
              <a:rPr sz="2100" spc="-15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35" dirty="0">
                <a:solidFill>
                  <a:srgbClr val="3A362F"/>
                </a:solidFill>
                <a:latin typeface="Arial MT"/>
                <a:cs typeface="Arial MT"/>
              </a:rPr>
              <a:t>understanding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55" dirty="0">
                <a:solidFill>
                  <a:srgbClr val="3A362F"/>
                </a:solidFill>
                <a:latin typeface="Arial MT"/>
                <a:cs typeface="Arial MT"/>
              </a:rPr>
              <a:t>of</a:t>
            </a:r>
            <a:r>
              <a:rPr sz="2100" spc="-9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85" dirty="0">
                <a:solidFill>
                  <a:srgbClr val="3A362F"/>
                </a:solidFill>
                <a:latin typeface="Arial MT"/>
                <a:cs typeface="Arial MT"/>
              </a:rPr>
              <a:t>clinical</a:t>
            </a:r>
            <a:r>
              <a:rPr sz="2100" spc="-10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workflows</a:t>
            </a:r>
            <a:r>
              <a:rPr sz="2100" spc="-12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60" dirty="0">
                <a:solidFill>
                  <a:srgbClr val="3A362F"/>
                </a:solidFill>
                <a:latin typeface="Arial MT"/>
                <a:cs typeface="Arial MT"/>
              </a:rPr>
              <a:t>and</a:t>
            </a:r>
            <a:r>
              <a:rPr sz="2100" spc="-110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95" dirty="0">
                <a:solidFill>
                  <a:srgbClr val="3A362F"/>
                </a:solidFill>
                <a:latin typeface="Arial MT"/>
                <a:cs typeface="Arial MT"/>
              </a:rPr>
              <a:t>patient</a:t>
            </a:r>
            <a:r>
              <a:rPr sz="2100" spc="-55" dirty="0">
                <a:solidFill>
                  <a:srgbClr val="3A362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A362F"/>
                </a:solidFill>
                <a:latin typeface="Arial MT"/>
                <a:cs typeface="Arial MT"/>
              </a:rPr>
              <a:t>needs."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872</Words>
  <Application>Microsoft Office PowerPoint</Application>
  <PresentationFormat>Custom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MT</vt:lpstr>
      <vt:lpstr>Roboto</vt:lpstr>
      <vt:lpstr>Times New Roman</vt:lpstr>
      <vt:lpstr>Office Theme</vt:lpstr>
      <vt:lpstr>Hospital Appointment Scheduler: SDLC Implementation Journey</vt:lpstr>
      <vt:lpstr>Project Overview: Requirements Analysis and System Scope Definition</vt:lpstr>
      <vt:lpstr>System Design Phase: Architecture Planning and Database Schema Design</vt:lpstr>
      <vt:lpstr>Development Phase: Core Functionality Implementation and User Interface Creation</vt:lpstr>
      <vt:lpstr>Testing Phase: Unit Testing, Integration Testing, and User Acceptance Testing</vt:lpstr>
      <vt:lpstr>Deployment Phase: Production Environment Setup and Go-Live Strategy</vt:lpstr>
      <vt:lpstr>Maintenance Phase: Ongoing Support, Updates, and Performance Monitoring</vt:lpstr>
      <vt:lpstr>Key Challenges: Technical Hurdles and Solutions Throughout Development</vt:lpstr>
      <vt:lpstr>Benefits Realised: Improved Patient Experience and Operational Efficiency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THAKUR NARSING SINGH</cp:lastModifiedBy>
  <cp:revision>1</cp:revision>
  <dcterms:created xsi:type="dcterms:W3CDTF">2025-12-31T15:12:12Z</dcterms:created>
  <dcterms:modified xsi:type="dcterms:W3CDTF">2025-12-31T15:15:08Z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2025-12-31T00:00:00Z</vt:filetime>
  </property>
</Properties>
</file>